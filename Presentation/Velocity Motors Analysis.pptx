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83" r:id="rId4"/>
    <p:sldId id="259" r:id="rId5"/>
    <p:sldId id="260" r:id="rId6"/>
    <p:sldId id="261" r:id="rId7"/>
    <p:sldId id="262" r:id="rId8"/>
    <p:sldId id="282" r:id="rId9"/>
    <p:sldId id="263" r:id="rId10"/>
    <p:sldId id="264" r:id="rId11"/>
    <p:sldId id="265" r:id="rId12"/>
    <p:sldId id="266" r:id="rId13"/>
    <p:sldId id="267" r:id="rId14"/>
    <p:sldId id="268" r:id="rId15"/>
    <p:sldId id="270" r:id="rId16"/>
    <p:sldId id="271" r:id="rId17"/>
    <p:sldId id="273" r:id="rId18"/>
    <p:sldId id="274" r:id="rId19"/>
    <p:sldId id="269" r:id="rId20"/>
    <p:sldId id="275" r:id="rId21"/>
    <p:sldId id="276" r:id="rId22"/>
    <p:sldId id="278" r:id="rId23"/>
    <p:sldId id="279" r:id="rId24"/>
    <p:sldId id="277" r:id="rId25"/>
    <p:sldId id="280" r:id="rId26"/>
    <p:sldId id="281" r:id="rId27"/>
    <p:sldId id="284" r:id="rId28"/>
    <p:sldId id="285" r:id="rId29"/>
    <p:sldId id="28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Sales</a:t>
            </a:r>
            <a:r>
              <a:rPr lang="en-US" baseline="0" dirty="0"/>
              <a:t> Comparison 2022 &amp; 2023 &amp; 2024</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Sales 2022</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Mumbai North Showroom</c:v>
                </c:pt>
                <c:pt idx="1">
                  <c:v>Delhi North Showroom</c:v>
                </c:pt>
                <c:pt idx="2">
                  <c:v>Hyderabad Central Showroom</c:v>
                </c:pt>
                <c:pt idx="3">
                  <c:v>Bangalore North Showroom</c:v>
                </c:pt>
                <c:pt idx="4">
                  <c:v>Pune Central Showroom</c:v>
                </c:pt>
                <c:pt idx="5">
                  <c:v>Chennai East Showroom</c:v>
                </c:pt>
                <c:pt idx="6">
                  <c:v>Ahmedabad East Showroom</c:v>
                </c:pt>
                <c:pt idx="7">
                  <c:v>Kolkata East Showroom</c:v>
                </c:pt>
              </c:strCache>
            </c:strRef>
          </c:cat>
          <c:val>
            <c:numRef>
              <c:f>Sheet1!$B$2:$B$9</c:f>
              <c:numCache>
                <c:formatCode>#,##0</c:formatCode>
                <c:ptCount val="8"/>
                <c:pt idx="0">
                  <c:v>378729148</c:v>
                </c:pt>
                <c:pt idx="1">
                  <c:v>367189417</c:v>
                </c:pt>
                <c:pt idx="2">
                  <c:v>332718519</c:v>
                </c:pt>
                <c:pt idx="3">
                  <c:v>274872066</c:v>
                </c:pt>
                <c:pt idx="4">
                  <c:v>207821905</c:v>
                </c:pt>
                <c:pt idx="5">
                  <c:v>145856435</c:v>
                </c:pt>
                <c:pt idx="6">
                  <c:v>132490555</c:v>
                </c:pt>
                <c:pt idx="7">
                  <c:v>119319113</c:v>
                </c:pt>
              </c:numCache>
            </c:numRef>
          </c:val>
          <c:extLst>
            <c:ext xmlns:c16="http://schemas.microsoft.com/office/drawing/2014/chart" uri="{C3380CC4-5D6E-409C-BE32-E72D297353CC}">
              <c16:uniqueId val="{00000000-7FA6-4720-AEFC-825B257344F6}"/>
            </c:ext>
          </c:extLst>
        </c:ser>
        <c:ser>
          <c:idx val="1"/>
          <c:order val="1"/>
          <c:tx>
            <c:strRef>
              <c:f>Sheet1!$C$1</c:f>
              <c:strCache>
                <c:ptCount val="1"/>
                <c:pt idx="0">
                  <c:v>Sales 2023</c:v>
                </c:pt>
              </c:strCache>
            </c:strRef>
          </c:tx>
          <c:spPr>
            <a:solidFill>
              <a:schemeClr val="accent2"/>
            </a:solidFill>
            <a:ln>
              <a:noFill/>
            </a:ln>
            <a:effectLst/>
          </c:spPr>
          <c:invertIfNegative val="0"/>
          <c:dLbls>
            <c:dLbl>
              <c:idx val="1"/>
              <c:layout>
                <c:manualLayout>
                  <c:x val="0"/>
                  <c:y val="-2.749123311070091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FA6-4720-AEFC-825B257344F6}"/>
                </c:ext>
              </c:extLst>
            </c:dLbl>
            <c:dLbl>
              <c:idx val="3"/>
              <c:layout>
                <c:manualLayout>
                  <c:x val="-2.1813283276142247E-2"/>
                  <c:y val="4.581819255549797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FA6-4720-AEFC-825B257344F6}"/>
                </c:ext>
              </c:extLst>
            </c:dLbl>
            <c:dLbl>
              <c:idx val="6"/>
              <c:layout>
                <c:manualLayout>
                  <c:x val="-1.0906641638071084E-2"/>
                  <c:y val="-1.249601505031863E-3"/>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7.5844785951146312E-2"/>
                      <c:h val="4.1511761997158378E-2"/>
                    </c:manualLayout>
                  </c15:layout>
                </c:ext>
                <c:ext xmlns:c16="http://schemas.microsoft.com/office/drawing/2014/chart" uri="{C3380CC4-5D6E-409C-BE32-E72D297353CC}">
                  <c16:uniqueId val="{00000007-7FA6-4720-AEFC-825B257344F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Mumbai North Showroom</c:v>
                </c:pt>
                <c:pt idx="1">
                  <c:v>Delhi North Showroom</c:v>
                </c:pt>
                <c:pt idx="2">
                  <c:v>Hyderabad Central Showroom</c:v>
                </c:pt>
                <c:pt idx="3">
                  <c:v>Bangalore North Showroom</c:v>
                </c:pt>
                <c:pt idx="4">
                  <c:v>Pune Central Showroom</c:v>
                </c:pt>
                <c:pt idx="5">
                  <c:v>Chennai East Showroom</c:v>
                </c:pt>
                <c:pt idx="6">
                  <c:v>Ahmedabad East Showroom</c:v>
                </c:pt>
                <c:pt idx="7">
                  <c:v>Kolkata East Showroom</c:v>
                </c:pt>
              </c:strCache>
            </c:strRef>
          </c:cat>
          <c:val>
            <c:numRef>
              <c:f>Sheet1!$C$2:$C$9</c:f>
              <c:numCache>
                <c:formatCode>#,##0</c:formatCode>
                <c:ptCount val="8"/>
                <c:pt idx="0">
                  <c:v>731160128</c:v>
                </c:pt>
                <c:pt idx="1">
                  <c:v>444112063</c:v>
                </c:pt>
                <c:pt idx="2">
                  <c:v>661459184</c:v>
                </c:pt>
                <c:pt idx="3">
                  <c:v>428922959</c:v>
                </c:pt>
                <c:pt idx="4">
                  <c:v>415923185</c:v>
                </c:pt>
                <c:pt idx="5">
                  <c:v>247325534</c:v>
                </c:pt>
                <c:pt idx="6">
                  <c:v>179275775</c:v>
                </c:pt>
                <c:pt idx="7">
                  <c:v>217503166</c:v>
                </c:pt>
              </c:numCache>
            </c:numRef>
          </c:val>
          <c:extLst>
            <c:ext xmlns:c16="http://schemas.microsoft.com/office/drawing/2014/chart" uri="{C3380CC4-5D6E-409C-BE32-E72D297353CC}">
              <c16:uniqueId val="{00000001-7FA6-4720-AEFC-825B257344F6}"/>
            </c:ext>
          </c:extLst>
        </c:ser>
        <c:ser>
          <c:idx val="2"/>
          <c:order val="2"/>
          <c:tx>
            <c:strRef>
              <c:f>Sheet1!$D$1</c:f>
              <c:strCache>
                <c:ptCount val="1"/>
                <c:pt idx="0">
                  <c:v>Sales 2024</c:v>
                </c:pt>
              </c:strCache>
            </c:strRef>
          </c:tx>
          <c:spPr>
            <a:solidFill>
              <a:schemeClr val="accent3"/>
            </a:solidFill>
            <a:ln>
              <a:noFill/>
            </a:ln>
            <a:effectLst/>
          </c:spPr>
          <c:invertIfNegative val="0"/>
          <c:dLbls>
            <c:dLbl>
              <c:idx val="1"/>
              <c:layout>
                <c:manualLayout>
                  <c:x val="2.1813283276142129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FA6-4720-AEFC-825B257344F6}"/>
                </c:ext>
              </c:extLst>
            </c:dLbl>
            <c:dLbl>
              <c:idx val="3"/>
              <c:layout>
                <c:manualLayout>
                  <c:x val="0"/>
                  <c:y val="-4.998406020127439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FA6-4720-AEFC-825B257344F6}"/>
                </c:ext>
              </c:extLst>
            </c:dLbl>
            <c:dLbl>
              <c:idx val="5"/>
              <c:layout>
                <c:manualLayout>
                  <c:x val="1.0906641638071084E-3"/>
                  <c:y val="-3.498884214089207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FA6-4720-AEFC-825B257344F6}"/>
                </c:ext>
              </c:extLst>
            </c:dLbl>
            <c:dLbl>
              <c:idx val="6"/>
              <c:layout>
                <c:manualLayout>
                  <c:x val="0"/>
                  <c:y val="-2.24928270905734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FA6-4720-AEFC-825B257344F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Mumbai North Showroom</c:v>
                </c:pt>
                <c:pt idx="1">
                  <c:v>Delhi North Showroom</c:v>
                </c:pt>
                <c:pt idx="2">
                  <c:v>Hyderabad Central Showroom</c:v>
                </c:pt>
                <c:pt idx="3">
                  <c:v>Bangalore North Showroom</c:v>
                </c:pt>
                <c:pt idx="4">
                  <c:v>Pune Central Showroom</c:v>
                </c:pt>
                <c:pt idx="5">
                  <c:v>Chennai East Showroom</c:v>
                </c:pt>
                <c:pt idx="6">
                  <c:v>Ahmedabad East Showroom</c:v>
                </c:pt>
                <c:pt idx="7">
                  <c:v>Kolkata East Showroom</c:v>
                </c:pt>
              </c:strCache>
            </c:strRef>
          </c:cat>
          <c:val>
            <c:numRef>
              <c:f>Sheet1!$D$2:$D$9</c:f>
              <c:numCache>
                <c:formatCode>#,##0</c:formatCode>
                <c:ptCount val="8"/>
                <c:pt idx="0">
                  <c:v>610482853</c:v>
                </c:pt>
                <c:pt idx="1">
                  <c:v>405385407</c:v>
                </c:pt>
                <c:pt idx="2">
                  <c:v>553798912</c:v>
                </c:pt>
                <c:pt idx="3">
                  <c:v>435313702</c:v>
                </c:pt>
                <c:pt idx="4">
                  <c:v>290331941</c:v>
                </c:pt>
                <c:pt idx="5">
                  <c:v>271014407</c:v>
                </c:pt>
                <c:pt idx="6">
                  <c:v>216451965</c:v>
                </c:pt>
                <c:pt idx="7">
                  <c:v>170220732</c:v>
                </c:pt>
              </c:numCache>
            </c:numRef>
          </c:val>
          <c:extLst>
            <c:ext xmlns:c16="http://schemas.microsoft.com/office/drawing/2014/chart" uri="{C3380CC4-5D6E-409C-BE32-E72D297353CC}">
              <c16:uniqueId val="{00000002-7FA6-4720-AEFC-825B257344F6}"/>
            </c:ext>
          </c:extLst>
        </c:ser>
        <c:dLbls>
          <c:dLblPos val="outEnd"/>
          <c:showLegendKey val="0"/>
          <c:showVal val="1"/>
          <c:showCatName val="0"/>
          <c:showSerName val="0"/>
          <c:showPercent val="0"/>
          <c:showBubbleSize val="0"/>
        </c:dLbls>
        <c:gapWidth val="219"/>
        <c:overlap val="-27"/>
        <c:axId val="817479103"/>
        <c:axId val="817481023"/>
      </c:barChart>
      <c:catAx>
        <c:axId val="817479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17481023"/>
        <c:crosses val="autoZero"/>
        <c:auto val="1"/>
        <c:lblAlgn val="ctr"/>
        <c:lblOffset val="100"/>
        <c:noMultiLvlLbl val="0"/>
      </c:catAx>
      <c:valAx>
        <c:axId val="817481023"/>
        <c:scaling>
          <c:orientation val="minMax"/>
        </c:scaling>
        <c:delete val="1"/>
        <c:axPos val="l"/>
        <c:numFmt formatCode="#,##0" sourceLinked="1"/>
        <c:majorTickMark val="none"/>
        <c:minorTickMark val="none"/>
        <c:tickLblPos val="nextTo"/>
        <c:crossAx val="81747910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Sales</a:t>
            </a:r>
            <a:r>
              <a:rPr lang="en-US" sz="1400" baseline="0" dirty="0"/>
              <a:t> Contribution Year 2022</a:t>
            </a:r>
            <a:endParaRPr lang="en-US" sz="14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Contribution % 2022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562-4662-B3B6-658AC15B71F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4562-4662-B3B6-658AC15B71F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4562-4662-B3B6-658AC15B71F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5-4562-4662-B3B6-658AC15B71F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6-4562-4662-B3B6-658AC15B71F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7-4562-4662-B3B6-658AC15B71F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8-4562-4662-B3B6-658AC15B71F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4-4562-4662-B3B6-658AC15B71F2}"/>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4562-4662-B3B6-658AC15B71F2}"/>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2-4562-4662-B3B6-658AC15B71F2}"/>
                </c:ext>
              </c:extLst>
            </c:dLbl>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4562-4662-B3B6-658AC15B71F2}"/>
                </c:ext>
              </c:extLst>
            </c:dLbl>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4562-4662-B3B6-658AC15B71F2}"/>
                </c:ext>
              </c:extLst>
            </c:dLbl>
            <c:dLbl>
              <c:idx val="4"/>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6-4562-4662-B3B6-658AC15B71F2}"/>
                </c:ext>
              </c:extLst>
            </c:dLbl>
            <c:dLbl>
              <c:idx val="5"/>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4562-4662-B3B6-658AC15B71F2}"/>
                </c:ext>
              </c:extLst>
            </c:dLbl>
            <c:dLbl>
              <c:idx val="6"/>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8-4562-4662-B3B6-658AC15B71F2}"/>
                </c:ext>
              </c:extLst>
            </c:dLbl>
            <c:dLbl>
              <c:idx val="7"/>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4562-4662-B3B6-658AC15B71F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Sheet1!$A$2:$A$9</c:f>
              <c:strCache>
                <c:ptCount val="8"/>
                <c:pt idx="0">
                  <c:v>Mumbai North Showroom</c:v>
                </c:pt>
                <c:pt idx="1">
                  <c:v>Delhi North Showroom</c:v>
                </c:pt>
                <c:pt idx="2">
                  <c:v>Bangalore North Showroom</c:v>
                </c:pt>
                <c:pt idx="3">
                  <c:v>Hyderabad Central Showroom</c:v>
                </c:pt>
                <c:pt idx="4">
                  <c:v>Pune Central Showroom</c:v>
                </c:pt>
                <c:pt idx="5">
                  <c:v>Chennai East Showroom</c:v>
                </c:pt>
                <c:pt idx="6">
                  <c:v>Ahmedabad East Showroom</c:v>
                </c:pt>
                <c:pt idx="7">
                  <c:v>Kolkata East Showroom</c:v>
                </c:pt>
              </c:strCache>
            </c:strRef>
          </c:cat>
          <c:val>
            <c:numRef>
              <c:f>Sheet1!$B$2:$B$9</c:f>
              <c:numCache>
                <c:formatCode>0.00%</c:formatCode>
                <c:ptCount val="8"/>
                <c:pt idx="0">
                  <c:v>0.1933</c:v>
                </c:pt>
                <c:pt idx="1">
                  <c:v>0.16980000000000001</c:v>
                </c:pt>
                <c:pt idx="2">
                  <c:v>0.18740000000000001</c:v>
                </c:pt>
                <c:pt idx="3">
                  <c:v>0.14030000000000001</c:v>
                </c:pt>
                <c:pt idx="4">
                  <c:v>0.1061</c:v>
                </c:pt>
                <c:pt idx="5">
                  <c:v>7.4499999999999997E-2</c:v>
                </c:pt>
                <c:pt idx="6">
                  <c:v>6.7599999999999993E-2</c:v>
                </c:pt>
                <c:pt idx="7">
                  <c:v>6.0900000000000003E-2</c:v>
                </c:pt>
              </c:numCache>
            </c:numRef>
          </c:val>
          <c:extLst>
            <c:ext xmlns:c16="http://schemas.microsoft.com/office/drawing/2014/chart" uri="{C3380CC4-5D6E-409C-BE32-E72D297353CC}">
              <c16:uniqueId val="{00000000-4562-4662-B3B6-658AC15B71F2}"/>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4.3314459642124568E-2"/>
          <c:y val="0.81438850503708526"/>
          <c:w val="0.90376723917913626"/>
          <c:h val="0.1598189103309963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Sales</a:t>
            </a:r>
            <a:r>
              <a:rPr lang="en-US" sz="1400" baseline="0" dirty="0"/>
              <a:t> Contribution Year 2023</a:t>
            </a:r>
            <a:endParaRPr lang="en-US" sz="14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Contribution % 2022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563-43B4-9E38-15345B435C0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563-43B4-9E38-15345B435C0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563-43B4-9E38-15345B435C0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563-43B4-9E38-15345B435C0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9563-43B4-9E38-15345B435C05}"/>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9563-43B4-9E38-15345B435C05}"/>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9563-43B4-9E38-15345B435C05}"/>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9563-43B4-9E38-15345B435C05}"/>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9563-43B4-9E38-15345B435C05}"/>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9563-43B4-9E38-15345B435C05}"/>
                </c:ext>
              </c:extLst>
            </c:dLbl>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9563-43B4-9E38-15345B435C05}"/>
                </c:ext>
              </c:extLst>
            </c:dLbl>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9563-43B4-9E38-15345B435C05}"/>
                </c:ext>
              </c:extLst>
            </c:dLbl>
            <c:dLbl>
              <c:idx val="4"/>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9-9563-43B4-9E38-15345B435C05}"/>
                </c:ext>
              </c:extLst>
            </c:dLbl>
            <c:dLbl>
              <c:idx val="5"/>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B-9563-43B4-9E38-15345B435C05}"/>
                </c:ext>
              </c:extLst>
            </c:dLbl>
            <c:dLbl>
              <c:idx val="6"/>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D-9563-43B4-9E38-15345B435C05}"/>
                </c:ext>
              </c:extLst>
            </c:dLbl>
            <c:dLbl>
              <c:idx val="7"/>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F-9563-43B4-9E38-15345B435C0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Sheet1!$A$2:$A$9</c:f>
              <c:strCache>
                <c:ptCount val="8"/>
                <c:pt idx="0">
                  <c:v>Mumbai North Showroom</c:v>
                </c:pt>
                <c:pt idx="1">
                  <c:v>Delhi North Showroom</c:v>
                </c:pt>
                <c:pt idx="2">
                  <c:v>Bangalore North Showroom</c:v>
                </c:pt>
                <c:pt idx="3">
                  <c:v>Hyderabad Central Showroom</c:v>
                </c:pt>
                <c:pt idx="4">
                  <c:v>Pune Central Showroom</c:v>
                </c:pt>
                <c:pt idx="5">
                  <c:v>Chennai East Showroom</c:v>
                </c:pt>
                <c:pt idx="6">
                  <c:v>Ahmedabad East Showroom</c:v>
                </c:pt>
                <c:pt idx="7">
                  <c:v>Kolkata East Showroom</c:v>
                </c:pt>
              </c:strCache>
            </c:strRef>
          </c:cat>
          <c:val>
            <c:numRef>
              <c:f>Sheet1!$B$2:$B$9</c:f>
              <c:numCache>
                <c:formatCode>0.00%</c:formatCode>
                <c:ptCount val="8"/>
                <c:pt idx="0">
                  <c:v>0.21990000000000001</c:v>
                </c:pt>
                <c:pt idx="1">
                  <c:v>0.19889999999999999</c:v>
                </c:pt>
                <c:pt idx="2">
                  <c:v>0.13350000000000001</c:v>
                </c:pt>
                <c:pt idx="3">
                  <c:v>0.129</c:v>
                </c:pt>
                <c:pt idx="4">
                  <c:v>0.12509999999999999</c:v>
                </c:pt>
                <c:pt idx="5">
                  <c:v>7.4399999999999994E-2</c:v>
                </c:pt>
                <c:pt idx="6">
                  <c:v>5.3900000000000003E-2</c:v>
                </c:pt>
                <c:pt idx="7">
                  <c:v>6.54E-2</c:v>
                </c:pt>
              </c:numCache>
            </c:numRef>
          </c:val>
          <c:extLst>
            <c:ext xmlns:c16="http://schemas.microsoft.com/office/drawing/2014/chart" uri="{C3380CC4-5D6E-409C-BE32-E72D297353CC}">
              <c16:uniqueId val="{00000010-9563-43B4-9E38-15345B435C05}"/>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4.3314459642124568E-2"/>
          <c:y val="0.81438850503708526"/>
          <c:w val="0.90376723917913626"/>
          <c:h val="0.1598189103309963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Sales</a:t>
            </a:r>
            <a:r>
              <a:rPr lang="en-US" sz="1400" baseline="0" dirty="0"/>
              <a:t> Contribution Year 2024</a:t>
            </a:r>
            <a:endParaRPr lang="en-US" sz="14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Contribution % 2024</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563-43B4-9E38-15345B435C0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563-43B4-9E38-15345B435C0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563-43B4-9E38-15345B435C0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563-43B4-9E38-15345B435C0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9563-43B4-9E38-15345B435C05}"/>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9563-43B4-9E38-15345B435C05}"/>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9563-43B4-9E38-15345B435C05}"/>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9563-43B4-9E38-15345B435C05}"/>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9563-43B4-9E38-15345B435C05}"/>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9563-43B4-9E38-15345B435C05}"/>
                </c:ext>
              </c:extLst>
            </c:dLbl>
            <c:dLbl>
              <c:idx val="2"/>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9563-43B4-9E38-15345B435C05}"/>
                </c:ext>
              </c:extLst>
            </c:dLbl>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9563-43B4-9E38-15345B435C05}"/>
                </c:ext>
              </c:extLst>
            </c:dLbl>
            <c:dLbl>
              <c:idx val="4"/>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9-9563-43B4-9E38-15345B435C05}"/>
                </c:ext>
              </c:extLst>
            </c:dLbl>
            <c:dLbl>
              <c:idx val="5"/>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B-9563-43B4-9E38-15345B435C05}"/>
                </c:ext>
              </c:extLst>
            </c:dLbl>
            <c:dLbl>
              <c:idx val="6"/>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D-9563-43B4-9E38-15345B435C05}"/>
                </c:ext>
              </c:extLst>
            </c:dLbl>
            <c:dLbl>
              <c:idx val="7"/>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F-9563-43B4-9E38-15345B435C0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Sheet1!$A$2:$A$9</c:f>
              <c:strCache>
                <c:ptCount val="8"/>
                <c:pt idx="0">
                  <c:v>Mumbai North Showroom</c:v>
                </c:pt>
                <c:pt idx="1">
                  <c:v>Delhi North Showroom</c:v>
                </c:pt>
                <c:pt idx="2">
                  <c:v>Bangalore North Showroom</c:v>
                </c:pt>
                <c:pt idx="3">
                  <c:v>Hyderabad Central Showroom</c:v>
                </c:pt>
                <c:pt idx="4">
                  <c:v>Pune Central Showroom</c:v>
                </c:pt>
                <c:pt idx="5">
                  <c:v>Chennai East Showroom</c:v>
                </c:pt>
                <c:pt idx="6">
                  <c:v>Ahmedabad East Showroom</c:v>
                </c:pt>
                <c:pt idx="7">
                  <c:v>Kolkata East Showroom</c:v>
                </c:pt>
              </c:strCache>
            </c:strRef>
          </c:cat>
          <c:val>
            <c:numRef>
              <c:f>Sheet1!$B$2:$B$9</c:f>
              <c:numCache>
                <c:formatCode>0.00%</c:formatCode>
                <c:ptCount val="8"/>
                <c:pt idx="0">
                  <c:v>0.20669999999999999</c:v>
                </c:pt>
                <c:pt idx="1">
                  <c:v>0.1875</c:v>
                </c:pt>
                <c:pt idx="2">
                  <c:v>0.13730000000000001</c:v>
                </c:pt>
                <c:pt idx="3">
                  <c:v>0.1474</c:v>
                </c:pt>
                <c:pt idx="4">
                  <c:v>9.8299999999999998E-2</c:v>
                </c:pt>
                <c:pt idx="5">
                  <c:v>9.1800000000000007E-2</c:v>
                </c:pt>
                <c:pt idx="6">
                  <c:v>7.3300000000000004E-2</c:v>
                </c:pt>
                <c:pt idx="7">
                  <c:v>5.7599999999999998E-2</c:v>
                </c:pt>
              </c:numCache>
            </c:numRef>
          </c:val>
          <c:extLst>
            <c:ext xmlns:c16="http://schemas.microsoft.com/office/drawing/2014/chart" uri="{C3380CC4-5D6E-409C-BE32-E72D297353CC}">
              <c16:uniqueId val="{00000010-9563-43B4-9E38-15345B435C05}"/>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4.3314459642124568E-2"/>
          <c:y val="0.81438850503708526"/>
          <c:w val="0.90376723917913626"/>
          <c:h val="0.1598189103309963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Premium</a:t>
            </a:r>
            <a:r>
              <a:rPr lang="en-US" sz="1400" baseline="0" dirty="0"/>
              <a:t> Vehicle Sales 2022</a:t>
            </a:r>
            <a:endParaRPr lang="en-US" sz="1400" dirty="0"/>
          </a:p>
        </c:rich>
      </c:tx>
      <c:layout>
        <c:manualLayout>
          <c:xMode val="edge"/>
          <c:yMode val="edge"/>
          <c:x val="0.13934082327164235"/>
          <c:y val="3.06220741753439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 2022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ADFA-45A3-B163-A6EC7499638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ADFA-45A3-B163-A6EC74996382}"/>
              </c:ext>
            </c:extLst>
          </c:dPt>
          <c:dLbls>
            <c:dLbl>
              <c:idx val="0"/>
              <c:layout>
                <c:manualLayout>
                  <c:x val="0.11128702834892454"/>
                  <c:y val="-9.1866222526031827E-2"/>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ADFA-45A3-B163-A6EC74996382}"/>
                </c:ext>
              </c:extLst>
            </c:dLbl>
            <c:dLbl>
              <c:idx val="1"/>
              <c:layout>
                <c:manualLayout>
                  <c:x val="-0.1201899906168386"/>
                  <c:y val="-4.6783183991219588E-17"/>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DFA-45A3-B163-A6EC7499638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Total Vehicle Sold</c:v>
                </c:pt>
                <c:pt idx="1">
                  <c:v>Premium Vehicle Sold</c:v>
                </c:pt>
              </c:strCache>
            </c:strRef>
          </c:cat>
          <c:val>
            <c:numRef>
              <c:f>Sheet1!$B$2:$B$3</c:f>
              <c:numCache>
                <c:formatCode>General</c:formatCode>
                <c:ptCount val="2"/>
                <c:pt idx="0">
                  <c:v>167</c:v>
                </c:pt>
                <c:pt idx="1">
                  <c:v>120</c:v>
                </c:pt>
              </c:numCache>
            </c:numRef>
          </c:val>
          <c:extLst>
            <c:ext xmlns:c16="http://schemas.microsoft.com/office/drawing/2014/chart" uri="{C3380CC4-5D6E-409C-BE32-E72D297353CC}">
              <c16:uniqueId val="{00000000-ADFA-45A3-B163-A6EC7499638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Premium</a:t>
            </a:r>
            <a:r>
              <a:rPr lang="en-US" sz="1400" baseline="0" dirty="0"/>
              <a:t> Vehicle Sales 2023</a:t>
            </a:r>
            <a:endParaRPr lang="en-US" sz="1400" dirty="0"/>
          </a:p>
        </c:rich>
      </c:tx>
      <c:layout>
        <c:manualLayout>
          <c:xMode val="edge"/>
          <c:yMode val="edge"/>
          <c:x val="0.13934082327164235"/>
          <c:y val="3.06220741753439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 2023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7E5-4781-B557-6A2B049F65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7E5-4781-B557-6A2B049F652F}"/>
              </c:ext>
            </c:extLst>
          </c:dPt>
          <c:dLbls>
            <c:dLbl>
              <c:idx val="0"/>
              <c:layout>
                <c:manualLayout>
                  <c:x val="0.1335442587635467"/>
                  <c:y val="1.2759197573059969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1878794931480487"/>
                      <c:h val="0.10518682479230639"/>
                    </c:manualLayout>
                  </c15:layout>
                </c:ext>
                <c:ext xmlns:c16="http://schemas.microsoft.com/office/drawing/2014/chart" uri="{C3380CC4-5D6E-409C-BE32-E72D297353CC}">
                  <c16:uniqueId val="{00000001-D7E5-4781-B557-6A2B049F652F}"/>
                </c:ext>
              </c:extLst>
            </c:dLbl>
            <c:dLbl>
              <c:idx val="1"/>
              <c:layout>
                <c:manualLayout>
                  <c:x val="-0.12464147175079557"/>
                  <c:y val="0"/>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7E5-4781-B557-6A2B049F652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Total Vehicle Sale</c:v>
                </c:pt>
                <c:pt idx="1">
                  <c:v>Premium Vehicle Sales</c:v>
                </c:pt>
              </c:strCache>
            </c:strRef>
          </c:cat>
          <c:val>
            <c:numRef>
              <c:f>Sheet1!$B$2:$B$3</c:f>
              <c:numCache>
                <c:formatCode>General</c:formatCode>
                <c:ptCount val="2"/>
                <c:pt idx="0">
                  <c:v>275</c:v>
                </c:pt>
                <c:pt idx="1">
                  <c:v>178</c:v>
                </c:pt>
              </c:numCache>
            </c:numRef>
          </c:val>
          <c:extLst>
            <c:ext xmlns:c16="http://schemas.microsoft.com/office/drawing/2014/chart" uri="{C3380CC4-5D6E-409C-BE32-E72D297353CC}">
              <c16:uniqueId val="{00000000-ADFA-45A3-B163-A6EC7499638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Premium</a:t>
            </a:r>
            <a:r>
              <a:rPr lang="en-US" sz="1400" baseline="0" dirty="0"/>
              <a:t> Vehicle Sales 2024</a:t>
            </a:r>
            <a:endParaRPr lang="en-US" sz="1400" dirty="0"/>
          </a:p>
        </c:rich>
      </c:tx>
      <c:layout>
        <c:manualLayout>
          <c:xMode val="edge"/>
          <c:yMode val="edge"/>
          <c:x val="0.13934082327164235"/>
          <c:y val="3.06220741753439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 2022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7E5-4781-B557-6A2B049F65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7E5-4781-B557-6A2B049F652F}"/>
              </c:ext>
            </c:extLst>
          </c:dPt>
          <c:dLbls>
            <c:dLbl>
              <c:idx val="0"/>
              <c:layout>
                <c:manualLayout>
                  <c:x val="0.12464147175079557"/>
                  <c:y val="0"/>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7E5-4781-B557-6A2B049F652F}"/>
                </c:ext>
              </c:extLst>
            </c:dLbl>
            <c:dLbl>
              <c:idx val="1"/>
              <c:layout>
                <c:manualLayout>
                  <c:x val="-0.1201899906168386"/>
                  <c:y val="-4.6783183991219588E-17"/>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7E5-4781-B557-6A2B049F652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Total Vehicle Sale</c:v>
                </c:pt>
                <c:pt idx="1">
                  <c:v>Premium Vehicle Sales</c:v>
                </c:pt>
              </c:strCache>
            </c:strRef>
          </c:cat>
          <c:val>
            <c:numRef>
              <c:f>Sheet1!$B$2:$B$3</c:f>
              <c:numCache>
                <c:formatCode>General</c:formatCode>
                <c:ptCount val="2"/>
                <c:pt idx="0">
                  <c:v>256</c:v>
                </c:pt>
                <c:pt idx="1">
                  <c:v>174</c:v>
                </c:pt>
              </c:numCache>
            </c:numRef>
          </c:val>
          <c:extLst>
            <c:ext xmlns:c16="http://schemas.microsoft.com/office/drawing/2014/chart" uri="{C3380CC4-5D6E-409C-BE32-E72D297353CC}">
              <c16:uniqueId val="{00000000-ADFA-45A3-B163-A6EC7499638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Premium</a:t>
            </a:r>
            <a:r>
              <a:rPr lang="en-US" sz="1400" baseline="0" dirty="0"/>
              <a:t> Vehicle Sales 2023</a:t>
            </a:r>
            <a:endParaRPr lang="en-US" sz="1400" dirty="0"/>
          </a:p>
        </c:rich>
      </c:tx>
      <c:layout>
        <c:manualLayout>
          <c:xMode val="edge"/>
          <c:yMode val="edge"/>
          <c:x val="0.13934082327164235"/>
          <c:y val="3.06220741753439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3543287849945127"/>
          <c:y val="0.16773823833055845"/>
          <c:w val="0.49352204341911599"/>
          <c:h val="0.56582922125493429"/>
        </c:manualLayout>
      </c:layout>
      <c:doughnutChart>
        <c:varyColors val="1"/>
        <c:ser>
          <c:idx val="0"/>
          <c:order val="0"/>
          <c:tx>
            <c:strRef>
              <c:f>Sheet1!$B$1</c:f>
              <c:strCache>
                <c:ptCount val="1"/>
                <c:pt idx="0">
                  <c:v>Sales 2022 Value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9A4-438C-8F0A-C48C7D45256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9A4-438C-8F0A-C48C7D45256C}"/>
              </c:ext>
            </c:extLst>
          </c:dPt>
          <c:dLbls>
            <c:dLbl>
              <c:idx val="0"/>
              <c:layout>
                <c:manualLayout>
                  <c:x val="0.17360776422432239"/>
                  <c:y val="-8.1658864467583803E-2"/>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9A4-438C-8F0A-C48C7D45256C}"/>
                </c:ext>
              </c:extLst>
            </c:dLbl>
            <c:dLbl>
              <c:idx val="1"/>
              <c:layout>
                <c:manualLayout>
                  <c:x val="-0.1201899906168386"/>
                  <c:y val="-4.6783183991219588E-17"/>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9A4-438C-8F0A-C48C7D45256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Premium Vehicle Sold</c:v>
                </c:pt>
                <c:pt idx="1">
                  <c:v>Standard Vehicle Sold</c:v>
                </c:pt>
              </c:strCache>
            </c:strRef>
          </c:cat>
          <c:val>
            <c:numRef>
              <c:f>Sheet1!$B$2:$B$3</c:f>
              <c:numCache>
                <c:formatCode>#,##0</c:formatCode>
                <c:ptCount val="2"/>
                <c:pt idx="0">
                  <c:v>545882592</c:v>
                </c:pt>
                <c:pt idx="1">
                  <c:v>185277536</c:v>
                </c:pt>
              </c:numCache>
            </c:numRef>
          </c:val>
          <c:extLst>
            <c:ext xmlns:c16="http://schemas.microsoft.com/office/drawing/2014/chart" uri="{C3380CC4-5D6E-409C-BE32-E72D297353CC}">
              <c16:uniqueId val="{00000004-F9A4-438C-8F0A-C48C7D45256C}"/>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Premium</a:t>
            </a:r>
            <a:r>
              <a:rPr lang="en-US" sz="1400" baseline="0" dirty="0"/>
              <a:t> Vehicle Sales 2022</a:t>
            </a:r>
            <a:endParaRPr lang="en-US" sz="1400" dirty="0"/>
          </a:p>
        </c:rich>
      </c:tx>
      <c:layout>
        <c:manualLayout>
          <c:xMode val="edge"/>
          <c:yMode val="edge"/>
          <c:x val="0.13934082327164235"/>
          <c:y val="3.06220741753439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3543287849945127"/>
          <c:y val="0.16773823833055845"/>
          <c:w val="0.49352204341911599"/>
          <c:h val="0.56582922125493429"/>
        </c:manualLayout>
      </c:layout>
      <c:doughnutChart>
        <c:varyColors val="1"/>
        <c:ser>
          <c:idx val="0"/>
          <c:order val="0"/>
          <c:tx>
            <c:strRef>
              <c:f>Sheet1!$B$1</c:f>
              <c:strCache>
                <c:ptCount val="1"/>
                <c:pt idx="0">
                  <c:v>Sales 2022 Value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9A4-438C-8F0A-C48C7D45256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9A4-438C-8F0A-C48C7D45256C}"/>
              </c:ext>
            </c:extLst>
          </c:dPt>
          <c:dLbls>
            <c:dLbl>
              <c:idx val="0"/>
              <c:layout>
                <c:manualLayout>
                  <c:x val="0.17360776422432239"/>
                  <c:y val="-8.1658864467583803E-2"/>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9A4-438C-8F0A-C48C7D45256C}"/>
                </c:ext>
              </c:extLst>
            </c:dLbl>
            <c:dLbl>
              <c:idx val="1"/>
              <c:layout>
                <c:manualLayout>
                  <c:x val="-0.1201899906168386"/>
                  <c:y val="-4.6783183991219588E-17"/>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9A4-438C-8F0A-C48C7D45256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Premium Vehicle Sold</c:v>
                </c:pt>
                <c:pt idx="1">
                  <c:v>Standard Vehicle Sold</c:v>
                </c:pt>
              </c:strCache>
            </c:strRef>
          </c:cat>
          <c:val>
            <c:numRef>
              <c:f>Sheet1!$B$2:$B$3</c:f>
              <c:numCache>
                <c:formatCode>#,##0</c:formatCode>
                <c:ptCount val="2"/>
                <c:pt idx="0">
                  <c:v>255272065</c:v>
                </c:pt>
                <c:pt idx="1">
                  <c:v>123457083</c:v>
                </c:pt>
              </c:numCache>
            </c:numRef>
          </c:val>
          <c:extLst>
            <c:ext xmlns:c16="http://schemas.microsoft.com/office/drawing/2014/chart" uri="{C3380CC4-5D6E-409C-BE32-E72D297353CC}">
              <c16:uniqueId val="{00000004-F9A4-438C-8F0A-C48C7D45256C}"/>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Premium</a:t>
            </a:r>
            <a:r>
              <a:rPr lang="en-US" sz="1400" baseline="0" dirty="0"/>
              <a:t> Vehicle Sales 2024</a:t>
            </a:r>
            <a:endParaRPr lang="en-US" sz="1400" dirty="0"/>
          </a:p>
        </c:rich>
      </c:tx>
      <c:layout>
        <c:manualLayout>
          <c:xMode val="edge"/>
          <c:yMode val="edge"/>
          <c:x val="0.13934082327164235"/>
          <c:y val="3.06220741753439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3543287849945127"/>
          <c:y val="0.16773823833055845"/>
          <c:w val="0.49352204341911599"/>
          <c:h val="0.56582922125493429"/>
        </c:manualLayout>
      </c:layout>
      <c:doughnutChart>
        <c:varyColors val="1"/>
        <c:ser>
          <c:idx val="0"/>
          <c:order val="0"/>
          <c:tx>
            <c:strRef>
              <c:f>Sheet1!$B$1</c:f>
              <c:strCache>
                <c:ptCount val="1"/>
                <c:pt idx="0">
                  <c:v>Sales 2022 Value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9A4-438C-8F0A-C48C7D45256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9A4-438C-8F0A-C48C7D45256C}"/>
              </c:ext>
            </c:extLst>
          </c:dPt>
          <c:dLbls>
            <c:dLbl>
              <c:idx val="0"/>
              <c:layout>
                <c:manualLayout>
                  <c:x val="0.17360776422432239"/>
                  <c:y val="-8.1658864467583803E-2"/>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9A4-438C-8F0A-C48C7D45256C}"/>
                </c:ext>
              </c:extLst>
            </c:dLbl>
            <c:dLbl>
              <c:idx val="1"/>
              <c:layout>
                <c:manualLayout>
                  <c:x val="-0.1201899906168386"/>
                  <c:y val="-4.6783183991219588E-17"/>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9A4-438C-8F0A-C48C7D45256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Premium Vehicle Sold</c:v>
                </c:pt>
                <c:pt idx="1">
                  <c:v>Standard Vehicle Sold</c:v>
                </c:pt>
              </c:strCache>
            </c:strRef>
          </c:cat>
          <c:val>
            <c:numRef>
              <c:f>Sheet1!$B$2:$B$3</c:f>
              <c:numCache>
                <c:formatCode>#,##0</c:formatCode>
                <c:ptCount val="2"/>
                <c:pt idx="0">
                  <c:v>436383463</c:v>
                </c:pt>
                <c:pt idx="1">
                  <c:v>174099390</c:v>
                </c:pt>
              </c:numCache>
            </c:numRef>
          </c:val>
          <c:extLst>
            <c:ext xmlns:c16="http://schemas.microsoft.com/office/drawing/2014/chart" uri="{C3380CC4-5D6E-409C-BE32-E72D297353CC}">
              <c16:uniqueId val="{00000004-F9A4-438C-8F0A-C48C7D45256C}"/>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359CE-2266-40F4-9DC4-DFE8DE9BDF02}"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58D01F-A2DF-4AE0-A137-37C465960AF6}" type="slidenum">
              <a:rPr lang="en-US" smtClean="0"/>
              <a:t>‹#›</a:t>
            </a:fld>
            <a:endParaRPr lang="en-US"/>
          </a:p>
        </p:txBody>
      </p:sp>
    </p:spTree>
    <p:extLst>
      <p:ext uri="{BB962C8B-B14F-4D97-AF65-F5344CB8AC3E}">
        <p14:creationId xmlns:p14="http://schemas.microsoft.com/office/powerpoint/2010/main" val="1551724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58D01F-A2DF-4AE0-A137-37C465960AF6}" type="slidenum">
              <a:rPr lang="en-US" smtClean="0"/>
              <a:t>25</a:t>
            </a:fld>
            <a:endParaRPr lang="en-US"/>
          </a:p>
        </p:txBody>
      </p:sp>
    </p:spTree>
    <p:extLst>
      <p:ext uri="{BB962C8B-B14F-4D97-AF65-F5344CB8AC3E}">
        <p14:creationId xmlns:p14="http://schemas.microsoft.com/office/powerpoint/2010/main" val="1870620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FD5B3-AF32-2212-1EAB-A34DC9667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8920D-D0BE-6BF2-0DB1-D6CF2DD9D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14A11-DFCA-A8C6-5C32-778AA79506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D13FFC-3BF1-A94A-5F2D-557A4A7D52D8}"/>
              </a:ext>
            </a:extLst>
          </p:cNvPr>
          <p:cNvSpPr>
            <a:spLocks noGrp="1"/>
          </p:cNvSpPr>
          <p:nvPr>
            <p:ph type="sldNum" sz="quarter" idx="5"/>
          </p:nvPr>
        </p:nvSpPr>
        <p:spPr/>
        <p:txBody>
          <a:bodyPr/>
          <a:lstStyle/>
          <a:p>
            <a:fld id="{B058D01F-A2DF-4AE0-A137-37C465960AF6}" type="slidenum">
              <a:rPr lang="en-US" smtClean="0"/>
              <a:t>26</a:t>
            </a:fld>
            <a:endParaRPr lang="en-US"/>
          </a:p>
        </p:txBody>
      </p:sp>
    </p:spTree>
    <p:extLst>
      <p:ext uri="{BB962C8B-B14F-4D97-AF65-F5344CB8AC3E}">
        <p14:creationId xmlns:p14="http://schemas.microsoft.com/office/powerpoint/2010/main" val="2977511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B763B-29EB-52AA-CFE7-B52B0EB294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C7F819-8DC8-C85D-1CD0-55B212F6CE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F351E9-6D03-FFBF-3008-E0E1C298FEF0}"/>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5" name="Footer Placeholder 4">
            <a:extLst>
              <a:ext uri="{FF2B5EF4-FFF2-40B4-BE49-F238E27FC236}">
                <a16:creationId xmlns:a16="http://schemas.microsoft.com/office/drawing/2014/main" id="{866A3140-D042-B1E4-6898-99A670E21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A79222-FF73-BD18-3354-2277B57049D9}"/>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4116658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292B-8121-567D-5379-2BF34E710F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41FE06-3FC7-7A35-2AF7-22CCB0FF65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1AA6E-E74D-2C33-6E32-F2E650AFCAB4}"/>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5" name="Footer Placeholder 4">
            <a:extLst>
              <a:ext uri="{FF2B5EF4-FFF2-40B4-BE49-F238E27FC236}">
                <a16:creationId xmlns:a16="http://schemas.microsoft.com/office/drawing/2014/main" id="{7E306D25-E342-5267-AAF7-13D06CECC4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6B0CBE-5DB4-8190-C3D2-9ABD09132EC7}"/>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238228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27BD-4519-27BD-EA75-4F33D4DBD5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7790BA-509A-7339-E152-CF2B52ADFB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FDC3E2-70CD-5614-C6BF-A0FAF17015AF}"/>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5" name="Footer Placeholder 4">
            <a:extLst>
              <a:ext uri="{FF2B5EF4-FFF2-40B4-BE49-F238E27FC236}">
                <a16:creationId xmlns:a16="http://schemas.microsoft.com/office/drawing/2014/main" id="{566E40BC-EAF6-BF29-01F7-B243143C9A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5A57B5-BE5E-66BA-2A34-C6AFD8B290B0}"/>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165489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EDE2-C23C-54DB-3D94-40D1BF2E88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64C1E-B4B0-9E09-AC98-2A72B20C14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719819-650C-138F-8B68-152FFB5909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85107B-AE6D-06C5-0BAA-459158F8BCC2}"/>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6" name="Footer Placeholder 5">
            <a:extLst>
              <a:ext uri="{FF2B5EF4-FFF2-40B4-BE49-F238E27FC236}">
                <a16:creationId xmlns:a16="http://schemas.microsoft.com/office/drawing/2014/main" id="{415BBA20-B0C2-52E6-A2F2-932256FEA3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723ECB-0A3B-4BB1-87F7-97863E2446CF}"/>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2740428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A2945-7AEF-7576-AA3A-772531B4AB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71B8B1-3065-6B89-1BCA-29C5C335BF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8F1880-51BE-64D9-A911-EA27DDA45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19C0B2-FCD4-9D66-1F7C-B14EE57B48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1595B5-9391-6534-0B66-02D91A0CC4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6AD375-D5C2-E7FE-F0E1-9D2EF2D488C3}"/>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8" name="Footer Placeholder 7">
            <a:extLst>
              <a:ext uri="{FF2B5EF4-FFF2-40B4-BE49-F238E27FC236}">
                <a16:creationId xmlns:a16="http://schemas.microsoft.com/office/drawing/2014/main" id="{0ECED492-FD97-10F2-70F6-8816F3AB74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78B175-9758-B723-5615-33A7ACD330A3}"/>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34754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FBF63-153E-4734-EF23-507FA9FCE7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2F9707-2C90-71C9-2BBE-2C18100D045D}"/>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4" name="Footer Placeholder 3">
            <a:extLst>
              <a:ext uri="{FF2B5EF4-FFF2-40B4-BE49-F238E27FC236}">
                <a16:creationId xmlns:a16="http://schemas.microsoft.com/office/drawing/2014/main" id="{465D17AC-76AD-7A9A-11FE-3C39004F9E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427593-E133-BC4D-0288-3EB37EEC4C38}"/>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3226131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E855D7-DC06-1450-09A2-86300AACF06E}"/>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3" name="Footer Placeholder 2">
            <a:extLst>
              <a:ext uri="{FF2B5EF4-FFF2-40B4-BE49-F238E27FC236}">
                <a16:creationId xmlns:a16="http://schemas.microsoft.com/office/drawing/2014/main" id="{FA7F9A97-686F-4200-6499-7CAFB70BD2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D0EFB0-5799-9B7E-E965-DE24BD8F93CC}"/>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3055475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F1A57-AE77-6780-3EA9-68EEF5033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7CE336-8BCE-07CB-A603-7FAE704E2C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FBAC8B-82D5-BFFA-B3FE-C864F13DF6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E3E2C5-6EE6-AAC8-E191-6205C68A7A25}"/>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6" name="Footer Placeholder 5">
            <a:extLst>
              <a:ext uri="{FF2B5EF4-FFF2-40B4-BE49-F238E27FC236}">
                <a16:creationId xmlns:a16="http://schemas.microsoft.com/office/drawing/2014/main" id="{5896585A-EDFD-5C97-ABFF-E654B50DD4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460BC8-EEE9-2C87-69B2-9DD24B9F4B08}"/>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3799962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FA70D-BF23-3F38-6C6E-D464E1167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A3924D-CF33-2367-C7C6-E9C8B24122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83448C-2BDF-4072-348A-A179E4094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ED0D96-2AD0-1AC6-B988-E3300786E338}"/>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6" name="Footer Placeholder 5">
            <a:extLst>
              <a:ext uri="{FF2B5EF4-FFF2-40B4-BE49-F238E27FC236}">
                <a16:creationId xmlns:a16="http://schemas.microsoft.com/office/drawing/2014/main" id="{98A7CC81-8F56-9A31-BE8C-2855F984D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6C7B19-0FD9-4682-F1CE-E180BB65B510}"/>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14544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CC6F0-12FB-CEB7-2FD5-07B16F2734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505CD8-7082-8881-0CC7-1B0B953719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A3F3E-3EC1-5C72-0937-1F90ADB83E0D}"/>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5" name="Footer Placeholder 4">
            <a:extLst>
              <a:ext uri="{FF2B5EF4-FFF2-40B4-BE49-F238E27FC236}">
                <a16:creationId xmlns:a16="http://schemas.microsoft.com/office/drawing/2014/main" id="{B0ED39B8-686E-6A2E-5C5D-5882FB688C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1FD6E-C49A-B04D-5C87-D1F59F0BCB88}"/>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2162900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C0A4AC-CD61-2E7A-ACD3-697D315413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2DE865-B808-1BA4-94CE-5F9775624D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A45D6F-B2CD-415D-3D15-E3C6136BC90C}"/>
              </a:ext>
            </a:extLst>
          </p:cNvPr>
          <p:cNvSpPr>
            <a:spLocks noGrp="1"/>
          </p:cNvSpPr>
          <p:nvPr>
            <p:ph type="dt" sz="half" idx="10"/>
          </p:nvPr>
        </p:nvSpPr>
        <p:spPr/>
        <p:txBody>
          <a:bodyPr/>
          <a:lstStyle/>
          <a:p>
            <a:fld id="{4A7642E0-4ECB-4265-B7F8-5975E489F5AA}" type="datetimeFigureOut">
              <a:rPr lang="en-US" smtClean="0"/>
              <a:t>4/23/2026</a:t>
            </a:fld>
            <a:endParaRPr lang="en-US"/>
          </a:p>
        </p:txBody>
      </p:sp>
      <p:sp>
        <p:nvSpPr>
          <p:cNvPr id="5" name="Footer Placeholder 4">
            <a:extLst>
              <a:ext uri="{FF2B5EF4-FFF2-40B4-BE49-F238E27FC236}">
                <a16:creationId xmlns:a16="http://schemas.microsoft.com/office/drawing/2014/main" id="{CA02C053-4A47-9434-8958-9C0634415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83CA3A-C1B7-0928-FC8D-BD02B7BF9686}"/>
              </a:ext>
            </a:extLst>
          </p:cNvPr>
          <p:cNvSpPr>
            <a:spLocks noGrp="1"/>
          </p:cNvSpPr>
          <p:nvPr>
            <p:ph type="sldNum" sz="quarter" idx="12"/>
          </p:nvPr>
        </p:nvSpPr>
        <p:spPr/>
        <p:txBody>
          <a:bodyPr/>
          <a:lstStyle/>
          <a:p>
            <a:fld id="{DCC415AF-1211-46D0-A9F3-50EA14BAF760}" type="slidenum">
              <a:rPr lang="en-US" smtClean="0"/>
              <a:t>‹#›</a:t>
            </a:fld>
            <a:endParaRPr lang="en-US"/>
          </a:p>
        </p:txBody>
      </p:sp>
    </p:spTree>
    <p:extLst>
      <p:ext uri="{BB962C8B-B14F-4D97-AF65-F5344CB8AC3E}">
        <p14:creationId xmlns:p14="http://schemas.microsoft.com/office/powerpoint/2010/main" val="2533912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C53FE2-9CF7-9F1B-7EAC-2395862F16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DB635C-5C4B-0702-3A40-472AD7C83D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EEBDDE-D361-1E27-8D0A-86EF236448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7642E0-4ECB-4265-B7F8-5975E489F5AA}" type="datetimeFigureOut">
              <a:rPr lang="en-US" smtClean="0"/>
              <a:t>4/23/2026</a:t>
            </a:fld>
            <a:endParaRPr lang="en-US"/>
          </a:p>
        </p:txBody>
      </p:sp>
      <p:sp>
        <p:nvSpPr>
          <p:cNvPr id="5" name="Footer Placeholder 4">
            <a:extLst>
              <a:ext uri="{FF2B5EF4-FFF2-40B4-BE49-F238E27FC236}">
                <a16:creationId xmlns:a16="http://schemas.microsoft.com/office/drawing/2014/main" id="{E161F10B-B144-7C9B-330F-2F3409A8B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DD785F-1C9D-8483-1AEC-481E236BB1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C415AF-1211-46D0-A9F3-50EA14BAF760}" type="slidenum">
              <a:rPr lang="en-US" smtClean="0"/>
              <a:t>‹#›</a:t>
            </a:fld>
            <a:endParaRPr lang="en-US"/>
          </a:p>
        </p:txBody>
      </p:sp>
    </p:spTree>
    <p:extLst>
      <p:ext uri="{BB962C8B-B14F-4D97-AF65-F5344CB8AC3E}">
        <p14:creationId xmlns:p14="http://schemas.microsoft.com/office/powerpoint/2010/main" val="3971405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2E9EC-734F-F767-AA2F-A59DFFA64884}"/>
              </a:ext>
            </a:extLst>
          </p:cNvPr>
          <p:cNvSpPr>
            <a:spLocks noGrp="1"/>
          </p:cNvSpPr>
          <p:nvPr>
            <p:ph type="ctrTitle"/>
          </p:nvPr>
        </p:nvSpPr>
        <p:spPr/>
        <p:txBody>
          <a:bodyPr/>
          <a:lstStyle/>
          <a:p>
            <a:r>
              <a:rPr lang="en-US" dirty="0"/>
              <a:t>Velocity Motors Analysis</a:t>
            </a:r>
          </a:p>
        </p:txBody>
      </p:sp>
      <p:sp>
        <p:nvSpPr>
          <p:cNvPr id="3" name="Subtitle 2">
            <a:extLst>
              <a:ext uri="{FF2B5EF4-FFF2-40B4-BE49-F238E27FC236}">
                <a16:creationId xmlns:a16="http://schemas.microsoft.com/office/drawing/2014/main" id="{B68454F5-A430-1C4C-8E22-3FAE92930090}"/>
              </a:ext>
            </a:extLst>
          </p:cNvPr>
          <p:cNvSpPr>
            <a:spLocks noGrp="1"/>
          </p:cNvSpPr>
          <p:nvPr>
            <p:ph type="subTitle" idx="1"/>
          </p:nvPr>
        </p:nvSpPr>
        <p:spPr/>
        <p:txBody>
          <a:bodyPr/>
          <a:lstStyle/>
          <a:p>
            <a:r>
              <a:rPr lang="en-US" dirty="0"/>
              <a:t>By Atharva Deshpande</a:t>
            </a:r>
          </a:p>
        </p:txBody>
      </p:sp>
    </p:spTree>
    <p:extLst>
      <p:ext uri="{BB962C8B-B14F-4D97-AF65-F5344CB8AC3E}">
        <p14:creationId xmlns:p14="http://schemas.microsoft.com/office/powerpoint/2010/main" val="418184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CD9B1-F001-DBAD-0D75-091CE5B89DDC}"/>
              </a:ext>
            </a:extLst>
          </p:cNvPr>
          <p:cNvSpPr>
            <a:spLocks noGrp="1"/>
          </p:cNvSpPr>
          <p:nvPr>
            <p:ph type="title"/>
          </p:nvPr>
        </p:nvSpPr>
        <p:spPr>
          <a:xfrm>
            <a:off x="220929" y="64417"/>
            <a:ext cx="11709229" cy="432674"/>
          </a:xfrm>
        </p:spPr>
        <p:txBody>
          <a:bodyPr>
            <a:normAutofit/>
          </a:bodyPr>
          <a:lstStyle/>
          <a:p>
            <a:r>
              <a:rPr lang="en-US" sz="1800" dirty="0">
                <a:latin typeface="Comic Sans MS" panose="030F0702030302020204" pitchFamily="66" charset="0"/>
              </a:rPr>
              <a:t>Case Statement</a:t>
            </a:r>
          </a:p>
        </p:txBody>
      </p:sp>
      <p:sp>
        <p:nvSpPr>
          <p:cNvPr id="3" name="Content Placeholder 2">
            <a:extLst>
              <a:ext uri="{FF2B5EF4-FFF2-40B4-BE49-F238E27FC236}">
                <a16:creationId xmlns:a16="http://schemas.microsoft.com/office/drawing/2014/main" id="{D8A5C84B-E2AC-8E65-D52F-8117BD60835B}"/>
              </a:ext>
            </a:extLst>
          </p:cNvPr>
          <p:cNvSpPr>
            <a:spLocks noGrp="1"/>
          </p:cNvSpPr>
          <p:nvPr>
            <p:ph idx="1"/>
          </p:nvPr>
        </p:nvSpPr>
        <p:spPr>
          <a:xfrm>
            <a:off x="220929" y="472538"/>
            <a:ext cx="11709229" cy="6278065"/>
          </a:xfrm>
        </p:spPr>
        <p:txBody>
          <a:bodyPr>
            <a:normAutofit/>
          </a:bodyPr>
          <a:lstStyle/>
          <a:p>
            <a:pPr marL="0" indent="0">
              <a:lnSpc>
                <a:spcPct val="150000"/>
              </a:lnSpc>
              <a:buNone/>
            </a:pPr>
            <a:r>
              <a:rPr lang="en-US" sz="1400" dirty="0">
                <a:latin typeface="Comic Sans MS" panose="030F0702030302020204" pitchFamily="66" charset="0"/>
              </a:rPr>
              <a:t>Velocity Motors Pvt Limited is multi-automobile dealership operating across several cities offering brand new and certified used cars, financing options and after-sales services. Despite consistent growth in sales volume across branches management has observed significant variation in profitability and operational efficiency. Some branches generate strong revenue but fail to convert it into profit while others demonstrate better margin performance.</a:t>
            </a:r>
          </a:p>
          <a:p>
            <a:pPr marL="0" indent="0">
              <a:lnSpc>
                <a:spcPct val="150000"/>
              </a:lnSpc>
              <a:buNone/>
            </a:pPr>
            <a:r>
              <a:rPr lang="en-US" sz="1400" dirty="0">
                <a:latin typeface="Comic Sans MS" panose="030F0702030302020204" pitchFamily="66" charset="0"/>
              </a:rPr>
              <a:t>Senior leadership has initiated data driven performance review to understand the underlying drivers of these differences. The objective is to evaluate branch-level performance and identify key factors such as product mix, pricing and cost efficiency that influence both revenue and profitability.</a:t>
            </a:r>
          </a:p>
          <a:p>
            <a:pPr marL="0" indent="0">
              <a:lnSpc>
                <a:spcPct val="150000"/>
              </a:lnSpc>
              <a:buNone/>
            </a:pPr>
            <a:r>
              <a:rPr lang="en-US" sz="1400" dirty="0">
                <a:latin typeface="Comic Sans MS" panose="030F0702030302020204" pitchFamily="66" charset="0"/>
              </a:rPr>
              <a:t>Additionally, the company aims to identify which branches demonstrate strong and sustainable performance and are therefore suitable for expansion. This analysis aims to provide actionable insights to improve overall business performance and support strategic decisions such as resource allocation and branch expansion.</a:t>
            </a:r>
          </a:p>
          <a:p>
            <a:pPr marL="0" indent="0">
              <a:lnSpc>
                <a:spcPct val="150000"/>
              </a:lnSpc>
              <a:buNone/>
            </a:pPr>
            <a:r>
              <a:rPr lang="en-US" sz="1400" dirty="0">
                <a:latin typeface="Comic Sans MS" panose="030F0702030302020204" pitchFamily="66" charset="0"/>
              </a:rPr>
              <a:t>Key business questions:</a:t>
            </a:r>
          </a:p>
          <a:p>
            <a:pPr>
              <a:lnSpc>
                <a:spcPct val="150000"/>
              </a:lnSpc>
            </a:pPr>
            <a:r>
              <a:rPr lang="en-US" sz="1400" dirty="0">
                <a:latin typeface="Comic Sans MS" panose="030F0702030302020204" pitchFamily="66" charset="0"/>
              </a:rPr>
              <a:t>Why do some branches outperform others in profitability ?</a:t>
            </a:r>
          </a:p>
          <a:p>
            <a:pPr>
              <a:lnSpc>
                <a:spcPct val="150000"/>
              </a:lnSpc>
            </a:pPr>
            <a:r>
              <a:rPr lang="en-US" sz="1400" dirty="0">
                <a:latin typeface="Comic Sans MS" panose="030F0702030302020204" pitchFamily="66" charset="0"/>
              </a:rPr>
              <a:t>Does higher revenue translate into better margins ?</a:t>
            </a:r>
          </a:p>
          <a:p>
            <a:pPr>
              <a:lnSpc>
                <a:spcPct val="150000"/>
              </a:lnSpc>
            </a:pPr>
            <a:r>
              <a:rPr lang="en-US" sz="1400" dirty="0">
                <a:latin typeface="Comic Sans MS" panose="030F0702030302020204" pitchFamily="66" charset="0"/>
              </a:rPr>
              <a:t>How does product mix influence performance ?</a:t>
            </a:r>
          </a:p>
          <a:p>
            <a:pPr>
              <a:lnSpc>
                <a:spcPct val="150000"/>
              </a:lnSpc>
            </a:pPr>
            <a:r>
              <a:rPr lang="en-US" sz="1400" dirty="0">
                <a:latin typeface="Comic Sans MS" panose="030F0702030302020204" pitchFamily="66" charset="0"/>
              </a:rPr>
              <a:t>Where are the efficiency gaps across branches ?</a:t>
            </a:r>
          </a:p>
          <a:p>
            <a:pPr>
              <a:lnSpc>
                <a:spcPct val="150000"/>
              </a:lnSpc>
            </a:pPr>
            <a:r>
              <a:rPr lang="en-US" sz="1400" dirty="0">
                <a:latin typeface="Comic Sans MS" panose="030F0702030302020204" pitchFamily="66" charset="0"/>
              </a:rPr>
              <a:t>Which branches are strong candidates for expansion based on performance and efficiency ?</a:t>
            </a:r>
          </a:p>
        </p:txBody>
      </p:sp>
    </p:spTree>
    <p:extLst>
      <p:ext uri="{BB962C8B-B14F-4D97-AF65-F5344CB8AC3E}">
        <p14:creationId xmlns:p14="http://schemas.microsoft.com/office/powerpoint/2010/main" val="2126206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3C665-55E2-566E-D3F9-D98E5C72E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40003-AE17-E98E-DCA4-03C7569A90A5}"/>
              </a:ext>
            </a:extLst>
          </p:cNvPr>
          <p:cNvSpPr>
            <a:spLocks noGrp="1"/>
          </p:cNvSpPr>
          <p:nvPr>
            <p:ph type="title"/>
          </p:nvPr>
        </p:nvSpPr>
        <p:spPr>
          <a:xfrm>
            <a:off x="220929" y="64417"/>
            <a:ext cx="11709229" cy="432674"/>
          </a:xfrm>
        </p:spPr>
        <p:txBody>
          <a:bodyPr>
            <a:normAutofit/>
          </a:bodyPr>
          <a:lstStyle/>
          <a:p>
            <a:r>
              <a:rPr lang="en-US" sz="1800" dirty="0">
                <a:latin typeface="Comic Sans MS" panose="030F0702030302020204" pitchFamily="66" charset="0"/>
              </a:rPr>
              <a:t>Database Tables</a:t>
            </a:r>
          </a:p>
        </p:txBody>
      </p:sp>
      <p:sp>
        <p:nvSpPr>
          <p:cNvPr id="3" name="Content Placeholder 2">
            <a:extLst>
              <a:ext uri="{FF2B5EF4-FFF2-40B4-BE49-F238E27FC236}">
                <a16:creationId xmlns:a16="http://schemas.microsoft.com/office/drawing/2014/main" id="{A0279088-584D-5322-4DC4-0DBC315A90F9}"/>
              </a:ext>
            </a:extLst>
          </p:cNvPr>
          <p:cNvSpPr>
            <a:spLocks noGrp="1"/>
          </p:cNvSpPr>
          <p:nvPr>
            <p:ph idx="1"/>
          </p:nvPr>
        </p:nvSpPr>
        <p:spPr>
          <a:xfrm>
            <a:off x="220929" y="632102"/>
            <a:ext cx="11750142" cy="3099141"/>
          </a:xfrm>
        </p:spPr>
        <p:txBody>
          <a:bodyPr>
            <a:normAutofit/>
          </a:bodyPr>
          <a:lstStyle/>
          <a:p>
            <a:pPr marL="0" indent="0">
              <a:lnSpc>
                <a:spcPct val="100000"/>
              </a:lnSpc>
              <a:buNone/>
            </a:pPr>
            <a:r>
              <a:rPr lang="en-US" sz="1400" dirty="0">
                <a:latin typeface="Comic Sans MS" panose="030F0702030302020204" pitchFamily="66" charset="0"/>
              </a:rPr>
              <a:t>Table: Sales</a:t>
            </a:r>
          </a:p>
          <a:p>
            <a:pPr marL="0" indent="0">
              <a:lnSpc>
                <a:spcPct val="100000"/>
              </a:lnSpc>
              <a:buNone/>
            </a:pPr>
            <a:r>
              <a:rPr lang="en-US" sz="1400" dirty="0">
                <a:latin typeface="Comic Sans MS" panose="030F0702030302020204" pitchFamily="66" charset="0"/>
              </a:rPr>
              <a:t>Transaction fact table containing all the sales. This is the core table for revenue / profit and business analysis. </a:t>
            </a:r>
          </a:p>
          <a:p>
            <a:pPr marL="0" indent="0">
              <a:lnSpc>
                <a:spcPct val="100000"/>
              </a:lnSpc>
              <a:buNone/>
            </a:pPr>
            <a:r>
              <a:rPr lang="en-US" sz="1400" dirty="0">
                <a:latin typeface="Comic Sans MS" panose="030F0702030302020204" pitchFamily="66" charset="0"/>
              </a:rPr>
              <a:t>Structure of the table:</a:t>
            </a:r>
          </a:p>
          <a:p>
            <a:pPr>
              <a:lnSpc>
                <a:spcPct val="100000"/>
              </a:lnSpc>
            </a:pPr>
            <a:r>
              <a:rPr lang="en-US" sz="1400" dirty="0" err="1">
                <a:latin typeface="Comic Sans MS" panose="030F0702030302020204" pitchFamily="66" charset="0"/>
              </a:rPr>
              <a:t>Sale_id</a:t>
            </a:r>
            <a:r>
              <a:rPr lang="en-US" sz="1400" dirty="0">
                <a:latin typeface="Comic Sans MS" panose="030F0702030302020204" pitchFamily="66" charset="0"/>
              </a:rPr>
              <a:t>: Unique sale transaction.</a:t>
            </a:r>
          </a:p>
          <a:p>
            <a:pPr>
              <a:lnSpc>
                <a:spcPct val="100000"/>
              </a:lnSpc>
            </a:pPr>
            <a:r>
              <a:rPr lang="en-US" sz="1400" dirty="0" err="1">
                <a:latin typeface="Comic Sans MS" panose="030F0702030302020204" pitchFamily="66" charset="0"/>
              </a:rPr>
              <a:t>Car_id</a:t>
            </a:r>
            <a:r>
              <a:rPr lang="en-US" sz="1400" dirty="0">
                <a:latin typeface="Comic Sans MS" panose="030F0702030302020204" pitchFamily="66" charset="0"/>
              </a:rPr>
              <a:t>: Id of the vehicle sold.</a:t>
            </a:r>
          </a:p>
          <a:p>
            <a:pPr>
              <a:lnSpc>
                <a:spcPct val="100000"/>
              </a:lnSpc>
            </a:pPr>
            <a:r>
              <a:rPr lang="en-US" sz="1400" dirty="0" err="1">
                <a:latin typeface="Comic Sans MS" panose="030F0702030302020204" pitchFamily="66" charset="0"/>
              </a:rPr>
              <a:t>Branch_id</a:t>
            </a:r>
            <a:r>
              <a:rPr lang="en-US" sz="1400" dirty="0">
                <a:latin typeface="Comic Sans MS" panose="030F0702030302020204" pitchFamily="66" charset="0"/>
              </a:rPr>
              <a:t>: Id of the branch it was sold from.</a:t>
            </a:r>
          </a:p>
          <a:p>
            <a:pPr>
              <a:lnSpc>
                <a:spcPct val="100000"/>
              </a:lnSpc>
            </a:pPr>
            <a:r>
              <a:rPr lang="en-US" sz="1400" dirty="0" err="1">
                <a:latin typeface="Comic Sans MS" panose="030F0702030302020204" pitchFamily="66" charset="0"/>
              </a:rPr>
              <a:t>Sale_Date</a:t>
            </a:r>
            <a:r>
              <a:rPr lang="en-US" sz="1400" dirty="0">
                <a:latin typeface="Comic Sans MS" panose="030F0702030302020204" pitchFamily="66" charset="0"/>
              </a:rPr>
              <a:t>: Date of the sale.</a:t>
            </a:r>
          </a:p>
          <a:p>
            <a:pPr>
              <a:lnSpc>
                <a:spcPct val="100000"/>
              </a:lnSpc>
            </a:pPr>
            <a:r>
              <a:rPr lang="en-US" sz="1400" dirty="0" err="1">
                <a:latin typeface="Comic Sans MS" panose="030F0702030302020204" pitchFamily="66" charset="0"/>
              </a:rPr>
              <a:t>Sale_price</a:t>
            </a:r>
            <a:r>
              <a:rPr lang="en-US" sz="1400" dirty="0">
                <a:latin typeface="Comic Sans MS" panose="030F0702030302020204" pitchFamily="66" charset="0"/>
              </a:rPr>
              <a:t>: Final sale price.</a:t>
            </a:r>
          </a:p>
          <a:p>
            <a:pPr>
              <a:lnSpc>
                <a:spcPct val="100000"/>
              </a:lnSpc>
            </a:pPr>
            <a:r>
              <a:rPr lang="en-US" sz="1400" dirty="0" err="1">
                <a:latin typeface="Comic Sans MS" panose="030F0702030302020204" pitchFamily="66" charset="0"/>
              </a:rPr>
              <a:t>Discount_given</a:t>
            </a:r>
            <a:r>
              <a:rPr lang="en-US" sz="1400" dirty="0">
                <a:latin typeface="Comic Sans MS" panose="030F0702030302020204" pitchFamily="66" charset="0"/>
              </a:rPr>
              <a:t>: Discount amount.</a:t>
            </a:r>
          </a:p>
        </p:txBody>
      </p:sp>
    </p:spTree>
    <p:extLst>
      <p:ext uri="{BB962C8B-B14F-4D97-AF65-F5344CB8AC3E}">
        <p14:creationId xmlns:p14="http://schemas.microsoft.com/office/powerpoint/2010/main" val="1079909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4FF40-A58B-34DD-C193-785F7E89F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AEFC9-90F7-8C03-0728-39578C8FC800}"/>
              </a:ext>
            </a:extLst>
          </p:cNvPr>
          <p:cNvSpPr>
            <a:spLocks noGrp="1"/>
          </p:cNvSpPr>
          <p:nvPr>
            <p:ph type="title"/>
          </p:nvPr>
        </p:nvSpPr>
        <p:spPr>
          <a:xfrm>
            <a:off x="273859" y="160403"/>
            <a:ext cx="10515600" cy="432674"/>
          </a:xfrm>
        </p:spPr>
        <p:txBody>
          <a:bodyPr>
            <a:normAutofit/>
          </a:bodyPr>
          <a:lstStyle/>
          <a:p>
            <a:r>
              <a:rPr lang="en-US" sz="1900" dirty="0">
                <a:latin typeface="Comic Sans MS" panose="030F0702030302020204" pitchFamily="66" charset="0"/>
              </a:rPr>
              <a:t>Branch Wise Sales 2023, 2024, 2025</a:t>
            </a:r>
          </a:p>
        </p:txBody>
      </p:sp>
      <p:graphicFrame>
        <p:nvGraphicFramePr>
          <p:cNvPr id="6" name="Content Placeholder 5">
            <a:extLst>
              <a:ext uri="{FF2B5EF4-FFF2-40B4-BE49-F238E27FC236}">
                <a16:creationId xmlns:a16="http://schemas.microsoft.com/office/drawing/2014/main" id="{25052A25-7621-A74D-D557-F536AD007332}"/>
              </a:ext>
            </a:extLst>
          </p:cNvPr>
          <p:cNvGraphicFramePr>
            <a:graphicFrameLocks noGrp="1"/>
          </p:cNvGraphicFramePr>
          <p:nvPr>
            <p:ph idx="1"/>
            <p:extLst>
              <p:ext uri="{D42A27DB-BD31-4B8C-83A1-F6EECF244321}">
                <p14:modId xmlns:p14="http://schemas.microsoft.com/office/powerpoint/2010/main" val="4181273258"/>
              </p:ext>
            </p:extLst>
          </p:nvPr>
        </p:nvGraphicFramePr>
        <p:xfrm>
          <a:off x="273859" y="699352"/>
          <a:ext cx="11644281" cy="50816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0936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30E82-7180-CD0D-C4F2-8939904B1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CAC50-6AA7-90D9-3A6F-74C70A2CC198}"/>
              </a:ext>
            </a:extLst>
          </p:cNvPr>
          <p:cNvSpPr>
            <a:spLocks noGrp="1"/>
          </p:cNvSpPr>
          <p:nvPr>
            <p:ph type="title"/>
          </p:nvPr>
        </p:nvSpPr>
        <p:spPr>
          <a:xfrm>
            <a:off x="273859" y="160403"/>
            <a:ext cx="10515600" cy="432674"/>
          </a:xfrm>
        </p:spPr>
        <p:txBody>
          <a:bodyPr>
            <a:normAutofit/>
          </a:bodyPr>
          <a:lstStyle/>
          <a:p>
            <a:r>
              <a:rPr lang="en-US" sz="1900" dirty="0">
                <a:latin typeface="Comic Sans MS" panose="030F0702030302020204" pitchFamily="66" charset="0"/>
              </a:rPr>
              <a:t>Revenue Contribution % Branch Wise 2022 and 2023</a:t>
            </a:r>
          </a:p>
        </p:txBody>
      </p:sp>
      <p:graphicFrame>
        <p:nvGraphicFramePr>
          <p:cNvPr id="8" name="Content Placeholder 7">
            <a:extLst>
              <a:ext uri="{FF2B5EF4-FFF2-40B4-BE49-F238E27FC236}">
                <a16:creationId xmlns:a16="http://schemas.microsoft.com/office/drawing/2014/main" id="{64EAFD76-9D11-AAE8-4A22-5B1B79256803}"/>
              </a:ext>
            </a:extLst>
          </p:cNvPr>
          <p:cNvGraphicFramePr>
            <a:graphicFrameLocks noGrp="1"/>
          </p:cNvGraphicFramePr>
          <p:nvPr>
            <p:ph idx="1"/>
            <p:extLst>
              <p:ext uri="{D42A27DB-BD31-4B8C-83A1-F6EECF244321}">
                <p14:modId xmlns:p14="http://schemas.microsoft.com/office/powerpoint/2010/main" val="3842987601"/>
              </p:ext>
            </p:extLst>
          </p:nvPr>
        </p:nvGraphicFramePr>
        <p:xfrm>
          <a:off x="273859" y="888407"/>
          <a:ext cx="5653087" cy="580919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7">
            <a:extLst>
              <a:ext uri="{FF2B5EF4-FFF2-40B4-BE49-F238E27FC236}">
                <a16:creationId xmlns:a16="http://schemas.microsoft.com/office/drawing/2014/main" id="{17EE1C08-940F-2758-B3B6-674C27C81634}"/>
              </a:ext>
            </a:extLst>
          </p:cNvPr>
          <p:cNvGraphicFramePr>
            <a:graphicFrameLocks/>
          </p:cNvGraphicFramePr>
          <p:nvPr>
            <p:extLst>
              <p:ext uri="{D42A27DB-BD31-4B8C-83A1-F6EECF244321}">
                <p14:modId xmlns:p14="http://schemas.microsoft.com/office/powerpoint/2010/main" val="2251553674"/>
              </p:ext>
            </p:extLst>
          </p:nvPr>
        </p:nvGraphicFramePr>
        <p:xfrm>
          <a:off x="6318249" y="888406"/>
          <a:ext cx="5526089" cy="580919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7078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BB798-1A43-FAF4-D77B-CCD2094F4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95F30-96A9-7DF4-C11B-017E4B1A4EB1}"/>
              </a:ext>
            </a:extLst>
          </p:cNvPr>
          <p:cNvSpPr>
            <a:spLocks noGrp="1"/>
          </p:cNvSpPr>
          <p:nvPr>
            <p:ph type="title"/>
          </p:nvPr>
        </p:nvSpPr>
        <p:spPr>
          <a:xfrm>
            <a:off x="401397" y="184951"/>
            <a:ext cx="5372101" cy="432674"/>
          </a:xfrm>
        </p:spPr>
        <p:txBody>
          <a:bodyPr>
            <a:normAutofit/>
          </a:bodyPr>
          <a:lstStyle/>
          <a:p>
            <a:r>
              <a:rPr lang="en-US" sz="1900" dirty="0">
                <a:latin typeface="Comic Sans MS" panose="030F0702030302020204" pitchFamily="66" charset="0"/>
              </a:rPr>
              <a:t>Sales Contribution % Branch Wise 2024</a:t>
            </a:r>
          </a:p>
        </p:txBody>
      </p:sp>
      <p:graphicFrame>
        <p:nvGraphicFramePr>
          <p:cNvPr id="9" name="Content Placeholder 7">
            <a:extLst>
              <a:ext uri="{FF2B5EF4-FFF2-40B4-BE49-F238E27FC236}">
                <a16:creationId xmlns:a16="http://schemas.microsoft.com/office/drawing/2014/main" id="{83375101-0453-3C46-E921-C1C8916799F9}"/>
              </a:ext>
            </a:extLst>
          </p:cNvPr>
          <p:cNvGraphicFramePr>
            <a:graphicFrameLocks/>
          </p:cNvGraphicFramePr>
          <p:nvPr>
            <p:extLst>
              <p:ext uri="{D42A27DB-BD31-4B8C-83A1-F6EECF244321}">
                <p14:modId xmlns:p14="http://schemas.microsoft.com/office/powerpoint/2010/main" val="3861498560"/>
              </p:ext>
            </p:extLst>
          </p:nvPr>
        </p:nvGraphicFramePr>
        <p:xfrm>
          <a:off x="3010454" y="767114"/>
          <a:ext cx="5526089" cy="60102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46946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367AD-3D9D-B236-F200-E49F749A8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A73B7-99E1-86E8-9B12-329C0F0CFB7A}"/>
              </a:ext>
            </a:extLst>
          </p:cNvPr>
          <p:cNvSpPr>
            <a:spLocks noGrp="1"/>
          </p:cNvSpPr>
          <p:nvPr>
            <p:ph type="title"/>
          </p:nvPr>
        </p:nvSpPr>
        <p:spPr>
          <a:xfrm>
            <a:off x="838200" y="88965"/>
            <a:ext cx="10515600" cy="432674"/>
          </a:xfrm>
        </p:spPr>
        <p:txBody>
          <a:bodyPr>
            <a:normAutofit/>
          </a:bodyPr>
          <a:lstStyle/>
          <a:p>
            <a:r>
              <a:rPr lang="en-US" sz="1900" dirty="0">
                <a:latin typeface="Comic Sans MS" panose="030F0702030302020204" pitchFamily="66" charset="0"/>
              </a:rPr>
              <a:t>Findings</a:t>
            </a:r>
          </a:p>
        </p:txBody>
      </p:sp>
      <p:sp>
        <p:nvSpPr>
          <p:cNvPr id="3" name="Content Placeholder 2">
            <a:extLst>
              <a:ext uri="{FF2B5EF4-FFF2-40B4-BE49-F238E27FC236}">
                <a16:creationId xmlns:a16="http://schemas.microsoft.com/office/drawing/2014/main" id="{39013648-63CA-4571-C592-AFA072D17A1A}"/>
              </a:ext>
            </a:extLst>
          </p:cNvPr>
          <p:cNvSpPr>
            <a:spLocks noGrp="1"/>
          </p:cNvSpPr>
          <p:nvPr>
            <p:ph idx="1"/>
          </p:nvPr>
        </p:nvSpPr>
        <p:spPr>
          <a:xfrm>
            <a:off x="838200" y="724159"/>
            <a:ext cx="10515600" cy="3933758"/>
          </a:xfrm>
        </p:spPr>
        <p:txBody>
          <a:bodyPr>
            <a:normAutofit/>
          </a:bodyPr>
          <a:lstStyle/>
          <a:p>
            <a:endParaRPr lang="en-US" sz="1900" dirty="0">
              <a:latin typeface="Comic Sans MS" panose="030F0702030302020204" pitchFamily="66" charset="0"/>
            </a:endParaRPr>
          </a:p>
          <a:p>
            <a:r>
              <a:rPr lang="en-US" sz="1800" dirty="0">
                <a:latin typeface="Comic Sans MS" panose="030F0702030302020204" pitchFamily="66" charset="0"/>
              </a:rPr>
              <a:t>Mumbai North Showroom made a total sales of 37.8 crore rupees thus giving a contribution of 19.33% in total revenue in year 2022.</a:t>
            </a:r>
          </a:p>
          <a:p>
            <a:pPr marL="0" indent="0">
              <a:buNone/>
            </a:pPr>
            <a:endParaRPr lang="en-US" sz="1800" dirty="0">
              <a:latin typeface="Comic Sans MS" panose="030F0702030302020204" pitchFamily="66" charset="0"/>
            </a:endParaRPr>
          </a:p>
          <a:p>
            <a:r>
              <a:rPr lang="en-US" sz="1800" dirty="0">
                <a:latin typeface="Comic Sans MS" panose="030F0702030302020204" pitchFamily="66" charset="0"/>
              </a:rPr>
              <a:t>In year 2023 this showroom made a sales of 73.1 crore rupees thus giving a contribution of 22% in total revenue.</a:t>
            </a:r>
          </a:p>
          <a:p>
            <a:pPr marL="0" indent="0">
              <a:buNone/>
            </a:pPr>
            <a:endParaRPr lang="en-US" sz="1800" dirty="0">
              <a:latin typeface="Comic Sans MS" panose="030F0702030302020204" pitchFamily="66" charset="0"/>
            </a:endParaRPr>
          </a:p>
          <a:p>
            <a:r>
              <a:rPr lang="en-US" sz="1800" dirty="0">
                <a:latin typeface="Comic Sans MS" panose="030F0702030302020204" pitchFamily="66" charset="0"/>
              </a:rPr>
              <a:t>In year 2024 this showroom made a sales of 61.04 crore rupees thus giving a contribution of 20.67% in total revenue.</a:t>
            </a:r>
          </a:p>
          <a:p>
            <a:pPr marL="0" indent="0">
              <a:buNone/>
            </a:pPr>
            <a:endParaRPr lang="en-US" sz="1800" dirty="0">
              <a:latin typeface="Comic Sans MS" panose="030F0702030302020204" pitchFamily="66" charset="0"/>
            </a:endParaRPr>
          </a:p>
          <a:p>
            <a:r>
              <a:rPr lang="en-US" sz="1800" dirty="0">
                <a:latin typeface="Comic Sans MS" panose="030F0702030302020204" pitchFamily="66" charset="0"/>
              </a:rPr>
              <a:t>Mumbai north showroom is the topmost showroom in terms of revenue generation</a:t>
            </a:r>
            <a:r>
              <a:rPr lang="en-US" sz="1900" dirty="0">
                <a:latin typeface="Comic Sans MS" panose="030F0702030302020204" pitchFamily="66" charset="0"/>
              </a:rPr>
              <a:t>.</a:t>
            </a:r>
          </a:p>
        </p:txBody>
      </p:sp>
    </p:spTree>
    <p:extLst>
      <p:ext uri="{BB962C8B-B14F-4D97-AF65-F5344CB8AC3E}">
        <p14:creationId xmlns:p14="http://schemas.microsoft.com/office/powerpoint/2010/main" val="3264762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6541-C9FA-43EB-7916-C31894DDDC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D121F0-AD24-25A9-EF64-C136326D3BEA}"/>
              </a:ext>
            </a:extLst>
          </p:cNvPr>
          <p:cNvSpPr>
            <a:spLocks noGrp="1"/>
          </p:cNvSpPr>
          <p:nvPr>
            <p:ph idx="1"/>
          </p:nvPr>
        </p:nvSpPr>
        <p:spPr>
          <a:xfrm>
            <a:off x="680174" y="1380805"/>
            <a:ext cx="10831651" cy="3473493"/>
          </a:xfrm>
        </p:spPr>
        <p:txBody>
          <a:bodyPr>
            <a:normAutofit/>
          </a:bodyPr>
          <a:lstStyle/>
          <a:p>
            <a:pPr marL="0" indent="0">
              <a:lnSpc>
                <a:spcPct val="150000"/>
              </a:lnSpc>
              <a:buNone/>
            </a:pPr>
            <a:r>
              <a:rPr lang="en-US" sz="1400" dirty="0">
                <a:latin typeface="Comic Sans MS" panose="030F0702030302020204" pitchFamily="66" charset="0"/>
              </a:rPr>
              <a:t>While all branches were evaluated at a high-level detailed analysis was focused on the top two revenue generating branches Mumbai North and Delhi North. These branches together contribute significant share of the total company in year 2023 and 2024 and therefore have the highest impact on overall business performance.</a:t>
            </a:r>
          </a:p>
          <a:p>
            <a:pPr marL="0" indent="0">
              <a:lnSpc>
                <a:spcPct val="150000"/>
              </a:lnSpc>
              <a:buNone/>
            </a:pPr>
            <a:r>
              <a:rPr lang="en-US" sz="1400" dirty="0">
                <a:latin typeface="Comic Sans MS" panose="030F0702030302020204" pitchFamily="66" charset="0"/>
              </a:rPr>
              <a:t>Analyzing their revenue, profitability and efficiency provides meaningful insights into:</a:t>
            </a:r>
          </a:p>
          <a:p>
            <a:pPr marL="0" indent="0">
              <a:lnSpc>
                <a:spcPct val="150000"/>
              </a:lnSpc>
              <a:buNone/>
            </a:pPr>
            <a:r>
              <a:rPr lang="en-US" sz="1400" dirty="0">
                <a:latin typeface="Comic Sans MS" panose="030F0702030302020204" pitchFamily="66" charset="0"/>
              </a:rPr>
              <a:t>What drives high performance ?</a:t>
            </a:r>
          </a:p>
          <a:p>
            <a:pPr marL="0" indent="0">
              <a:lnSpc>
                <a:spcPct val="150000"/>
              </a:lnSpc>
              <a:buNone/>
            </a:pPr>
            <a:r>
              <a:rPr lang="en-US" sz="1400" dirty="0">
                <a:latin typeface="Comic Sans MS" panose="030F0702030302020204" pitchFamily="66" charset="0"/>
              </a:rPr>
              <a:t>Where inefficiencies exist ?</a:t>
            </a:r>
          </a:p>
          <a:p>
            <a:pPr marL="0" indent="0">
              <a:lnSpc>
                <a:spcPct val="150000"/>
              </a:lnSpc>
              <a:buNone/>
            </a:pPr>
            <a:r>
              <a:rPr lang="en-US" sz="1400" dirty="0">
                <a:latin typeface="Comic Sans MS" panose="030F0702030302020204" pitchFamily="66" charset="0"/>
              </a:rPr>
              <a:t>Which strategies can be scaled across other branches ?</a:t>
            </a:r>
          </a:p>
          <a:p>
            <a:pPr marL="0" indent="0">
              <a:lnSpc>
                <a:spcPct val="150000"/>
              </a:lnSpc>
              <a:buNone/>
            </a:pPr>
            <a:r>
              <a:rPr lang="en-US" sz="1400" dirty="0">
                <a:latin typeface="Comic Sans MS" panose="030F0702030302020204" pitchFamily="66" charset="0"/>
              </a:rPr>
              <a:t>Lower-performing branches were not analyzed in detail as they contribute relatively less to overall business impact.</a:t>
            </a:r>
          </a:p>
          <a:p>
            <a:pPr marL="0" indent="0">
              <a:lnSpc>
                <a:spcPct val="150000"/>
              </a:lnSpc>
              <a:buNone/>
            </a:pPr>
            <a:endParaRPr lang="en-US" sz="1400" dirty="0">
              <a:latin typeface="Comic Sans MS" panose="030F0702030302020204" pitchFamily="66" charset="0"/>
            </a:endParaRPr>
          </a:p>
        </p:txBody>
      </p:sp>
    </p:spTree>
    <p:extLst>
      <p:ext uri="{BB962C8B-B14F-4D97-AF65-F5344CB8AC3E}">
        <p14:creationId xmlns:p14="http://schemas.microsoft.com/office/powerpoint/2010/main" val="3635174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A116-C4ED-F690-12F7-3FE962400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F0C96-A6C3-0093-022A-C933B9384EA0}"/>
              </a:ext>
            </a:extLst>
          </p:cNvPr>
          <p:cNvSpPr>
            <a:spLocks noGrp="1"/>
          </p:cNvSpPr>
          <p:nvPr>
            <p:ph type="title"/>
          </p:nvPr>
        </p:nvSpPr>
        <p:spPr>
          <a:xfrm>
            <a:off x="838200" y="88965"/>
            <a:ext cx="10515600" cy="432674"/>
          </a:xfrm>
        </p:spPr>
        <p:txBody>
          <a:bodyPr>
            <a:normAutofit/>
          </a:bodyPr>
          <a:lstStyle/>
          <a:p>
            <a:r>
              <a:rPr lang="en-US" sz="1900" dirty="0">
                <a:latin typeface="Comic Sans MS" panose="030F0702030302020204" pitchFamily="66" charset="0"/>
              </a:rPr>
              <a:t>Sales of Mumbai Showroom Based on Vehicle Category</a:t>
            </a:r>
          </a:p>
        </p:txBody>
      </p:sp>
      <p:sp>
        <p:nvSpPr>
          <p:cNvPr id="3" name="Content Placeholder 2">
            <a:extLst>
              <a:ext uri="{FF2B5EF4-FFF2-40B4-BE49-F238E27FC236}">
                <a16:creationId xmlns:a16="http://schemas.microsoft.com/office/drawing/2014/main" id="{EDF20C02-E3D4-E752-8ECC-C7739EFB2187}"/>
              </a:ext>
            </a:extLst>
          </p:cNvPr>
          <p:cNvSpPr>
            <a:spLocks noGrp="1"/>
          </p:cNvSpPr>
          <p:nvPr>
            <p:ph idx="1"/>
          </p:nvPr>
        </p:nvSpPr>
        <p:spPr>
          <a:xfrm>
            <a:off x="838200" y="724159"/>
            <a:ext cx="10515600" cy="2865935"/>
          </a:xfrm>
        </p:spPr>
        <p:txBody>
          <a:bodyPr>
            <a:normAutofit/>
          </a:bodyPr>
          <a:lstStyle/>
          <a:p>
            <a:r>
              <a:rPr lang="en-US" sz="1800" dirty="0">
                <a:latin typeface="Comic Sans MS" panose="030F0702030302020204" pitchFamily="66" charset="0"/>
              </a:rPr>
              <a:t>Here for categorizing vehicles into premium and standard segments we have made the following considerations:</a:t>
            </a:r>
          </a:p>
          <a:p>
            <a:r>
              <a:rPr lang="en-US" sz="1800" dirty="0">
                <a:latin typeface="Comic Sans MS" panose="030F0702030302020204" pitchFamily="66" charset="0"/>
              </a:rPr>
              <a:t>A car is a premium hatchback if the showroom price is greater than 900000.</a:t>
            </a:r>
          </a:p>
          <a:p>
            <a:r>
              <a:rPr lang="en-US" sz="1800" dirty="0">
                <a:latin typeface="Comic Sans MS" panose="030F0702030302020204" pitchFamily="66" charset="0"/>
              </a:rPr>
              <a:t>A car is a premium sedan if the showroom price is grater than 1500000.</a:t>
            </a:r>
          </a:p>
          <a:p>
            <a:r>
              <a:rPr lang="en-US" sz="1800" dirty="0">
                <a:latin typeface="Comic Sans MS" panose="030F0702030302020204" pitchFamily="66" charset="0"/>
              </a:rPr>
              <a:t>A car is a premium SUV if the showroom price is greater than 2000000.</a:t>
            </a:r>
          </a:p>
          <a:p>
            <a:r>
              <a:rPr lang="en-US" sz="1800" dirty="0">
                <a:latin typeface="Comic Sans MS" panose="030F0702030302020204" pitchFamily="66" charset="0"/>
              </a:rPr>
              <a:t>If the car segment is luxury, then the car belongs to the premium segment.</a:t>
            </a:r>
          </a:p>
          <a:p>
            <a:r>
              <a:rPr lang="en-US" sz="1800" dirty="0">
                <a:latin typeface="Comic Sans MS" panose="030F0702030302020204" pitchFamily="66" charset="0"/>
              </a:rPr>
              <a:t>Rest Cars are considered standard. </a:t>
            </a:r>
          </a:p>
          <a:p>
            <a:pPr marL="0" indent="0">
              <a:buNone/>
            </a:pPr>
            <a:endParaRPr lang="en-US" sz="1900" dirty="0">
              <a:latin typeface="Comic Sans MS" panose="030F0702030302020204" pitchFamily="66" charset="0"/>
            </a:endParaRPr>
          </a:p>
          <a:p>
            <a:pPr marL="0" indent="0">
              <a:buNone/>
            </a:pPr>
            <a:endParaRPr lang="en-US" sz="1900" dirty="0">
              <a:latin typeface="Comic Sans MS" panose="030F0702030302020204" pitchFamily="66" charset="0"/>
            </a:endParaRPr>
          </a:p>
        </p:txBody>
      </p:sp>
      <p:sp>
        <p:nvSpPr>
          <p:cNvPr id="4" name="Title 1">
            <a:extLst>
              <a:ext uri="{FF2B5EF4-FFF2-40B4-BE49-F238E27FC236}">
                <a16:creationId xmlns:a16="http://schemas.microsoft.com/office/drawing/2014/main" id="{BF89A7D7-4B9A-510F-D4B7-3E40FA76349B}"/>
              </a:ext>
            </a:extLst>
          </p:cNvPr>
          <p:cNvSpPr txBox="1">
            <a:spLocks/>
          </p:cNvSpPr>
          <p:nvPr/>
        </p:nvSpPr>
        <p:spPr>
          <a:xfrm>
            <a:off x="838200" y="3429000"/>
            <a:ext cx="10515600"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900" dirty="0">
                <a:latin typeface="Comic Sans MS" panose="030F0702030302020204" pitchFamily="66" charset="0"/>
              </a:rPr>
              <a:t>Sales of Premium Segment Vehicles in for year 2022, 2023, 2024 in units</a:t>
            </a:r>
          </a:p>
        </p:txBody>
      </p:sp>
      <p:graphicFrame>
        <p:nvGraphicFramePr>
          <p:cNvPr id="7" name="Chart 6">
            <a:extLst>
              <a:ext uri="{FF2B5EF4-FFF2-40B4-BE49-F238E27FC236}">
                <a16:creationId xmlns:a16="http://schemas.microsoft.com/office/drawing/2014/main" id="{0C86C567-BC18-AF14-ED5A-84BA3818FDFB}"/>
              </a:ext>
            </a:extLst>
          </p:cNvPr>
          <p:cNvGraphicFramePr/>
          <p:nvPr>
            <p:extLst>
              <p:ext uri="{D42A27DB-BD31-4B8C-83A1-F6EECF244321}">
                <p14:modId xmlns:p14="http://schemas.microsoft.com/office/powerpoint/2010/main" val="3078882010"/>
              </p:ext>
            </p:extLst>
          </p:nvPr>
        </p:nvGraphicFramePr>
        <p:xfrm>
          <a:off x="838200" y="3995244"/>
          <a:ext cx="2852983" cy="248840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8F1D5DFC-5411-31E8-A71F-E2D2E46130AD}"/>
              </a:ext>
            </a:extLst>
          </p:cNvPr>
          <p:cNvGraphicFramePr/>
          <p:nvPr>
            <p:extLst>
              <p:ext uri="{D42A27DB-BD31-4B8C-83A1-F6EECF244321}">
                <p14:modId xmlns:p14="http://schemas.microsoft.com/office/powerpoint/2010/main" val="3008769750"/>
              </p:ext>
            </p:extLst>
          </p:nvPr>
        </p:nvGraphicFramePr>
        <p:xfrm>
          <a:off x="4405559" y="3995242"/>
          <a:ext cx="2852983" cy="248840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CDEB353-16D8-82ED-A20A-EACAD6E2C4E9}"/>
              </a:ext>
            </a:extLst>
          </p:cNvPr>
          <p:cNvGraphicFramePr/>
          <p:nvPr>
            <p:extLst>
              <p:ext uri="{D42A27DB-BD31-4B8C-83A1-F6EECF244321}">
                <p14:modId xmlns:p14="http://schemas.microsoft.com/office/powerpoint/2010/main" val="1390855004"/>
              </p:ext>
            </p:extLst>
          </p:nvPr>
        </p:nvGraphicFramePr>
        <p:xfrm>
          <a:off x="7844084" y="3995242"/>
          <a:ext cx="2852983" cy="24884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66656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2A2E6-0B3D-0ECA-017D-35B938055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C41EA-0EE8-8768-57A7-4B7A3E4C5394}"/>
              </a:ext>
            </a:extLst>
          </p:cNvPr>
          <p:cNvSpPr>
            <a:spLocks noGrp="1"/>
          </p:cNvSpPr>
          <p:nvPr>
            <p:ph type="title"/>
          </p:nvPr>
        </p:nvSpPr>
        <p:spPr>
          <a:xfrm>
            <a:off x="838200" y="88965"/>
            <a:ext cx="10515600" cy="432674"/>
          </a:xfrm>
        </p:spPr>
        <p:txBody>
          <a:bodyPr>
            <a:normAutofit/>
          </a:bodyPr>
          <a:lstStyle/>
          <a:p>
            <a:r>
              <a:rPr lang="en-US" sz="1900" dirty="0">
                <a:latin typeface="Comic Sans MS" panose="030F0702030302020204" pitchFamily="66" charset="0"/>
              </a:rPr>
              <a:t>Revenue generated by Mumbai Showroom from Premium Vehicle Sales</a:t>
            </a:r>
          </a:p>
        </p:txBody>
      </p:sp>
      <p:graphicFrame>
        <p:nvGraphicFramePr>
          <p:cNvPr id="5" name="Chart 4">
            <a:extLst>
              <a:ext uri="{FF2B5EF4-FFF2-40B4-BE49-F238E27FC236}">
                <a16:creationId xmlns:a16="http://schemas.microsoft.com/office/drawing/2014/main" id="{82886FBE-3CF1-D1BE-BDBE-840BE8F2462E}"/>
              </a:ext>
            </a:extLst>
          </p:cNvPr>
          <p:cNvGraphicFramePr/>
          <p:nvPr>
            <p:extLst>
              <p:ext uri="{D42A27DB-BD31-4B8C-83A1-F6EECF244321}">
                <p14:modId xmlns:p14="http://schemas.microsoft.com/office/powerpoint/2010/main" val="2897607254"/>
              </p:ext>
            </p:extLst>
          </p:nvPr>
        </p:nvGraphicFramePr>
        <p:xfrm>
          <a:off x="4600825" y="747969"/>
          <a:ext cx="2852983" cy="2488401"/>
        </p:xfrm>
        <a:graphic>
          <a:graphicData uri="http://schemas.openxmlformats.org/drawingml/2006/chart">
            <c:chart xmlns:c="http://schemas.openxmlformats.org/drawingml/2006/chart" xmlns:r="http://schemas.openxmlformats.org/officeDocument/2006/relationships" r:id="rId2"/>
          </a:graphicData>
        </a:graphic>
      </p:graphicFrame>
      <p:sp>
        <p:nvSpPr>
          <p:cNvPr id="10" name="Content Placeholder 9">
            <a:extLst>
              <a:ext uri="{FF2B5EF4-FFF2-40B4-BE49-F238E27FC236}">
                <a16:creationId xmlns:a16="http://schemas.microsoft.com/office/drawing/2014/main" id="{CED01989-2545-BC2B-C27D-0946B9DF6C6C}"/>
              </a:ext>
            </a:extLst>
          </p:cNvPr>
          <p:cNvSpPr>
            <a:spLocks noGrp="1"/>
          </p:cNvSpPr>
          <p:nvPr>
            <p:ph idx="1"/>
          </p:nvPr>
        </p:nvSpPr>
        <p:spPr>
          <a:xfrm>
            <a:off x="159544" y="3803570"/>
            <a:ext cx="11872912" cy="1382794"/>
          </a:xfrm>
        </p:spPr>
        <p:txBody>
          <a:bodyPr anchor="ctr">
            <a:normAutofit/>
          </a:bodyPr>
          <a:lstStyle/>
          <a:p>
            <a:pPr>
              <a:lnSpc>
                <a:spcPct val="150000"/>
              </a:lnSpc>
            </a:pPr>
            <a:r>
              <a:rPr lang="en-US" sz="1800" dirty="0">
                <a:latin typeface="Comic Sans MS" panose="030F0702030302020204" pitchFamily="66" charset="0"/>
              </a:rPr>
              <a:t>Despite premium vehicles accounting for only 30-40% of units sold they contribute approximately 60-80% of Mumbai showrooms revenue indicating a strong dependence on high vehicle sales.</a:t>
            </a:r>
          </a:p>
        </p:txBody>
      </p:sp>
      <p:graphicFrame>
        <p:nvGraphicFramePr>
          <p:cNvPr id="12" name="Chart 11">
            <a:extLst>
              <a:ext uri="{FF2B5EF4-FFF2-40B4-BE49-F238E27FC236}">
                <a16:creationId xmlns:a16="http://schemas.microsoft.com/office/drawing/2014/main" id="{8CB95622-66ED-8B8D-B2E4-82557F6A95F6}"/>
              </a:ext>
            </a:extLst>
          </p:cNvPr>
          <p:cNvGraphicFramePr/>
          <p:nvPr>
            <p:extLst>
              <p:ext uri="{D42A27DB-BD31-4B8C-83A1-F6EECF244321}">
                <p14:modId xmlns:p14="http://schemas.microsoft.com/office/powerpoint/2010/main" val="1898382101"/>
              </p:ext>
            </p:extLst>
          </p:nvPr>
        </p:nvGraphicFramePr>
        <p:xfrm>
          <a:off x="990600" y="747970"/>
          <a:ext cx="2852983" cy="248840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BC45C9F4-9B0B-8FF7-8088-B81EAC0C369E}"/>
              </a:ext>
            </a:extLst>
          </p:cNvPr>
          <p:cNvGraphicFramePr/>
          <p:nvPr>
            <p:extLst>
              <p:ext uri="{D42A27DB-BD31-4B8C-83A1-F6EECF244321}">
                <p14:modId xmlns:p14="http://schemas.microsoft.com/office/powerpoint/2010/main" val="624265247"/>
              </p:ext>
            </p:extLst>
          </p:nvPr>
        </p:nvGraphicFramePr>
        <p:xfrm>
          <a:off x="8008416" y="759693"/>
          <a:ext cx="2852983" cy="24884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2901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BD6B8-CD01-2F44-5C9E-374B6E319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329B5-9168-CFFC-CB4B-8BB40723E235}"/>
              </a:ext>
            </a:extLst>
          </p:cNvPr>
          <p:cNvSpPr>
            <a:spLocks noGrp="1"/>
          </p:cNvSpPr>
          <p:nvPr>
            <p:ph type="title"/>
          </p:nvPr>
        </p:nvSpPr>
        <p:spPr>
          <a:xfrm>
            <a:off x="838200" y="88965"/>
            <a:ext cx="10515600" cy="432674"/>
          </a:xfrm>
        </p:spPr>
        <p:txBody>
          <a:bodyPr>
            <a:normAutofit/>
          </a:bodyPr>
          <a:lstStyle/>
          <a:p>
            <a:r>
              <a:rPr lang="en-US" sz="2400" dirty="0">
                <a:latin typeface="Comic Sans MS" panose="030F0702030302020204" pitchFamily="66" charset="0"/>
              </a:rPr>
              <a:t>Problem Objective</a:t>
            </a:r>
          </a:p>
        </p:txBody>
      </p:sp>
      <p:sp>
        <p:nvSpPr>
          <p:cNvPr id="3" name="Content Placeholder 2">
            <a:extLst>
              <a:ext uri="{FF2B5EF4-FFF2-40B4-BE49-F238E27FC236}">
                <a16:creationId xmlns:a16="http://schemas.microsoft.com/office/drawing/2014/main" id="{CBA9E469-D8A6-763F-4F43-371EA2505E05}"/>
              </a:ext>
            </a:extLst>
          </p:cNvPr>
          <p:cNvSpPr>
            <a:spLocks noGrp="1"/>
          </p:cNvSpPr>
          <p:nvPr>
            <p:ph idx="1"/>
          </p:nvPr>
        </p:nvSpPr>
        <p:spPr>
          <a:xfrm>
            <a:off x="838200" y="521639"/>
            <a:ext cx="10570369" cy="5350524"/>
          </a:xfrm>
        </p:spPr>
        <p:txBody>
          <a:bodyPr>
            <a:normAutofit/>
          </a:bodyPr>
          <a:lstStyle/>
          <a:p>
            <a:pPr marL="0" indent="0">
              <a:lnSpc>
                <a:spcPct val="150000"/>
              </a:lnSpc>
              <a:buNone/>
            </a:pPr>
            <a:r>
              <a:rPr lang="en-US" sz="1800" dirty="0">
                <a:latin typeface="Comic Sans MS" panose="030F0702030302020204" pitchFamily="66" charset="0"/>
              </a:rPr>
              <a:t>While Mumbai North Showroom leads in revenue generation, management wants to determine whether high revenue is translating into high profitability. </a:t>
            </a:r>
          </a:p>
          <a:p>
            <a:pPr marL="0" indent="0">
              <a:buNone/>
            </a:pPr>
            <a:endParaRPr lang="en-US" sz="1800" dirty="0">
              <a:latin typeface="Comic Sans MS" panose="030F0702030302020204" pitchFamily="66" charset="0"/>
            </a:endParaRPr>
          </a:p>
          <a:p>
            <a:pPr marL="0" indent="0">
              <a:buNone/>
            </a:pPr>
            <a:r>
              <a:rPr lang="en-US" sz="1800" dirty="0">
                <a:latin typeface="Comic Sans MS" panose="030F0702030302020204" pitchFamily="66" charset="0"/>
              </a:rPr>
              <a:t>Leadership suspects:</a:t>
            </a:r>
          </a:p>
          <a:p>
            <a:pPr>
              <a:lnSpc>
                <a:spcPct val="100000"/>
              </a:lnSpc>
            </a:pPr>
            <a:r>
              <a:rPr lang="en-US" sz="1800" dirty="0">
                <a:latin typeface="Comic Sans MS" panose="030F0702030302020204" pitchFamily="66" charset="0"/>
              </a:rPr>
              <a:t>Some branches may be driving sales through aggressive discounting.</a:t>
            </a:r>
          </a:p>
          <a:p>
            <a:pPr>
              <a:lnSpc>
                <a:spcPct val="100000"/>
              </a:lnSpc>
            </a:pPr>
            <a:r>
              <a:rPr lang="en-US" sz="1800" dirty="0">
                <a:latin typeface="Comic Sans MS" panose="030F0702030302020204" pitchFamily="66" charset="0"/>
              </a:rPr>
              <a:t>Some incur high operational cost.</a:t>
            </a:r>
          </a:p>
          <a:p>
            <a:pPr>
              <a:lnSpc>
                <a:spcPct val="100000"/>
              </a:lnSpc>
            </a:pPr>
            <a:r>
              <a:rPr lang="en-US" sz="2000" dirty="0">
                <a:latin typeface="Comic Sans MS" panose="030F0702030302020204" pitchFamily="66" charset="0"/>
              </a:rPr>
              <a:t>Some may sell low-margin vehicles despite strong revenue.</a:t>
            </a:r>
          </a:p>
          <a:p>
            <a:pPr>
              <a:lnSpc>
                <a:spcPct val="100000"/>
              </a:lnSpc>
            </a:pPr>
            <a:endParaRPr lang="en-US" sz="2000" dirty="0">
              <a:latin typeface="Comic Sans MS" panose="030F0702030302020204" pitchFamily="66" charset="0"/>
            </a:endParaRPr>
          </a:p>
          <a:p>
            <a:pPr marL="0" indent="0">
              <a:buNone/>
            </a:pPr>
            <a:r>
              <a:rPr lang="en-US" sz="1800" dirty="0">
                <a:latin typeface="Comic Sans MS" panose="030F0702030302020204" pitchFamily="66" charset="0"/>
              </a:rPr>
              <a:t>Analyze branch-wise profitability by evaluating:</a:t>
            </a:r>
          </a:p>
          <a:p>
            <a:r>
              <a:rPr lang="en-US" sz="1800" dirty="0">
                <a:latin typeface="Comic Sans MS" panose="030F0702030302020204" pitchFamily="66" charset="0"/>
              </a:rPr>
              <a:t>Gross Profit Generated.</a:t>
            </a:r>
          </a:p>
          <a:p>
            <a:r>
              <a:rPr lang="en-US" sz="1800" dirty="0">
                <a:latin typeface="Comic Sans MS" panose="030F0702030302020204" pitchFamily="66" charset="0"/>
              </a:rPr>
              <a:t>Gross Profit Margin %.</a:t>
            </a:r>
          </a:p>
          <a:p>
            <a:r>
              <a:rPr lang="en-US" sz="1800" dirty="0">
                <a:latin typeface="Comic Sans MS" panose="030F0702030302020204" pitchFamily="66" charset="0"/>
              </a:rPr>
              <a:t>Net Profit After Operating Cost.</a:t>
            </a:r>
          </a:p>
          <a:p>
            <a:r>
              <a:rPr lang="en-US" sz="1800" dirty="0">
                <a:latin typeface="Comic Sans MS" panose="030F0702030302020204" pitchFamily="66" charset="0"/>
              </a:rPr>
              <a:t>Rank Branches by Profitability.</a:t>
            </a:r>
          </a:p>
        </p:txBody>
      </p:sp>
    </p:spTree>
    <p:extLst>
      <p:ext uri="{BB962C8B-B14F-4D97-AF65-F5344CB8AC3E}">
        <p14:creationId xmlns:p14="http://schemas.microsoft.com/office/powerpoint/2010/main" val="993308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ABD06-B408-F8F2-5366-3799F365D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017DF-97A7-4EEA-17AA-9D5CD630F256}"/>
              </a:ext>
            </a:extLst>
          </p:cNvPr>
          <p:cNvSpPr>
            <a:spLocks noGrp="1"/>
          </p:cNvSpPr>
          <p:nvPr>
            <p:ph type="title"/>
          </p:nvPr>
        </p:nvSpPr>
        <p:spPr>
          <a:xfrm>
            <a:off x="838200" y="88965"/>
            <a:ext cx="10515600" cy="432674"/>
          </a:xfrm>
        </p:spPr>
        <p:txBody>
          <a:bodyPr>
            <a:normAutofit/>
          </a:bodyPr>
          <a:lstStyle/>
          <a:p>
            <a:r>
              <a:rPr lang="en-US" sz="2400" dirty="0">
                <a:latin typeface="Comic Sans MS" panose="030F0702030302020204" pitchFamily="66" charset="0"/>
              </a:rPr>
              <a:t>Gross Profit Generated by showrooms in year 2022  and 2023 and 2024</a:t>
            </a:r>
          </a:p>
        </p:txBody>
      </p:sp>
      <p:graphicFrame>
        <p:nvGraphicFramePr>
          <p:cNvPr id="15" name="Table 14">
            <a:extLst>
              <a:ext uri="{FF2B5EF4-FFF2-40B4-BE49-F238E27FC236}">
                <a16:creationId xmlns:a16="http://schemas.microsoft.com/office/drawing/2014/main" id="{81FB9FAE-5F3C-BA5A-2659-8ABEAC2DCCB8}"/>
              </a:ext>
            </a:extLst>
          </p:cNvPr>
          <p:cNvGraphicFramePr>
            <a:graphicFrameLocks noGrp="1"/>
          </p:cNvGraphicFramePr>
          <p:nvPr>
            <p:extLst>
              <p:ext uri="{D42A27DB-BD31-4B8C-83A1-F6EECF244321}">
                <p14:modId xmlns:p14="http://schemas.microsoft.com/office/powerpoint/2010/main" val="2116621884"/>
              </p:ext>
            </p:extLst>
          </p:nvPr>
        </p:nvGraphicFramePr>
        <p:xfrm>
          <a:off x="178991" y="660057"/>
          <a:ext cx="11834018" cy="3384546"/>
        </p:xfrm>
        <a:graphic>
          <a:graphicData uri="http://schemas.openxmlformats.org/drawingml/2006/table">
            <a:tbl>
              <a:tblPr firstRow="1" bandRow="1">
                <a:tableStyleId>{616DA210-FB5B-4158-B5E0-FEB733F419BA}</a:tableStyleId>
              </a:tblPr>
              <a:tblGrid>
                <a:gridCol w="3073119">
                  <a:extLst>
                    <a:ext uri="{9D8B030D-6E8A-4147-A177-3AD203B41FA5}">
                      <a16:colId xmlns:a16="http://schemas.microsoft.com/office/drawing/2014/main" val="2483029393"/>
                    </a:ext>
                  </a:extLst>
                </a:gridCol>
                <a:gridCol w="1623677">
                  <a:extLst>
                    <a:ext uri="{9D8B030D-6E8A-4147-A177-3AD203B41FA5}">
                      <a16:colId xmlns:a16="http://schemas.microsoft.com/office/drawing/2014/main" val="1365454361"/>
                    </a:ext>
                  </a:extLst>
                </a:gridCol>
                <a:gridCol w="2379074">
                  <a:extLst>
                    <a:ext uri="{9D8B030D-6E8A-4147-A177-3AD203B41FA5}">
                      <a16:colId xmlns:a16="http://schemas.microsoft.com/office/drawing/2014/main" val="831901661"/>
                    </a:ext>
                  </a:extLst>
                </a:gridCol>
                <a:gridCol w="2379074">
                  <a:extLst>
                    <a:ext uri="{9D8B030D-6E8A-4147-A177-3AD203B41FA5}">
                      <a16:colId xmlns:a16="http://schemas.microsoft.com/office/drawing/2014/main" val="3328076648"/>
                    </a:ext>
                  </a:extLst>
                </a:gridCol>
                <a:gridCol w="2379074">
                  <a:extLst>
                    <a:ext uri="{9D8B030D-6E8A-4147-A177-3AD203B41FA5}">
                      <a16:colId xmlns:a16="http://schemas.microsoft.com/office/drawing/2014/main" val="1325063131"/>
                    </a:ext>
                  </a:extLst>
                </a:gridCol>
              </a:tblGrid>
              <a:tr h="334876">
                <a:tc>
                  <a:txBody>
                    <a:bodyPr/>
                    <a:lstStyle/>
                    <a:p>
                      <a:pPr algn="ctr"/>
                      <a:r>
                        <a:rPr lang="en-US" dirty="0"/>
                        <a:t>Branch Name</a:t>
                      </a:r>
                    </a:p>
                  </a:txBody>
                  <a:tcPr/>
                </a:tc>
                <a:tc>
                  <a:txBody>
                    <a:bodyPr/>
                    <a:lstStyle/>
                    <a:p>
                      <a:pPr algn="ctr"/>
                      <a:r>
                        <a:rPr lang="en-US" dirty="0"/>
                        <a:t>City</a:t>
                      </a:r>
                    </a:p>
                  </a:txBody>
                  <a:tcPr/>
                </a:tc>
                <a:tc>
                  <a:txBody>
                    <a:bodyPr/>
                    <a:lstStyle/>
                    <a:p>
                      <a:pPr algn="ctr"/>
                      <a:r>
                        <a:rPr lang="en-US" dirty="0"/>
                        <a:t>Gross Profit 2022</a:t>
                      </a:r>
                    </a:p>
                  </a:txBody>
                  <a:tcPr/>
                </a:tc>
                <a:tc>
                  <a:txBody>
                    <a:bodyPr/>
                    <a:lstStyle/>
                    <a:p>
                      <a:pPr algn="ctr"/>
                      <a:r>
                        <a:rPr lang="en-US" dirty="0"/>
                        <a:t>Gross Profit 2023</a:t>
                      </a:r>
                    </a:p>
                  </a:txBody>
                  <a:tcPr/>
                </a:tc>
                <a:tc>
                  <a:txBody>
                    <a:bodyPr/>
                    <a:lstStyle/>
                    <a:p>
                      <a:pPr algn="ctr"/>
                      <a:r>
                        <a:rPr lang="en-US" dirty="0"/>
                        <a:t>Gross Profit 2024</a:t>
                      </a:r>
                    </a:p>
                  </a:txBody>
                  <a:tcPr/>
                </a:tc>
                <a:extLst>
                  <a:ext uri="{0D108BD9-81ED-4DB2-BD59-A6C34878D82A}">
                    <a16:rowId xmlns:a16="http://schemas.microsoft.com/office/drawing/2014/main" val="2969879547"/>
                  </a:ext>
                </a:extLst>
              </a:tr>
              <a:tr h="355889">
                <a:tc>
                  <a:txBody>
                    <a:bodyPr/>
                    <a:lstStyle/>
                    <a:p>
                      <a:pPr>
                        <a:buNone/>
                      </a:pPr>
                      <a:r>
                        <a:rPr lang="en-US" dirty="0"/>
                        <a:t>Mumbai North Showroom</a:t>
                      </a:r>
                    </a:p>
                  </a:txBody>
                  <a:tcPr anchor="ctr"/>
                </a:tc>
                <a:tc>
                  <a:txBody>
                    <a:bodyPr/>
                    <a:lstStyle/>
                    <a:p>
                      <a:pPr>
                        <a:buNone/>
                      </a:pPr>
                      <a:r>
                        <a:rPr lang="en-US" dirty="0"/>
                        <a:t>Mumbai</a:t>
                      </a:r>
                    </a:p>
                  </a:txBody>
                  <a:tcPr anchor="ctr"/>
                </a:tc>
                <a:tc>
                  <a:txBody>
                    <a:bodyPr/>
                    <a:lstStyle/>
                    <a:p>
                      <a:pPr algn="ctr">
                        <a:buNone/>
                      </a:pPr>
                      <a:r>
                        <a:rPr lang="en-US" dirty="0"/>
                        <a:t>7,70,79,148</a:t>
                      </a:r>
                    </a:p>
                  </a:txBody>
                  <a:tcPr anchor="ctr"/>
                </a:tc>
                <a:tc>
                  <a:txBody>
                    <a:bodyPr/>
                    <a:lstStyle/>
                    <a:p>
                      <a:pPr algn="ctr">
                        <a:buNone/>
                      </a:pPr>
                      <a:r>
                        <a:rPr lang="en-US" dirty="0"/>
                        <a:t>14,57,00,128</a:t>
                      </a:r>
                    </a:p>
                  </a:txBody>
                  <a:tcPr anchor="ctr"/>
                </a:tc>
                <a:tc>
                  <a:txBody>
                    <a:bodyPr/>
                    <a:lstStyle/>
                    <a:p>
                      <a:pPr algn="ctr">
                        <a:buNone/>
                      </a:pPr>
                      <a:r>
                        <a:rPr lang="en-US" dirty="0"/>
                        <a:t>12,44,52,853</a:t>
                      </a:r>
                    </a:p>
                  </a:txBody>
                  <a:tcPr anchor="ctr"/>
                </a:tc>
                <a:extLst>
                  <a:ext uri="{0D108BD9-81ED-4DB2-BD59-A6C34878D82A}">
                    <a16:rowId xmlns:a16="http://schemas.microsoft.com/office/drawing/2014/main" val="3531105226"/>
                  </a:ext>
                </a:extLst>
              </a:tr>
              <a:tr h="334876">
                <a:tc>
                  <a:txBody>
                    <a:bodyPr/>
                    <a:lstStyle/>
                    <a:p>
                      <a:pPr>
                        <a:buNone/>
                      </a:pPr>
                      <a:r>
                        <a:rPr lang="en-US"/>
                        <a:t>Delhi North Showroom</a:t>
                      </a:r>
                    </a:p>
                  </a:txBody>
                  <a:tcPr anchor="ctr"/>
                </a:tc>
                <a:tc>
                  <a:txBody>
                    <a:bodyPr/>
                    <a:lstStyle/>
                    <a:p>
                      <a:pPr>
                        <a:buNone/>
                      </a:pPr>
                      <a:r>
                        <a:rPr lang="en-US" dirty="0"/>
                        <a:t>Delhi</a:t>
                      </a:r>
                    </a:p>
                  </a:txBody>
                  <a:tcPr anchor="ctr"/>
                </a:tc>
                <a:tc>
                  <a:txBody>
                    <a:bodyPr/>
                    <a:lstStyle/>
                    <a:p>
                      <a:pPr algn="ctr">
                        <a:buNone/>
                      </a:pPr>
                      <a:r>
                        <a:rPr lang="en-US" dirty="0"/>
                        <a:t>6,86,13,519</a:t>
                      </a:r>
                    </a:p>
                  </a:txBody>
                  <a:tcPr anchor="ctr"/>
                </a:tc>
                <a:tc>
                  <a:txBody>
                    <a:bodyPr/>
                    <a:lstStyle/>
                    <a:p>
                      <a:pPr algn="ctr">
                        <a:buNone/>
                      </a:pPr>
                      <a:r>
                        <a:rPr lang="en-US" dirty="0"/>
                        <a:t>13,23,84,184</a:t>
                      </a:r>
                    </a:p>
                  </a:txBody>
                  <a:tcPr anchor="ctr"/>
                </a:tc>
                <a:tc>
                  <a:txBody>
                    <a:bodyPr/>
                    <a:lstStyle/>
                    <a:p>
                      <a:pPr algn="ctr">
                        <a:buNone/>
                      </a:pPr>
                      <a:r>
                        <a:rPr lang="en-US" dirty="0"/>
                        <a:t>11,12,73,912</a:t>
                      </a:r>
                    </a:p>
                  </a:txBody>
                  <a:tcPr anchor="ctr"/>
                </a:tc>
                <a:extLst>
                  <a:ext uri="{0D108BD9-81ED-4DB2-BD59-A6C34878D82A}">
                    <a16:rowId xmlns:a16="http://schemas.microsoft.com/office/drawing/2014/main" val="945410696"/>
                  </a:ext>
                </a:extLst>
              </a:tr>
              <a:tr h="396662">
                <a:tc>
                  <a:txBody>
                    <a:bodyPr/>
                    <a:lstStyle/>
                    <a:p>
                      <a:pPr>
                        <a:buNone/>
                      </a:pPr>
                      <a:r>
                        <a:rPr lang="en-US"/>
                        <a:t>Bangalore North Showroom</a:t>
                      </a:r>
                    </a:p>
                  </a:txBody>
                  <a:tcPr anchor="ctr"/>
                </a:tc>
                <a:tc>
                  <a:txBody>
                    <a:bodyPr/>
                    <a:lstStyle/>
                    <a:p>
                      <a:pPr>
                        <a:buNone/>
                      </a:pPr>
                      <a:r>
                        <a:rPr lang="en-US" dirty="0"/>
                        <a:t>Bangalore</a:t>
                      </a:r>
                    </a:p>
                  </a:txBody>
                  <a:tcPr anchor="ctr"/>
                </a:tc>
                <a:tc>
                  <a:txBody>
                    <a:bodyPr/>
                    <a:lstStyle/>
                    <a:p>
                      <a:pPr algn="ctr">
                        <a:buNone/>
                      </a:pPr>
                      <a:r>
                        <a:rPr lang="en-US" dirty="0"/>
                        <a:t>6,81,79,417</a:t>
                      </a:r>
                    </a:p>
                  </a:txBody>
                  <a:tcPr anchor="ctr"/>
                </a:tc>
                <a:tc>
                  <a:txBody>
                    <a:bodyPr/>
                    <a:lstStyle/>
                    <a:p>
                      <a:pPr algn="ctr">
                        <a:buNone/>
                      </a:pPr>
                      <a:r>
                        <a:rPr lang="en-US" dirty="0"/>
                        <a:t>8,45,87,063</a:t>
                      </a:r>
                    </a:p>
                  </a:txBody>
                  <a:tcPr anchor="ctr"/>
                </a:tc>
                <a:tc>
                  <a:txBody>
                    <a:bodyPr/>
                    <a:lstStyle/>
                    <a:p>
                      <a:pPr algn="ctr">
                        <a:buNone/>
                      </a:pPr>
                      <a:r>
                        <a:rPr lang="en-US" dirty="0"/>
                        <a:t>7,65,15,407</a:t>
                      </a:r>
                    </a:p>
                  </a:txBody>
                  <a:tcPr anchor="ctr"/>
                </a:tc>
                <a:extLst>
                  <a:ext uri="{0D108BD9-81ED-4DB2-BD59-A6C34878D82A}">
                    <a16:rowId xmlns:a16="http://schemas.microsoft.com/office/drawing/2014/main" val="259583034"/>
                  </a:ext>
                </a:extLst>
              </a:tr>
              <a:tr h="396662">
                <a:tc>
                  <a:txBody>
                    <a:bodyPr/>
                    <a:lstStyle/>
                    <a:p>
                      <a:pPr>
                        <a:buNone/>
                      </a:pPr>
                      <a:r>
                        <a:rPr lang="en-US"/>
                        <a:t>Hyderabad Central Showroom</a:t>
                      </a:r>
                    </a:p>
                  </a:txBody>
                  <a:tcPr anchor="ctr"/>
                </a:tc>
                <a:tc>
                  <a:txBody>
                    <a:bodyPr/>
                    <a:lstStyle/>
                    <a:p>
                      <a:pPr>
                        <a:buNone/>
                      </a:pPr>
                      <a:r>
                        <a:rPr lang="en-US" dirty="0"/>
                        <a:t>Hyderabad</a:t>
                      </a:r>
                    </a:p>
                  </a:txBody>
                  <a:tcPr anchor="ctr"/>
                </a:tc>
                <a:tc>
                  <a:txBody>
                    <a:bodyPr/>
                    <a:lstStyle/>
                    <a:p>
                      <a:pPr algn="ctr">
                        <a:buNone/>
                      </a:pPr>
                      <a:r>
                        <a:rPr lang="en-US" dirty="0"/>
                        <a:t>5,06,37,066</a:t>
                      </a:r>
                    </a:p>
                  </a:txBody>
                  <a:tcPr anchor="ctr"/>
                </a:tc>
                <a:tc>
                  <a:txBody>
                    <a:bodyPr/>
                    <a:lstStyle/>
                    <a:p>
                      <a:pPr algn="ctr">
                        <a:buNone/>
                      </a:pPr>
                      <a:r>
                        <a:rPr lang="en-US" dirty="0"/>
                        <a:t>7,99,67,959</a:t>
                      </a:r>
                    </a:p>
                  </a:txBody>
                  <a:tcPr anchor="ctr"/>
                </a:tc>
                <a:tc>
                  <a:txBody>
                    <a:bodyPr/>
                    <a:lstStyle/>
                    <a:p>
                      <a:pPr algn="ctr">
                        <a:buNone/>
                      </a:pPr>
                      <a:r>
                        <a:rPr lang="en-US" dirty="0"/>
                        <a:t>8,07,88,702</a:t>
                      </a:r>
                    </a:p>
                  </a:txBody>
                  <a:tcPr anchor="ctr"/>
                </a:tc>
                <a:extLst>
                  <a:ext uri="{0D108BD9-81ED-4DB2-BD59-A6C34878D82A}">
                    <a16:rowId xmlns:a16="http://schemas.microsoft.com/office/drawing/2014/main" val="4259672"/>
                  </a:ext>
                </a:extLst>
              </a:tr>
              <a:tr h="355889">
                <a:tc>
                  <a:txBody>
                    <a:bodyPr/>
                    <a:lstStyle/>
                    <a:p>
                      <a:pPr>
                        <a:buNone/>
                      </a:pPr>
                      <a:r>
                        <a:rPr lang="en-US"/>
                        <a:t>Pune Central Showroom</a:t>
                      </a:r>
                    </a:p>
                  </a:txBody>
                  <a:tcPr anchor="ctr"/>
                </a:tc>
                <a:tc>
                  <a:txBody>
                    <a:bodyPr/>
                    <a:lstStyle/>
                    <a:p>
                      <a:pPr>
                        <a:buNone/>
                      </a:pPr>
                      <a:r>
                        <a:rPr lang="en-US" dirty="0"/>
                        <a:t>Pune</a:t>
                      </a:r>
                    </a:p>
                  </a:txBody>
                  <a:tcPr anchor="ctr"/>
                </a:tc>
                <a:tc>
                  <a:txBody>
                    <a:bodyPr/>
                    <a:lstStyle/>
                    <a:p>
                      <a:pPr algn="ctr">
                        <a:buNone/>
                      </a:pPr>
                      <a:r>
                        <a:rPr lang="en-US" dirty="0"/>
                        <a:t>3,87,96,905</a:t>
                      </a:r>
                    </a:p>
                  </a:txBody>
                  <a:tcPr anchor="ctr"/>
                </a:tc>
                <a:tc>
                  <a:txBody>
                    <a:bodyPr/>
                    <a:lstStyle/>
                    <a:p>
                      <a:pPr algn="ctr">
                        <a:buNone/>
                      </a:pPr>
                      <a:r>
                        <a:rPr lang="en-US" dirty="0"/>
                        <a:t>7,67,73,185</a:t>
                      </a:r>
                    </a:p>
                  </a:txBody>
                  <a:tcPr anchor="ctr"/>
                </a:tc>
                <a:tc>
                  <a:txBody>
                    <a:bodyPr/>
                    <a:lstStyle/>
                    <a:p>
                      <a:pPr algn="ctr">
                        <a:buNone/>
                      </a:pPr>
                      <a:r>
                        <a:rPr lang="en-US" dirty="0"/>
                        <a:t>5,52,51,941</a:t>
                      </a:r>
                    </a:p>
                  </a:txBody>
                  <a:tcPr anchor="ctr"/>
                </a:tc>
                <a:extLst>
                  <a:ext uri="{0D108BD9-81ED-4DB2-BD59-A6C34878D82A}">
                    <a16:rowId xmlns:a16="http://schemas.microsoft.com/office/drawing/2014/main" val="2483910396"/>
                  </a:ext>
                </a:extLst>
              </a:tr>
              <a:tr h="355889">
                <a:tc>
                  <a:txBody>
                    <a:bodyPr/>
                    <a:lstStyle/>
                    <a:p>
                      <a:pPr>
                        <a:buNone/>
                      </a:pPr>
                      <a:r>
                        <a:rPr lang="en-US"/>
                        <a:t>Chennai East Showroom</a:t>
                      </a:r>
                    </a:p>
                  </a:txBody>
                  <a:tcPr anchor="ctr"/>
                </a:tc>
                <a:tc>
                  <a:txBody>
                    <a:bodyPr/>
                    <a:lstStyle/>
                    <a:p>
                      <a:pPr>
                        <a:buNone/>
                      </a:pPr>
                      <a:r>
                        <a:rPr lang="en-US" dirty="0"/>
                        <a:t>Chennai</a:t>
                      </a:r>
                    </a:p>
                  </a:txBody>
                  <a:tcPr anchor="ctr"/>
                </a:tc>
                <a:tc>
                  <a:txBody>
                    <a:bodyPr/>
                    <a:lstStyle/>
                    <a:p>
                      <a:pPr algn="ctr">
                        <a:buNone/>
                      </a:pPr>
                      <a:r>
                        <a:rPr lang="en-US" dirty="0"/>
                        <a:t>2,23,71,435</a:t>
                      </a:r>
                    </a:p>
                  </a:txBody>
                  <a:tcPr anchor="ctr"/>
                </a:tc>
                <a:tc>
                  <a:txBody>
                    <a:bodyPr/>
                    <a:lstStyle/>
                    <a:p>
                      <a:pPr algn="ctr">
                        <a:buNone/>
                      </a:pPr>
                      <a:r>
                        <a:rPr lang="en-US" dirty="0"/>
                        <a:t>4,02,85,534</a:t>
                      </a:r>
                    </a:p>
                  </a:txBody>
                  <a:tcPr anchor="ctr"/>
                </a:tc>
                <a:tc>
                  <a:txBody>
                    <a:bodyPr/>
                    <a:lstStyle/>
                    <a:p>
                      <a:pPr algn="ctr">
                        <a:buNone/>
                      </a:pPr>
                      <a:r>
                        <a:rPr lang="en-US" dirty="0"/>
                        <a:t>4,22,89,407</a:t>
                      </a:r>
                    </a:p>
                  </a:txBody>
                  <a:tcPr anchor="ctr"/>
                </a:tc>
                <a:extLst>
                  <a:ext uri="{0D108BD9-81ED-4DB2-BD59-A6C34878D82A}">
                    <a16:rowId xmlns:a16="http://schemas.microsoft.com/office/drawing/2014/main" val="884370744"/>
                  </a:ext>
                </a:extLst>
              </a:tr>
              <a:tr h="396662">
                <a:tc>
                  <a:txBody>
                    <a:bodyPr/>
                    <a:lstStyle/>
                    <a:p>
                      <a:pPr>
                        <a:buNone/>
                      </a:pPr>
                      <a:r>
                        <a:rPr lang="en-US"/>
                        <a:t>Ahmedabad East Showroom</a:t>
                      </a:r>
                    </a:p>
                  </a:txBody>
                  <a:tcPr anchor="ctr"/>
                </a:tc>
                <a:tc>
                  <a:txBody>
                    <a:bodyPr/>
                    <a:lstStyle/>
                    <a:p>
                      <a:pPr>
                        <a:buNone/>
                      </a:pPr>
                      <a:r>
                        <a:rPr lang="en-US" dirty="0"/>
                        <a:t>Ahmedabad</a:t>
                      </a:r>
                    </a:p>
                  </a:txBody>
                  <a:tcPr anchor="ctr"/>
                </a:tc>
                <a:tc>
                  <a:txBody>
                    <a:bodyPr/>
                    <a:lstStyle/>
                    <a:p>
                      <a:pPr algn="ctr">
                        <a:buNone/>
                      </a:pPr>
                      <a:r>
                        <a:rPr lang="en-US" dirty="0"/>
                        <a:t>1,89,55,555</a:t>
                      </a:r>
                    </a:p>
                  </a:txBody>
                  <a:tcPr anchor="ctr"/>
                </a:tc>
                <a:tc>
                  <a:txBody>
                    <a:bodyPr/>
                    <a:lstStyle/>
                    <a:p>
                      <a:pPr algn="ctr">
                        <a:buNone/>
                      </a:pPr>
                      <a:r>
                        <a:rPr lang="en-US" dirty="0"/>
                        <a:t>2,83,05,775</a:t>
                      </a:r>
                    </a:p>
                  </a:txBody>
                  <a:tcPr anchor="ctr"/>
                </a:tc>
                <a:tc>
                  <a:txBody>
                    <a:bodyPr/>
                    <a:lstStyle/>
                    <a:p>
                      <a:pPr algn="ctr">
                        <a:buNone/>
                      </a:pPr>
                      <a:r>
                        <a:rPr lang="en-US" dirty="0"/>
                        <a:t>3,21,46,965</a:t>
                      </a:r>
                    </a:p>
                  </a:txBody>
                  <a:tcPr anchor="ctr"/>
                </a:tc>
                <a:extLst>
                  <a:ext uri="{0D108BD9-81ED-4DB2-BD59-A6C34878D82A}">
                    <a16:rowId xmlns:a16="http://schemas.microsoft.com/office/drawing/2014/main" val="3913035843"/>
                  </a:ext>
                </a:extLst>
              </a:tr>
              <a:tr h="355889">
                <a:tc>
                  <a:txBody>
                    <a:bodyPr/>
                    <a:lstStyle/>
                    <a:p>
                      <a:pPr>
                        <a:buNone/>
                      </a:pPr>
                      <a:r>
                        <a:rPr lang="en-US" dirty="0"/>
                        <a:t>Kolkata East Showroom</a:t>
                      </a:r>
                    </a:p>
                  </a:txBody>
                  <a:tcPr anchor="ctr"/>
                </a:tc>
                <a:tc>
                  <a:txBody>
                    <a:bodyPr/>
                    <a:lstStyle/>
                    <a:p>
                      <a:pPr>
                        <a:buNone/>
                      </a:pPr>
                      <a:r>
                        <a:rPr lang="en-US" dirty="0"/>
                        <a:t>Kolkata</a:t>
                      </a:r>
                    </a:p>
                  </a:txBody>
                  <a:tcPr anchor="ctr"/>
                </a:tc>
                <a:tc>
                  <a:txBody>
                    <a:bodyPr/>
                    <a:lstStyle/>
                    <a:p>
                      <a:pPr algn="ctr">
                        <a:buNone/>
                      </a:pPr>
                      <a:r>
                        <a:rPr lang="en-US" dirty="0"/>
                        <a:t>1,82,69,113</a:t>
                      </a:r>
                    </a:p>
                  </a:txBody>
                  <a:tcPr anchor="ctr"/>
                </a:tc>
                <a:tc>
                  <a:txBody>
                    <a:bodyPr/>
                    <a:lstStyle/>
                    <a:p>
                      <a:pPr algn="ctr">
                        <a:buNone/>
                      </a:pPr>
                      <a:r>
                        <a:rPr lang="en-US" dirty="0"/>
                        <a:t>3,23,78,166</a:t>
                      </a:r>
                    </a:p>
                  </a:txBody>
                  <a:tcPr anchor="ctr"/>
                </a:tc>
                <a:tc>
                  <a:txBody>
                    <a:bodyPr/>
                    <a:lstStyle/>
                    <a:p>
                      <a:pPr algn="ctr">
                        <a:buNone/>
                      </a:pPr>
                      <a:r>
                        <a:rPr lang="en-US" dirty="0"/>
                        <a:t>2,59,50,732</a:t>
                      </a:r>
                    </a:p>
                  </a:txBody>
                  <a:tcPr anchor="ctr"/>
                </a:tc>
                <a:extLst>
                  <a:ext uri="{0D108BD9-81ED-4DB2-BD59-A6C34878D82A}">
                    <a16:rowId xmlns:a16="http://schemas.microsoft.com/office/drawing/2014/main" val="3596936243"/>
                  </a:ext>
                </a:extLst>
              </a:tr>
            </a:tbl>
          </a:graphicData>
        </a:graphic>
      </p:graphicFrame>
      <p:sp>
        <p:nvSpPr>
          <p:cNvPr id="16" name="Content Placeholder 2">
            <a:extLst>
              <a:ext uri="{FF2B5EF4-FFF2-40B4-BE49-F238E27FC236}">
                <a16:creationId xmlns:a16="http://schemas.microsoft.com/office/drawing/2014/main" id="{E7C3B0EB-B2D7-5078-0DBE-EBC98695EF30}"/>
              </a:ext>
            </a:extLst>
          </p:cNvPr>
          <p:cNvSpPr>
            <a:spLocks noGrp="1"/>
          </p:cNvSpPr>
          <p:nvPr>
            <p:ph idx="1"/>
          </p:nvPr>
        </p:nvSpPr>
        <p:spPr>
          <a:xfrm>
            <a:off x="178991" y="4093321"/>
            <a:ext cx="11834018" cy="2675714"/>
          </a:xfrm>
        </p:spPr>
        <p:txBody>
          <a:bodyPr>
            <a:noAutofit/>
          </a:bodyPr>
          <a:lstStyle/>
          <a:p>
            <a:pPr>
              <a:lnSpc>
                <a:spcPct val="150000"/>
              </a:lnSpc>
            </a:pPr>
            <a:r>
              <a:rPr lang="en-US" sz="1600" dirty="0">
                <a:latin typeface="Comic Sans MS" panose="030F0702030302020204" pitchFamily="66" charset="0"/>
              </a:rPr>
              <a:t>Assumption 1: Cost price is stored in cars table representing the dealership procurement/ acquisition cost of vehicle.</a:t>
            </a:r>
          </a:p>
          <a:p>
            <a:pPr>
              <a:lnSpc>
                <a:spcPct val="150000"/>
              </a:lnSpc>
            </a:pPr>
            <a:r>
              <a:rPr lang="en-US" sz="1600" dirty="0">
                <a:latin typeface="Comic Sans MS" panose="030F0702030302020204" pitchFamily="66" charset="0"/>
              </a:rPr>
              <a:t>Assumption 2: Sale price is stored in the sales table represents the final transaction amount after discount and negotiations.</a:t>
            </a:r>
          </a:p>
          <a:p>
            <a:pPr>
              <a:lnSpc>
                <a:spcPct val="150000"/>
              </a:lnSpc>
            </a:pPr>
            <a:r>
              <a:rPr lang="en-US" sz="1600" dirty="0">
                <a:latin typeface="Comic Sans MS" panose="030F0702030302020204" pitchFamily="66" charset="0"/>
              </a:rPr>
              <a:t>Assumption 3: Gross profit is calculated before accounting for branch operating expenses, salaries, rent, and other overhead costs.</a:t>
            </a:r>
          </a:p>
          <a:p>
            <a:pPr>
              <a:lnSpc>
                <a:spcPct val="150000"/>
              </a:lnSpc>
            </a:pPr>
            <a:r>
              <a:rPr lang="en-US" sz="1600" dirty="0">
                <a:latin typeface="Comic Sans MS" panose="030F0702030302020204" pitchFamily="66" charset="0"/>
              </a:rPr>
              <a:t>Assumption 4: The analysis focuses on purely product level profitability from vehicle sales.</a:t>
            </a:r>
          </a:p>
          <a:p>
            <a:pPr marL="0" indent="0">
              <a:buNone/>
            </a:pPr>
            <a:r>
              <a:rPr lang="en-US" sz="1500" dirty="0">
                <a:latin typeface="Comic Sans MS" panose="030F0702030302020204" pitchFamily="66" charset="0"/>
              </a:rPr>
              <a:t> </a:t>
            </a:r>
          </a:p>
        </p:txBody>
      </p:sp>
    </p:spTree>
    <p:extLst>
      <p:ext uri="{BB962C8B-B14F-4D97-AF65-F5344CB8AC3E}">
        <p14:creationId xmlns:p14="http://schemas.microsoft.com/office/powerpoint/2010/main" val="3026540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DB842-7ADD-2B38-28D4-55EACBB7C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6A5B7-E51C-101C-F0AF-5CABBA04A8EB}"/>
              </a:ext>
            </a:extLst>
          </p:cNvPr>
          <p:cNvSpPr>
            <a:spLocks noGrp="1"/>
          </p:cNvSpPr>
          <p:nvPr>
            <p:ph type="title"/>
          </p:nvPr>
        </p:nvSpPr>
        <p:spPr>
          <a:xfrm>
            <a:off x="838200" y="88965"/>
            <a:ext cx="10515600" cy="432674"/>
          </a:xfrm>
        </p:spPr>
        <p:txBody>
          <a:bodyPr>
            <a:normAutofit/>
          </a:bodyPr>
          <a:lstStyle/>
          <a:p>
            <a:r>
              <a:rPr lang="en-US" sz="2400" dirty="0">
                <a:latin typeface="Comic Sans MS" panose="030F0702030302020204" pitchFamily="66" charset="0"/>
              </a:rPr>
              <a:t>Gross Margin % by Showroom for year 2022 and 2023 and 2024</a:t>
            </a:r>
          </a:p>
        </p:txBody>
      </p:sp>
      <p:graphicFrame>
        <p:nvGraphicFramePr>
          <p:cNvPr id="15" name="Table 14">
            <a:extLst>
              <a:ext uri="{FF2B5EF4-FFF2-40B4-BE49-F238E27FC236}">
                <a16:creationId xmlns:a16="http://schemas.microsoft.com/office/drawing/2014/main" id="{79014D17-0971-8F08-3F53-30DD9272AE0E}"/>
              </a:ext>
            </a:extLst>
          </p:cNvPr>
          <p:cNvGraphicFramePr>
            <a:graphicFrameLocks noGrp="1"/>
          </p:cNvGraphicFramePr>
          <p:nvPr>
            <p:extLst>
              <p:ext uri="{D42A27DB-BD31-4B8C-83A1-F6EECF244321}">
                <p14:modId xmlns:p14="http://schemas.microsoft.com/office/powerpoint/2010/main" val="1064727118"/>
              </p:ext>
            </p:extLst>
          </p:nvPr>
        </p:nvGraphicFramePr>
        <p:xfrm>
          <a:off x="295473" y="660053"/>
          <a:ext cx="11601053" cy="4197699"/>
        </p:xfrm>
        <a:graphic>
          <a:graphicData uri="http://schemas.openxmlformats.org/drawingml/2006/table">
            <a:tbl>
              <a:tblPr firstRow="1" bandRow="1">
                <a:tableStyleId>{616DA210-FB5B-4158-B5E0-FEB733F419BA}</a:tableStyleId>
              </a:tblPr>
              <a:tblGrid>
                <a:gridCol w="3012621">
                  <a:extLst>
                    <a:ext uri="{9D8B030D-6E8A-4147-A177-3AD203B41FA5}">
                      <a16:colId xmlns:a16="http://schemas.microsoft.com/office/drawing/2014/main" val="2483029393"/>
                    </a:ext>
                  </a:extLst>
                </a:gridCol>
                <a:gridCol w="1356775">
                  <a:extLst>
                    <a:ext uri="{9D8B030D-6E8A-4147-A177-3AD203B41FA5}">
                      <a16:colId xmlns:a16="http://schemas.microsoft.com/office/drawing/2014/main" val="1365454361"/>
                    </a:ext>
                  </a:extLst>
                </a:gridCol>
                <a:gridCol w="2374217">
                  <a:extLst>
                    <a:ext uri="{9D8B030D-6E8A-4147-A177-3AD203B41FA5}">
                      <a16:colId xmlns:a16="http://schemas.microsoft.com/office/drawing/2014/main" val="831901661"/>
                    </a:ext>
                  </a:extLst>
                </a:gridCol>
                <a:gridCol w="2423079">
                  <a:extLst>
                    <a:ext uri="{9D8B030D-6E8A-4147-A177-3AD203B41FA5}">
                      <a16:colId xmlns:a16="http://schemas.microsoft.com/office/drawing/2014/main" val="3328076648"/>
                    </a:ext>
                  </a:extLst>
                </a:gridCol>
                <a:gridCol w="2434361">
                  <a:extLst>
                    <a:ext uri="{9D8B030D-6E8A-4147-A177-3AD203B41FA5}">
                      <a16:colId xmlns:a16="http://schemas.microsoft.com/office/drawing/2014/main" val="1325063131"/>
                    </a:ext>
                  </a:extLst>
                </a:gridCol>
              </a:tblGrid>
              <a:tr h="416361">
                <a:tc>
                  <a:txBody>
                    <a:bodyPr/>
                    <a:lstStyle/>
                    <a:p>
                      <a:pPr algn="ctr"/>
                      <a:r>
                        <a:rPr lang="en-US" dirty="0"/>
                        <a:t>Branch Name</a:t>
                      </a:r>
                    </a:p>
                  </a:txBody>
                  <a:tcPr/>
                </a:tc>
                <a:tc>
                  <a:txBody>
                    <a:bodyPr/>
                    <a:lstStyle/>
                    <a:p>
                      <a:pPr algn="ctr"/>
                      <a:r>
                        <a:rPr lang="en-US" dirty="0"/>
                        <a:t>City</a:t>
                      </a:r>
                    </a:p>
                  </a:txBody>
                  <a:tcPr/>
                </a:tc>
                <a:tc>
                  <a:txBody>
                    <a:bodyPr/>
                    <a:lstStyle/>
                    <a:p>
                      <a:pPr algn="ctr"/>
                      <a:r>
                        <a:rPr lang="en-US" dirty="0"/>
                        <a:t>Gross Margin 2022</a:t>
                      </a:r>
                    </a:p>
                  </a:txBody>
                  <a:tcPr/>
                </a:tc>
                <a:tc>
                  <a:txBody>
                    <a:bodyPr/>
                    <a:lstStyle/>
                    <a:p>
                      <a:pPr algn="ctr"/>
                      <a:r>
                        <a:rPr lang="en-US" dirty="0"/>
                        <a:t>Gross Margin 2023</a:t>
                      </a:r>
                    </a:p>
                  </a:txBody>
                  <a:tcPr/>
                </a:tc>
                <a:tc>
                  <a:txBody>
                    <a:bodyPr/>
                    <a:lstStyle/>
                    <a:p>
                      <a:pPr algn="ctr"/>
                      <a:r>
                        <a:rPr lang="en-US" dirty="0"/>
                        <a:t>Gross Margin 2024</a:t>
                      </a:r>
                    </a:p>
                  </a:txBody>
                  <a:tcPr/>
                </a:tc>
                <a:extLst>
                  <a:ext uri="{0D108BD9-81ED-4DB2-BD59-A6C34878D82A}">
                    <a16:rowId xmlns:a16="http://schemas.microsoft.com/office/drawing/2014/main" val="2969879547"/>
                  </a:ext>
                </a:extLst>
              </a:tr>
              <a:tr h="437458">
                <a:tc>
                  <a:txBody>
                    <a:bodyPr/>
                    <a:lstStyle/>
                    <a:p>
                      <a:pPr>
                        <a:buNone/>
                      </a:pPr>
                      <a:r>
                        <a:rPr lang="en-US" dirty="0"/>
                        <a:t>Mumbai North Showroom</a:t>
                      </a:r>
                    </a:p>
                  </a:txBody>
                  <a:tcPr anchor="ctr"/>
                </a:tc>
                <a:tc>
                  <a:txBody>
                    <a:bodyPr/>
                    <a:lstStyle/>
                    <a:p>
                      <a:pPr>
                        <a:buNone/>
                      </a:pPr>
                      <a:r>
                        <a:rPr lang="en-US" dirty="0"/>
                        <a:t>Mumbai</a:t>
                      </a:r>
                    </a:p>
                  </a:txBody>
                  <a:tcPr anchor="ctr"/>
                </a:tc>
                <a:tc>
                  <a:txBody>
                    <a:bodyPr/>
                    <a:lstStyle/>
                    <a:p>
                      <a:pPr algn="ctr">
                        <a:buNone/>
                      </a:pPr>
                      <a:r>
                        <a:rPr lang="en-US" dirty="0"/>
                        <a:t>18.92%</a:t>
                      </a:r>
                    </a:p>
                  </a:txBody>
                  <a:tcPr anchor="ctr"/>
                </a:tc>
                <a:tc>
                  <a:txBody>
                    <a:bodyPr/>
                    <a:lstStyle/>
                    <a:p>
                      <a:pPr algn="ctr">
                        <a:buNone/>
                      </a:pPr>
                      <a:r>
                        <a:rPr lang="en-US" dirty="0"/>
                        <a:t>19.18%</a:t>
                      </a:r>
                    </a:p>
                  </a:txBody>
                  <a:tcPr anchor="ctr"/>
                </a:tc>
                <a:tc>
                  <a:txBody>
                    <a:bodyPr/>
                    <a:lstStyle/>
                    <a:p>
                      <a:pPr algn="ctr">
                        <a:buNone/>
                      </a:pPr>
                      <a:r>
                        <a:rPr lang="en-US" dirty="0"/>
                        <a:t>19.67%</a:t>
                      </a:r>
                    </a:p>
                  </a:txBody>
                  <a:tcPr anchor="ctr"/>
                </a:tc>
                <a:extLst>
                  <a:ext uri="{0D108BD9-81ED-4DB2-BD59-A6C34878D82A}">
                    <a16:rowId xmlns:a16="http://schemas.microsoft.com/office/drawing/2014/main" val="3531105226"/>
                  </a:ext>
                </a:extLst>
              </a:tr>
              <a:tr h="437458">
                <a:tc>
                  <a:txBody>
                    <a:bodyPr/>
                    <a:lstStyle/>
                    <a:p>
                      <a:pPr>
                        <a:buNone/>
                      </a:pPr>
                      <a:r>
                        <a:rPr lang="en-US"/>
                        <a:t>Delhi North Showroom</a:t>
                      </a:r>
                    </a:p>
                  </a:txBody>
                  <a:tcPr anchor="ctr"/>
                </a:tc>
                <a:tc>
                  <a:txBody>
                    <a:bodyPr/>
                    <a:lstStyle/>
                    <a:p>
                      <a:pPr>
                        <a:buNone/>
                      </a:pPr>
                      <a:r>
                        <a:rPr lang="en-US" dirty="0"/>
                        <a:t>Delhi</a:t>
                      </a:r>
                    </a:p>
                  </a:txBody>
                  <a:tcPr anchor="ctr"/>
                </a:tc>
                <a:tc>
                  <a:txBody>
                    <a:bodyPr/>
                    <a:lstStyle/>
                    <a:p>
                      <a:pPr algn="ctr">
                        <a:buNone/>
                      </a:pPr>
                      <a:r>
                        <a:rPr lang="en-US" dirty="0"/>
                        <a:t>18.18%</a:t>
                      </a:r>
                    </a:p>
                  </a:txBody>
                  <a:tcPr anchor="ctr"/>
                </a:tc>
                <a:tc>
                  <a:txBody>
                    <a:bodyPr/>
                    <a:lstStyle/>
                    <a:p>
                      <a:pPr algn="ctr">
                        <a:buNone/>
                      </a:pPr>
                      <a:r>
                        <a:rPr lang="en-US" dirty="0"/>
                        <a:t>19.7%</a:t>
                      </a:r>
                    </a:p>
                  </a:txBody>
                  <a:tcPr anchor="ctr"/>
                </a:tc>
                <a:tc>
                  <a:txBody>
                    <a:bodyPr/>
                    <a:lstStyle/>
                    <a:p>
                      <a:pPr algn="ctr">
                        <a:buNone/>
                      </a:pPr>
                      <a:r>
                        <a:rPr lang="en-US" dirty="0"/>
                        <a:t>20%</a:t>
                      </a:r>
                    </a:p>
                  </a:txBody>
                  <a:tcPr anchor="ctr"/>
                </a:tc>
                <a:extLst>
                  <a:ext uri="{0D108BD9-81ED-4DB2-BD59-A6C34878D82A}">
                    <a16:rowId xmlns:a16="http://schemas.microsoft.com/office/drawing/2014/main" val="945410696"/>
                  </a:ext>
                </a:extLst>
              </a:tr>
              <a:tr h="474419">
                <a:tc>
                  <a:txBody>
                    <a:bodyPr/>
                    <a:lstStyle/>
                    <a:p>
                      <a:pPr>
                        <a:buNone/>
                      </a:pPr>
                      <a:r>
                        <a:rPr lang="en-US"/>
                        <a:t>Bangalore North Showroom</a:t>
                      </a:r>
                    </a:p>
                  </a:txBody>
                  <a:tcPr anchor="ctr"/>
                </a:tc>
                <a:tc>
                  <a:txBody>
                    <a:bodyPr/>
                    <a:lstStyle/>
                    <a:p>
                      <a:pPr>
                        <a:buNone/>
                      </a:pPr>
                      <a:r>
                        <a:rPr lang="en-US" dirty="0"/>
                        <a:t>Bangalore</a:t>
                      </a:r>
                    </a:p>
                  </a:txBody>
                  <a:tcPr anchor="ctr"/>
                </a:tc>
                <a:tc>
                  <a:txBody>
                    <a:bodyPr/>
                    <a:lstStyle/>
                    <a:p>
                      <a:pPr algn="ctr">
                        <a:buNone/>
                      </a:pPr>
                      <a:r>
                        <a:rPr lang="en-US" dirty="0"/>
                        <a:t>16.67%</a:t>
                      </a:r>
                    </a:p>
                  </a:txBody>
                  <a:tcPr anchor="ctr"/>
                </a:tc>
                <a:tc>
                  <a:txBody>
                    <a:bodyPr/>
                    <a:lstStyle/>
                    <a:p>
                      <a:pPr algn="ctr">
                        <a:buNone/>
                      </a:pPr>
                      <a:r>
                        <a:rPr lang="en-US" dirty="0"/>
                        <a:t>18.18%</a:t>
                      </a:r>
                    </a:p>
                  </a:txBody>
                  <a:tcPr anchor="ctr"/>
                </a:tc>
                <a:tc>
                  <a:txBody>
                    <a:bodyPr/>
                    <a:lstStyle/>
                    <a:p>
                      <a:pPr algn="ctr">
                        <a:buNone/>
                      </a:pPr>
                      <a:r>
                        <a:rPr lang="en-US" dirty="0"/>
                        <a:t>17.5%</a:t>
                      </a:r>
                    </a:p>
                  </a:txBody>
                  <a:tcPr anchor="ctr"/>
                </a:tc>
                <a:extLst>
                  <a:ext uri="{0D108BD9-81ED-4DB2-BD59-A6C34878D82A}">
                    <a16:rowId xmlns:a16="http://schemas.microsoft.com/office/drawing/2014/main" val="259583034"/>
                  </a:ext>
                </a:extLst>
              </a:tr>
              <a:tr h="474419">
                <a:tc>
                  <a:txBody>
                    <a:bodyPr/>
                    <a:lstStyle/>
                    <a:p>
                      <a:pPr>
                        <a:buNone/>
                      </a:pPr>
                      <a:r>
                        <a:rPr lang="en-US"/>
                        <a:t>Hyderabad Central Showroom</a:t>
                      </a:r>
                    </a:p>
                  </a:txBody>
                  <a:tcPr anchor="ctr"/>
                </a:tc>
                <a:tc>
                  <a:txBody>
                    <a:bodyPr/>
                    <a:lstStyle/>
                    <a:p>
                      <a:pPr>
                        <a:buNone/>
                      </a:pPr>
                      <a:r>
                        <a:rPr lang="en-US" dirty="0"/>
                        <a:t>Hyderabad</a:t>
                      </a:r>
                    </a:p>
                  </a:txBody>
                  <a:tcPr anchor="ctr"/>
                </a:tc>
                <a:tc>
                  <a:txBody>
                    <a:bodyPr/>
                    <a:lstStyle/>
                    <a:p>
                      <a:pPr algn="ctr">
                        <a:buNone/>
                      </a:pPr>
                      <a:r>
                        <a:rPr lang="en-US" dirty="0"/>
                        <a:t>18.52%</a:t>
                      </a:r>
                    </a:p>
                  </a:txBody>
                  <a:tcPr anchor="ctr"/>
                </a:tc>
                <a:tc>
                  <a:txBody>
                    <a:bodyPr/>
                    <a:lstStyle/>
                    <a:p>
                      <a:pPr algn="ctr">
                        <a:buNone/>
                      </a:pPr>
                      <a:r>
                        <a:rPr lang="en-US" dirty="0"/>
                        <a:t>16.67%</a:t>
                      </a:r>
                    </a:p>
                  </a:txBody>
                  <a:tcPr anchor="ctr"/>
                </a:tc>
                <a:tc>
                  <a:txBody>
                    <a:bodyPr/>
                    <a:lstStyle/>
                    <a:p>
                      <a:pPr algn="ctr">
                        <a:buNone/>
                      </a:pPr>
                      <a:r>
                        <a:rPr lang="en-US" dirty="0"/>
                        <a:t>18.6%</a:t>
                      </a:r>
                    </a:p>
                  </a:txBody>
                  <a:tcPr anchor="ctr"/>
                </a:tc>
                <a:extLst>
                  <a:ext uri="{0D108BD9-81ED-4DB2-BD59-A6C34878D82A}">
                    <a16:rowId xmlns:a16="http://schemas.microsoft.com/office/drawing/2014/main" val="4259672"/>
                  </a:ext>
                </a:extLst>
              </a:tr>
              <a:tr h="437458">
                <a:tc>
                  <a:txBody>
                    <a:bodyPr/>
                    <a:lstStyle/>
                    <a:p>
                      <a:pPr>
                        <a:buNone/>
                      </a:pPr>
                      <a:r>
                        <a:rPr lang="en-US"/>
                        <a:t>Pune Central Showroom</a:t>
                      </a:r>
                    </a:p>
                  </a:txBody>
                  <a:tcPr anchor="ctr"/>
                </a:tc>
                <a:tc>
                  <a:txBody>
                    <a:bodyPr/>
                    <a:lstStyle/>
                    <a:p>
                      <a:pPr>
                        <a:buNone/>
                      </a:pPr>
                      <a:r>
                        <a:rPr lang="en-US" dirty="0"/>
                        <a:t>Pune</a:t>
                      </a:r>
                    </a:p>
                  </a:txBody>
                  <a:tcPr anchor="ctr"/>
                </a:tc>
                <a:tc>
                  <a:txBody>
                    <a:bodyPr/>
                    <a:lstStyle/>
                    <a:p>
                      <a:pPr algn="ctr">
                        <a:buNone/>
                      </a:pPr>
                      <a:r>
                        <a:rPr lang="en-US" dirty="0"/>
                        <a:t>15%</a:t>
                      </a:r>
                    </a:p>
                  </a:txBody>
                  <a:tcPr anchor="ctr"/>
                </a:tc>
                <a:tc>
                  <a:txBody>
                    <a:bodyPr/>
                    <a:lstStyle/>
                    <a:p>
                      <a:pPr algn="ctr">
                        <a:buNone/>
                      </a:pPr>
                      <a:r>
                        <a:rPr lang="en-US" dirty="0"/>
                        <a:t>17.07%</a:t>
                      </a:r>
                    </a:p>
                  </a:txBody>
                  <a:tcPr anchor="ctr"/>
                </a:tc>
                <a:tc>
                  <a:txBody>
                    <a:bodyPr/>
                    <a:lstStyle/>
                    <a:p>
                      <a:pPr algn="ctr">
                        <a:buNone/>
                      </a:pPr>
                      <a:r>
                        <a:rPr lang="en-US" dirty="0"/>
                        <a:t>17.24%</a:t>
                      </a:r>
                    </a:p>
                  </a:txBody>
                  <a:tcPr anchor="ctr"/>
                </a:tc>
                <a:extLst>
                  <a:ext uri="{0D108BD9-81ED-4DB2-BD59-A6C34878D82A}">
                    <a16:rowId xmlns:a16="http://schemas.microsoft.com/office/drawing/2014/main" val="2483910396"/>
                  </a:ext>
                </a:extLst>
              </a:tr>
              <a:tr h="437458">
                <a:tc>
                  <a:txBody>
                    <a:bodyPr/>
                    <a:lstStyle/>
                    <a:p>
                      <a:pPr>
                        <a:buNone/>
                      </a:pPr>
                      <a:r>
                        <a:rPr lang="en-US"/>
                        <a:t>Chennai East Showroom</a:t>
                      </a:r>
                    </a:p>
                  </a:txBody>
                  <a:tcPr anchor="ctr"/>
                </a:tc>
                <a:tc>
                  <a:txBody>
                    <a:bodyPr/>
                    <a:lstStyle/>
                    <a:p>
                      <a:pPr>
                        <a:buNone/>
                      </a:pPr>
                      <a:r>
                        <a:rPr lang="en-US" dirty="0"/>
                        <a:t>Chennai</a:t>
                      </a:r>
                    </a:p>
                  </a:txBody>
                  <a:tcPr anchor="ctr"/>
                </a:tc>
                <a:tc>
                  <a:txBody>
                    <a:bodyPr/>
                    <a:lstStyle/>
                    <a:p>
                      <a:pPr algn="ctr">
                        <a:buNone/>
                      </a:pPr>
                      <a:r>
                        <a:rPr lang="en-US" dirty="0"/>
                        <a:t>14.29%</a:t>
                      </a:r>
                    </a:p>
                  </a:txBody>
                  <a:tcPr anchor="ctr"/>
                </a:tc>
                <a:tc>
                  <a:txBody>
                    <a:bodyPr/>
                    <a:lstStyle/>
                    <a:p>
                      <a:pPr algn="ctr">
                        <a:buNone/>
                      </a:pPr>
                      <a:r>
                        <a:rPr lang="en-US" dirty="0"/>
                        <a:t>16.67%</a:t>
                      </a:r>
                    </a:p>
                  </a:txBody>
                  <a:tcPr anchor="ctr"/>
                </a:tc>
                <a:tc>
                  <a:txBody>
                    <a:bodyPr/>
                    <a:lstStyle/>
                    <a:p>
                      <a:pPr algn="ctr">
                        <a:buNone/>
                      </a:pPr>
                      <a:r>
                        <a:rPr lang="en-US" dirty="0"/>
                        <a:t>14.81%</a:t>
                      </a:r>
                    </a:p>
                  </a:txBody>
                  <a:tcPr anchor="ctr"/>
                </a:tc>
                <a:extLst>
                  <a:ext uri="{0D108BD9-81ED-4DB2-BD59-A6C34878D82A}">
                    <a16:rowId xmlns:a16="http://schemas.microsoft.com/office/drawing/2014/main" val="884370744"/>
                  </a:ext>
                </a:extLst>
              </a:tr>
              <a:tr h="645210">
                <a:tc>
                  <a:txBody>
                    <a:bodyPr/>
                    <a:lstStyle/>
                    <a:p>
                      <a:pPr>
                        <a:buNone/>
                      </a:pPr>
                      <a:r>
                        <a:rPr lang="en-US"/>
                        <a:t>Ahmedabad East Showroom</a:t>
                      </a:r>
                    </a:p>
                  </a:txBody>
                  <a:tcPr anchor="ctr"/>
                </a:tc>
                <a:tc>
                  <a:txBody>
                    <a:bodyPr/>
                    <a:lstStyle/>
                    <a:p>
                      <a:pPr>
                        <a:buNone/>
                      </a:pPr>
                      <a:r>
                        <a:rPr lang="en-US" dirty="0"/>
                        <a:t>Ahmedabad</a:t>
                      </a:r>
                    </a:p>
                  </a:txBody>
                  <a:tcPr anchor="ctr"/>
                </a:tc>
                <a:tc>
                  <a:txBody>
                    <a:bodyPr/>
                    <a:lstStyle/>
                    <a:p>
                      <a:pPr algn="ctr">
                        <a:buNone/>
                      </a:pPr>
                      <a:r>
                        <a:rPr lang="en-US" dirty="0"/>
                        <a:t>7.69%</a:t>
                      </a:r>
                    </a:p>
                  </a:txBody>
                  <a:tcPr anchor="ctr"/>
                </a:tc>
                <a:tc>
                  <a:txBody>
                    <a:bodyPr/>
                    <a:lstStyle/>
                    <a:p>
                      <a:pPr algn="ctr">
                        <a:buNone/>
                      </a:pPr>
                      <a:r>
                        <a:rPr lang="en-US" dirty="0"/>
                        <a:t>11.76%</a:t>
                      </a:r>
                    </a:p>
                  </a:txBody>
                  <a:tcPr anchor="ctr"/>
                </a:tc>
                <a:tc>
                  <a:txBody>
                    <a:bodyPr/>
                    <a:lstStyle/>
                    <a:p>
                      <a:pPr algn="ctr">
                        <a:buNone/>
                      </a:pPr>
                      <a:r>
                        <a:rPr lang="en-US" dirty="0"/>
                        <a:t>14.29%</a:t>
                      </a:r>
                    </a:p>
                  </a:txBody>
                  <a:tcPr anchor="ctr"/>
                </a:tc>
                <a:extLst>
                  <a:ext uri="{0D108BD9-81ED-4DB2-BD59-A6C34878D82A}">
                    <a16:rowId xmlns:a16="http://schemas.microsoft.com/office/drawing/2014/main" val="3913035843"/>
                  </a:ext>
                </a:extLst>
              </a:tr>
              <a:tr h="437458">
                <a:tc>
                  <a:txBody>
                    <a:bodyPr/>
                    <a:lstStyle/>
                    <a:p>
                      <a:pPr>
                        <a:buNone/>
                      </a:pPr>
                      <a:r>
                        <a:rPr lang="en-US" dirty="0"/>
                        <a:t>Kolkata East Showroom</a:t>
                      </a:r>
                    </a:p>
                  </a:txBody>
                  <a:tcPr anchor="ctr"/>
                </a:tc>
                <a:tc>
                  <a:txBody>
                    <a:bodyPr/>
                    <a:lstStyle/>
                    <a:p>
                      <a:pPr>
                        <a:buNone/>
                      </a:pPr>
                      <a:r>
                        <a:rPr lang="en-US" dirty="0"/>
                        <a:t>Kolkata</a:t>
                      </a:r>
                    </a:p>
                  </a:txBody>
                  <a:tcPr anchor="ctr"/>
                </a:tc>
                <a:tc>
                  <a:txBody>
                    <a:bodyPr/>
                    <a:lstStyle/>
                    <a:p>
                      <a:pPr algn="ctr">
                        <a:buNone/>
                      </a:pPr>
                      <a:r>
                        <a:rPr lang="en-US" dirty="0"/>
                        <a:t>9.09%</a:t>
                      </a:r>
                    </a:p>
                  </a:txBody>
                  <a:tcPr anchor="ctr"/>
                </a:tc>
                <a:tc>
                  <a:txBody>
                    <a:bodyPr/>
                    <a:lstStyle/>
                    <a:p>
                      <a:pPr algn="ctr">
                        <a:buNone/>
                      </a:pPr>
                      <a:r>
                        <a:rPr lang="en-US" dirty="0"/>
                        <a:t>14.29%</a:t>
                      </a:r>
                    </a:p>
                  </a:txBody>
                  <a:tcPr anchor="ctr"/>
                </a:tc>
                <a:tc>
                  <a:txBody>
                    <a:bodyPr/>
                    <a:lstStyle/>
                    <a:p>
                      <a:pPr algn="ctr">
                        <a:buNone/>
                      </a:pPr>
                      <a:r>
                        <a:rPr lang="en-US" dirty="0"/>
                        <a:t>11.76%</a:t>
                      </a:r>
                    </a:p>
                  </a:txBody>
                  <a:tcPr anchor="ctr"/>
                </a:tc>
                <a:extLst>
                  <a:ext uri="{0D108BD9-81ED-4DB2-BD59-A6C34878D82A}">
                    <a16:rowId xmlns:a16="http://schemas.microsoft.com/office/drawing/2014/main" val="3596936243"/>
                  </a:ext>
                </a:extLst>
              </a:tr>
            </a:tbl>
          </a:graphicData>
        </a:graphic>
      </p:graphicFrame>
      <p:sp>
        <p:nvSpPr>
          <p:cNvPr id="5" name="Content Placeholder 2">
            <a:extLst>
              <a:ext uri="{FF2B5EF4-FFF2-40B4-BE49-F238E27FC236}">
                <a16:creationId xmlns:a16="http://schemas.microsoft.com/office/drawing/2014/main" id="{2CEC7B39-5067-3F9E-B57C-BBAFEEC2BC2B}"/>
              </a:ext>
            </a:extLst>
          </p:cNvPr>
          <p:cNvSpPr>
            <a:spLocks noGrp="1"/>
          </p:cNvSpPr>
          <p:nvPr>
            <p:ph idx="1"/>
          </p:nvPr>
        </p:nvSpPr>
        <p:spPr>
          <a:xfrm>
            <a:off x="295472" y="4996167"/>
            <a:ext cx="11601053" cy="846174"/>
          </a:xfrm>
        </p:spPr>
        <p:txBody>
          <a:bodyPr anchor="ctr">
            <a:normAutofit/>
          </a:bodyPr>
          <a:lstStyle/>
          <a:p>
            <a:pPr>
              <a:lnSpc>
                <a:spcPct val="150000"/>
              </a:lnSpc>
            </a:pPr>
            <a:r>
              <a:rPr lang="en-US" sz="1600" dirty="0">
                <a:latin typeface="Comic Sans MS" panose="030F0702030302020204" pitchFamily="66" charset="0"/>
              </a:rPr>
              <a:t>While Mumbai north showroom remains the highest revenue-generating branch, Delhi North Showroom demonstrates superior profitability efficiency, maintaining higher gross margins in both 2023 and 2024.</a:t>
            </a:r>
          </a:p>
        </p:txBody>
      </p:sp>
    </p:spTree>
    <p:extLst>
      <p:ext uri="{BB962C8B-B14F-4D97-AF65-F5344CB8AC3E}">
        <p14:creationId xmlns:p14="http://schemas.microsoft.com/office/powerpoint/2010/main" val="444527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76EB5-75B5-7B49-E8A5-C5303B694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319E4-2851-F7E3-B5F7-D840DA059CD2}"/>
              </a:ext>
            </a:extLst>
          </p:cNvPr>
          <p:cNvSpPr>
            <a:spLocks noGrp="1"/>
          </p:cNvSpPr>
          <p:nvPr>
            <p:ph type="title"/>
          </p:nvPr>
        </p:nvSpPr>
        <p:spPr>
          <a:xfrm>
            <a:off x="838200" y="88965"/>
            <a:ext cx="10515600" cy="432674"/>
          </a:xfrm>
        </p:spPr>
        <p:txBody>
          <a:bodyPr>
            <a:normAutofit/>
          </a:bodyPr>
          <a:lstStyle/>
          <a:p>
            <a:r>
              <a:rPr lang="en-US" sz="2400" dirty="0">
                <a:latin typeface="Comic Sans MS" panose="030F0702030302020204" pitchFamily="66" charset="0"/>
              </a:rPr>
              <a:t>Why Delhi Achieved more profit margins in year 2023 and 2024.</a:t>
            </a:r>
          </a:p>
        </p:txBody>
      </p:sp>
      <p:sp>
        <p:nvSpPr>
          <p:cNvPr id="7" name="Content Placeholder 2">
            <a:extLst>
              <a:ext uri="{FF2B5EF4-FFF2-40B4-BE49-F238E27FC236}">
                <a16:creationId xmlns:a16="http://schemas.microsoft.com/office/drawing/2014/main" id="{7C92F416-3B7B-BC94-A8FB-F802489D5D0E}"/>
              </a:ext>
            </a:extLst>
          </p:cNvPr>
          <p:cNvSpPr>
            <a:spLocks noGrp="1"/>
          </p:cNvSpPr>
          <p:nvPr>
            <p:ph idx="1"/>
          </p:nvPr>
        </p:nvSpPr>
        <p:spPr>
          <a:xfrm>
            <a:off x="708025" y="699603"/>
            <a:ext cx="10775950" cy="435722"/>
          </a:xfrm>
        </p:spPr>
        <p:txBody>
          <a:bodyPr>
            <a:normAutofit/>
          </a:bodyPr>
          <a:lstStyle/>
          <a:p>
            <a:pPr marL="0" indent="0">
              <a:lnSpc>
                <a:spcPct val="150000"/>
              </a:lnSpc>
              <a:buNone/>
            </a:pPr>
            <a:r>
              <a:rPr lang="en-US" sz="1600" dirty="0">
                <a:latin typeface="Comic Sans MS" panose="030F0702030302020204" pitchFamily="66" charset="0"/>
              </a:rPr>
              <a:t>But if we see  gross profit made on per vehicle sold for Mumbai and Delhi:</a:t>
            </a:r>
          </a:p>
        </p:txBody>
      </p:sp>
      <p:graphicFrame>
        <p:nvGraphicFramePr>
          <p:cNvPr id="11" name="Table 10">
            <a:extLst>
              <a:ext uri="{FF2B5EF4-FFF2-40B4-BE49-F238E27FC236}">
                <a16:creationId xmlns:a16="http://schemas.microsoft.com/office/drawing/2014/main" id="{8892351F-78F5-FF9D-E7C9-9B3A5078FC6F}"/>
              </a:ext>
            </a:extLst>
          </p:cNvPr>
          <p:cNvGraphicFramePr>
            <a:graphicFrameLocks noGrp="1"/>
          </p:cNvGraphicFramePr>
          <p:nvPr>
            <p:extLst>
              <p:ext uri="{D42A27DB-BD31-4B8C-83A1-F6EECF244321}">
                <p14:modId xmlns:p14="http://schemas.microsoft.com/office/powerpoint/2010/main" val="1328613933"/>
              </p:ext>
            </p:extLst>
          </p:nvPr>
        </p:nvGraphicFramePr>
        <p:xfrm>
          <a:off x="708025" y="1681882"/>
          <a:ext cx="10775950" cy="1098555"/>
        </p:xfrm>
        <a:graphic>
          <a:graphicData uri="http://schemas.openxmlformats.org/drawingml/2006/table">
            <a:tbl>
              <a:tblPr firstRow="1" bandRow="1">
                <a:tableStyleId>{616DA210-FB5B-4158-B5E0-FEB733F419BA}</a:tableStyleId>
              </a:tblPr>
              <a:tblGrid>
                <a:gridCol w="2910681">
                  <a:extLst>
                    <a:ext uri="{9D8B030D-6E8A-4147-A177-3AD203B41FA5}">
                      <a16:colId xmlns:a16="http://schemas.microsoft.com/office/drawing/2014/main" val="1539596988"/>
                    </a:ext>
                  </a:extLst>
                </a:gridCol>
                <a:gridCol w="1285875">
                  <a:extLst>
                    <a:ext uri="{9D8B030D-6E8A-4147-A177-3AD203B41FA5}">
                      <a16:colId xmlns:a16="http://schemas.microsoft.com/office/drawing/2014/main" val="3147560598"/>
                    </a:ext>
                  </a:extLst>
                </a:gridCol>
                <a:gridCol w="2007394">
                  <a:extLst>
                    <a:ext uri="{9D8B030D-6E8A-4147-A177-3AD203B41FA5}">
                      <a16:colId xmlns:a16="http://schemas.microsoft.com/office/drawing/2014/main" val="1779566701"/>
                    </a:ext>
                  </a:extLst>
                </a:gridCol>
                <a:gridCol w="2150269">
                  <a:extLst>
                    <a:ext uri="{9D8B030D-6E8A-4147-A177-3AD203B41FA5}">
                      <a16:colId xmlns:a16="http://schemas.microsoft.com/office/drawing/2014/main" val="99966707"/>
                    </a:ext>
                  </a:extLst>
                </a:gridCol>
                <a:gridCol w="2421731">
                  <a:extLst>
                    <a:ext uri="{9D8B030D-6E8A-4147-A177-3AD203B41FA5}">
                      <a16:colId xmlns:a16="http://schemas.microsoft.com/office/drawing/2014/main" val="566045787"/>
                    </a:ext>
                  </a:extLst>
                </a:gridCol>
              </a:tblGrid>
              <a:tr h="366185">
                <a:tc>
                  <a:txBody>
                    <a:bodyPr/>
                    <a:lstStyle/>
                    <a:p>
                      <a:pPr algn="ctr"/>
                      <a:r>
                        <a:rPr lang="en-US" dirty="0"/>
                        <a:t>Branch Name</a:t>
                      </a:r>
                    </a:p>
                  </a:txBody>
                  <a:tcPr/>
                </a:tc>
                <a:tc>
                  <a:txBody>
                    <a:bodyPr/>
                    <a:lstStyle/>
                    <a:p>
                      <a:pPr algn="ctr"/>
                      <a:r>
                        <a:rPr lang="en-US" dirty="0"/>
                        <a:t>City</a:t>
                      </a:r>
                    </a:p>
                  </a:txBody>
                  <a:tcPr/>
                </a:tc>
                <a:tc>
                  <a:txBody>
                    <a:bodyPr/>
                    <a:lstStyle/>
                    <a:p>
                      <a:pPr algn="ctr"/>
                      <a:r>
                        <a:rPr lang="en-US" dirty="0"/>
                        <a:t>Total Units Sold</a:t>
                      </a:r>
                    </a:p>
                  </a:txBody>
                  <a:tcPr/>
                </a:tc>
                <a:tc>
                  <a:txBody>
                    <a:bodyPr/>
                    <a:lstStyle/>
                    <a:p>
                      <a:pPr algn="ctr"/>
                      <a:r>
                        <a:rPr lang="en-US" dirty="0"/>
                        <a:t>Total Gross Profit </a:t>
                      </a:r>
                    </a:p>
                  </a:txBody>
                  <a:tcPr/>
                </a:tc>
                <a:tc>
                  <a:txBody>
                    <a:bodyPr/>
                    <a:lstStyle/>
                    <a:p>
                      <a:pPr algn="ctr"/>
                      <a:r>
                        <a:rPr lang="en-US" dirty="0"/>
                        <a:t>AVG Profit Per Vehicle</a:t>
                      </a:r>
                    </a:p>
                  </a:txBody>
                  <a:tcPr/>
                </a:tc>
                <a:extLst>
                  <a:ext uri="{0D108BD9-81ED-4DB2-BD59-A6C34878D82A}">
                    <a16:rowId xmlns:a16="http://schemas.microsoft.com/office/drawing/2014/main" val="3368797065"/>
                  </a:ext>
                </a:extLst>
              </a:tr>
              <a:tr h="366185">
                <a:tc>
                  <a:txBody>
                    <a:bodyPr/>
                    <a:lstStyle/>
                    <a:p>
                      <a:pPr algn="l"/>
                      <a:r>
                        <a:rPr lang="en-US" dirty="0"/>
                        <a:t>Mumbai North Showroom</a:t>
                      </a:r>
                    </a:p>
                  </a:txBody>
                  <a:tcPr/>
                </a:tc>
                <a:tc>
                  <a:txBody>
                    <a:bodyPr/>
                    <a:lstStyle/>
                    <a:p>
                      <a:pPr algn="l"/>
                      <a:r>
                        <a:rPr lang="en-US" dirty="0"/>
                        <a:t>Mumbai</a:t>
                      </a:r>
                    </a:p>
                  </a:txBody>
                  <a:tcPr/>
                </a:tc>
                <a:tc>
                  <a:txBody>
                    <a:bodyPr/>
                    <a:lstStyle/>
                    <a:p>
                      <a:pPr algn="ctr">
                        <a:buNone/>
                      </a:pPr>
                      <a:r>
                        <a:rPr lang="en-US"/>
                        <a:t>275</a:t>
                      </a:r>
                    </a:p>
                  </a:txBody>
                  <a:tcPr anchor="ctr"/>
                </a:tc>
                <a:tc>
                  <a:txBody>
                    <a:bodyPr/>
                    <a:lstStyle/>
                    <a:p>
                      <a:pPr algn="ctr">
                        <a:buNone/>
                      </a:pPr>
                      <a:r>
                        <a:rPr lang="en-US" dirty="0"/>
                        <a:t>14,57,00,128</a:t>
                      </a:r>
                    </a:p>
                  </a:txBody>
                  <a:tcPr anchor="ctr"/>
                </a:tc>
                <a:tc>
                  <a:txBody>
                    <a:bodyPr/>
                    <a:lstStyle/>
                    <a:p>
                      <a:pPr algn="ctr">
                        <a:buNone/>
                      </a:pPr>
                      <a:r>
                        <a:rPr lang="en-US" dirty="0"/>
                        <a:t>5,29,819</a:t>
                      </a:r>
                    </a:p>
                  </a:txBody>
                  <a:tcPr anchor="ctr"/>
                </a:tc>
                <a:extLst>
                  <a:ext uri="{0D108BD9-81ED-4DB2-BD59-A6C34878D82A}">
                    <a16:rowId xmlns:a16="http://schemas.microsoft.com/office/drawing/2014/main" val="2431134973"/>
                  </a:ext>
                </a:extLst>
              </a:tr>
              <a:tr h="366185">
                <a:tc>
                  <a:txBody>
                    <a:bodyPr/>
                    <a:lstStyle/>
                    <a:p>
                      <a:pPr algn="l"/>
                      <a:r>
                        <a:rPr lang="en-US" dirty="0"/>
                        <a:t>Delhi North Showroom</a:t>
                      </a:r>
                    </a:p>
                  </a:txBody>
                  <a:tcPr/>
                </a:tc>
                <a:tc>
                  <a:txBody>
                    <a:bodyPr/>
                    <a:lstStyle/>
                    <a:p>
                      <a:pPr algn="l"/>
                      <a:r>
                        <a:rPr lang="en-US" dirty="0"/>
                        <a:t>Delhi</a:t>
                      </a:r>
                    </a:p>
                  </a:txBody>
                  <a:tcPr/>
                </a:tc>
                <a:tc>
                  <a:txBody>
                    <a:bodyPr/>
                    <a:lstStyle/>
                    <a:p>
                      <a:pPr algn="ctr">
                        <a:buNone/>
                      </a:pPr>
                      <a:r>
                        <a:rPr lang="en-US"/>
                        <a:t>247</a:t>
                      </a:r>
                    </a:p>
                  </a:txBody>
                  <a:tcPr anchor="ctr"/>
                </a:tc>
                <a:tc>
                  <a:txBody>
                    <a:bodyPr/>
                    <a:lstStyle/>
                    <a:p>
                      <a:pPr algn="ctr">
                        <a:buNone/>
                      </a:pPr>
                      <a:r>
                        <a:rPr lang="en-US"/>
                        <a:t>13,23,84,184</a:t>
                      </a:r>
                    </a:p>
                  </a:txBody>
                  <a:tcPr anchor="ctr"/>
                </a:tc>
                <a:tc>
                  <a:txBody>
                    <a:bodyPr/>
                    <a:lstStyle/>
                    <a:p>
                      <a:pPr algn="ctr">
                        <a:buNone/>
                      </a:pPr>
                      <a:r>
                        <a:rPr lang="en-US" dirty="0"/>
                        <a:t>5,35,968</a:t>
                      </a:r>
                    </a:p>
                  </a:txBody>
                  <a:tcPr anchor="ctr"/>
                </a:tc>
                <a:extLst>
                  <a:ext uri="{0D108BD9-81ED-4DB2-BD59-A6C34878D82A}">
                    <a16:rowId xmlns:a16="http://schemas.microsoft.com/office/drawing/2014/main" val="352150852"/>
                  </a:ext>
                </a:extLst>
              </a:tr>
            </a:tbl>
          </a:graphicData>
        </a:graphic>
      </p:graphicFrame>
      <p:sp>
        <p:nvSpPr>
          <p:cNvPr id="12" name="Content Placeholder 2">
            <a:extLst>
              <a:ext uri="{FF2B5EF4-FFF2-40B4-BE49-F238E27FC236}">
                <a16:creationId xmlns:a16="http://schemas.microsoft.com/office/drawing/2014/main" id="{8F2A2582-C258-3DA9-CAC1-E418E157729B}"/>
              </a:ext>
            </a:extLst>
          </p:cNvPr>
          <p:cNvSpPr txBox="1">
            <a:spLocks/>
          </p:cNvSpPr>
          <p:nvPr/>
        </p:nvSpPr>
        <p:spPr>
          <a:xfrm>
            <a:off x="708025" y="1232377"/>
            <a:ext cx="1396936" cy="3996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600" dirty="0">
                <a:latin typeface="Comic Sans MS" panose="030F0702030302020204" pitchFamily="66" charset="0"/>
              </a:rPr>
              <a:t>Year 2023:</a:t>
            </a:r>
          </a:p>
        </p:txBody>
      </p:sp>
      <p:graphicFrame>
        <p:nvGraphicFramePr>
          <p:cNvPr id="16" name="Table 15">
            <a:extLst>
              <a:ext uri="{FF2B5EF4-FFF2-40B4-BE49-F238E27FC236}">
                <a16:creationId xmlns:a16="http://schemas.microsoft.com/office/drawing/2014/main" id="{526C5FA3-0BF2-C9E8-CADD-96A8BDDC3F00}"/>
              </a:ext>
            </a:extLst>
          </p:cNvPr>
          <p:cNvGraphicFramePr>
            <a:graphicFrameLocks noGrp="1"/>
          </p:cNvGraphicFramePr>
          <p:nvPr>
            <p:extLst>
              <p:ext uri="{D42A27DB-BD31-4B8C-83A1-F6EECF244321}">
                <p14:modId xmlns:p14="http://schemas.microsoft.com/office/powerpoint/2010/main" val="2032114104"/>
              </p:ext>
            </p:extLst>
          </p:nvPr>
        </p:nvGraphicFramePr>
        <p:xfrm>
          <a:off x="714162" y="3516421"/>
          <a:ext cx="10775950" cy="1098555"/>
        </p:xfrm>
        <a:graphic>
          <a:graphicData uri="http://schemas.openxmlformats.org/drawingml/2006/table">
            <a:tbl>
              <a:tblPr firstRow="1" bandRow="1">
                <a:tableStyleId>{616DA210-FB5B-4158-B5E0-FEB733F419BA}</a:tableStyleId>
              </a:tblPr>
              <a:tblGrid>
                <a:gridCol w="2910681">
                  <a:extLst>
                    <a:ext uri="{9D8B030D-6E8A-4147-A177-3AD203B41FA5}">
                      <a16:colId xmlns:a16="http://schemas.microsoft.com/office/drawing/2014/main" val="1539596988"/>
                    </a:ext>
                  </a:extLst>
                </a:gridCol>
                <a:gridCol w="1285875">
                  <a:extLst>
                    <a:ext uri="{9D8B030D-6E8A-4147-A177-3AD203B41FA5}">
                      <a16:colId xmlns:a16="http://schemas.microsoft.com/office/drawing/2014/main" val="3147560598"/>
                    </a:ext>
                  </a:extLst>
                </a:gridCol>
                <a:gridCol w="2007394">
                  <a:extLst>
                    <a:ext uri="{9D8B030D-6E8A-4147-A177-3AD203B41FA5}">
                      <a16:colId xmlns:a16="http://schemas.microsoft.com/office/drawing/2014/main" val="1779566701"/>
                    </a:ext>
                  </a:extLst>
                </a:gridCol>
                <a:gridCol w="2150269">
                  <a:extLst>
                    <a:ext uri="{9D8B030D-6E8A-4147-A177-3AD203B41FA5}">
                      <a16:colId xmlns:a16="http://schemas.microsoft.com/office/drawing/2014/main" val="99966707"/>
                    </a:ext>
                  </a:extLst>
                </a:gridCol>
                <a:gridCol w="2421731">
                  <a:extLst>
                    <a:ext uri="{9D8B030D-6E8A-4147-A177-3AD203B41FA5}">
                      <a16:colId xmlns:a16="http://schemas.microsoft.com/office/drawing/2014/main" val="566045787"/>
                    </a:ext>
                  </a:extLst>
                </a:gridCol>
              </a:tblGrid>
              <a:tr h="366185">
                <a:tc>
                  <a:txBody>
                    <a:bodyPr/>
                    <a:lstStyle/>
                    <a:p>
                      <a:pPr algn="ctr"/>
                      <a:r>
                        <a:rPr lang="en-US" dirty="0"/>
                        <a:t>Branch Name</a:t>
                      </a:r>
                    </a:p>
                  </a:txBody>
                  <a:tcPr/>
                </a:tc>
                <a:tc>
                  <a:txBody>
                    <a:bodyPr/>
                    <a:lstStyle/>
                    <a:p>
                      <a:pPr algn="ctr"/>
                      <a:r>
                        <a:rPr lang="en-US" dirty="0"/>
                        <a:t>City</a:t>
                      </a:r>
                    </a:p>
                  </a:txBody>
                  <a:tcPr/>
                </a:tc>
                <a:tc>
                  <a:txBody>
                    <a:bodyPr/>
                    <a:lstStyle/>
                    <a:p>
                      <a:pPr algn="ctr"/>
                      <a:r>
                        <a:rPr lang="en-US" dirty="0"/>
                        <a:t>Total Units Sold</a:t>
                      </a:r>
                    </a:p>
                  </a:txBody>
                  <a:tcPr/>
                </a:tc>
                <a:tc>
                  <a:txBody>
                    <a:bodyPr/>
                    <a:lstStyle/>
                    <a:p>
                      <a:pPr algn="ctr"/>
                      <a:r>
                        <a:rPr lang="en-US" dirty="0"/>
                        <a:t>Total Gross Profit </a:t>
                      </a:r>
                    </a:p>
                  </a:txBody>
                  <a:tcPr/>
                </a:tc>
                <a:tc>
                  <a:txBody>
                    <a:bodyPr/>
                    <a:lstStyle/>
                    <a:p>
                      <a:pPr algn="ctr"/>
                      <a:r>
                        <a:rPr lang="en-US" dirty="0"/>
                        <a:t>AVG Profit Per Vehicle</a:t>
                      </a:r>
                    </a:p>
                  </a:txBody>
                  <a:tcPr/>
                </a:tc>
                <a:extLst>
                  <a:ext uri="{0D108BD9-81ED-4DB2-BD59-A6C34878D82A}">
                    <a16:rowId xmlns:a16="http://schemas.microsoft.com/office/drawing/2014/main" val="3368797065"/>
                  </a:ext>
                </a:extLst>
              </a:tr>
              <a:tr h="366185">
                <a:tc>
                  <a:txBody>
                    <a:bodyPr/>
                    <a:lstStyle/>
                    <a:p>
                      <a:pPr algn="l"/>
                      <a:r>
                        <a:rPr lang="en-US" dirty="0"/>
                        <a:t>Mumbai North Showroom</a:t>
                      </a:r>
                    </a:p>
                  </a:txBody>
                  <a:tcPr/>
                </a:tc>
                <a:tc>
                  <a:txBody>
                    <a:bodyPr/>
                    <a:lstStyle/>
                    <a:p>
                      <a:pPr algn="l"/>
                      <a:r>
                        <a:rPr lang="en-US" dirty="0"/>
                        <a:t>Mumbai</a:t>
                      </a:r>
                    </a:p>
                  </a:txBody>
                  <a:tcPr/>
                </a:tc>
                <a:tc>
                  <a:txBody>
                    <a:bodyPr/>
                    <a:lstStyle/>
                    <a:p>
                      <a:pPr algn="ctr">
                        <a:buNone/>
                      </a:pPr>
                      <a:r>
                        <a:rPr lang="en-US"/>
                        <a:t>256</a:t>
                      </a:r>
                    </a:p>
                  </a:txBody>
                  <a:tcPr anchor="ctr"/>
                </a:tc>
                <a:tc>
                  <a:txBody>
                    <a:bodyPr/>
                    <a:lstStyle/>
                    <a:p>
                      <a:pPr algn="ctr">
                        <a:buNone/>
                      </a:pPr>
                      <a:r>
                        <a:rPr lang="en-US" dirty="0"/>
                        <a:t>12,44,52,853</a:t>
                      </a:r>
                    </a:p>
                  </a:txBody>
                  <a:tcPr anchor="ctr"/>
                </a:tc>
                <a:tc>
                  <a:txBody>
                    <a:bodyPr/>
                    <a:lstStyle/>
                    <a:p>
                      <a:pPr algn="ctr">
                        <a:buNone/>
                      </a:pPr>
                      <a:r>
                        <a:rPr lang="en-US"/>
                        <a:t>4,86,144</a:t>
                      </a:r>
                    </a:p>
                  </a:txBody>
                  <a:tcPr anchor="ctr"/>
                </a:tc>
                <a:extLst>
                  <a:ext uri="{0D108BD9-81ED-4DB2-BD59-A6C34878D82A}">
                    <a16:rowId xmlns:a16="http://schemas.microsoft.com/office/drawing/2014/main" val="2431134973"/>
                  </a:ext>
                </a:extLst>
              </a:tr>
              <a:tr h="366185">
                <a:tc>
                  <a:txBody>
                    <a:bodyPr/>
                    <a:lstStyle/>
                    <a:p>
                      <a:pPr algn="l"/>
                      <a:r>
                        <a:rPr lang="en-US" dirty="0"/>
                        <a:t>Delhi North Showroom</a:t>
                      </a:r>
                    </a:p>
                  </a:txBody>
                  <a:tcPr/>
                </a:tc>
                <a:tc>
                  <a:txBody>
                    <a:bodyPr/>
                    <a:lstStyle/>
                    <a:p>
                      <a:pPr algn="l"/>
                      <a:r>
                        <a:rPr lang="en-US" dirty="0"/>
                        <a:t>Delhi</a:t>
                      </a:r>
                    </a:p>
                  </a:txBody>
                  <a:tcPr/>
                </a:tc>
                <a:tc>
                  <a:txBody>
                    <a:bodyPr/>
                    <a:lstStyle/>
                    <a:p>
                      <a:pPr algn="ctr">
                        <a:buNone/>
                      </a:pPr>
                      <a:r>
                        <a:rPr lang="en-US"/>
                        <a:t>216</a:t>
                      </a:r>
                    </a:p>
                  </a:txBody>
                  <a:tcPr anchor="ctr"/>
                </a:tc>
                <a:tc>
                  <a:txBody>
                    <a:bodyPr/>
                    <a:lstStyle/>
                    <a:p>
                      <a:pPr algn="ctr">
                        <a:buNone/>
                      </a:pPr>
                      <a:r>
                        <a:rPr lang="en-US"/>
                        <a:t>11,12,73,912</a:t>
                      </a:r>
                    </a:p>
                  </a:txBody>
                  <a:tcPr anchor="ctr"/>
                </a:tc>
                <a:tc>
                  <a:txBody>
                    <a:bodyPr/>
                    <a:lstStyle/>
                    <a:p>
                      <a:pPr algn="ctr">
                        <a:buNone/>
                      </a:pPr>
                      <a:r>
                        <a:rPr lang="en-US" dirty="0"/>
                        <a:t>5,15,157</a:t>
                      </a:r>
                    </a:p>
                  </a:txBody>
                  <a:tcPr anchor="ctr"/>
                </a:tc>
                <a:extLst>
                  <a:ext uri="{0D108BD9-81ED-4DB2-BD59-A6C34878D82A}">
                    <a16:rowId xmlns:a16="http://schemas.microsoft.com/office/drawing/2014/main" val="352150852"/>
                  </a:ext>
                </a:extLst>
              </a:tr>
            </a:tbl>
          </a:graphicData>
        </a:graphic>
      </p:graphicFrame>
      <p:sp>
        <p:nvSpPr>
          <p:cNvPr id="17" name="Content Placeholder 2">
            <a:extLst>
              <a:ext uri="{FF2B5EF4-FFF2-40B4-BE49-F238E27FC236}">
                <a16:creationId xmlns:a16="http://schemas.microsoft.com/office/drawing/2014/main" id="{681E057A-A41E-3D0B-9346-F05EB7A5498E}"/>
              </a:ext>
            </a:extLst>
          </p:cNvPr>
          <p:cNvSpPr txBox="1">
            <a:spLocks/>
          </p:cNvSpPr>
          <p:nvPr/>
        </p:nvSpPr>
        <p:spPr>
          <a:xfrm>
            <a:off x="714162" y="3066916"/>
            <a:ext cx="1396936" cy="3996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600" dirty="0">
                <a:latin typeface="Comic Sans MS" panose="030F0702030302020204" pitchFamily="66" charset="0"/>
              </a:rPr>
              <a:t>Year 2024:</a:t>
            </a:r>
          </a:p>
        </p:txBody>
      </p:sp>
    </p:spTree>
    <p:extLst>
      <p:ext uri="{BB962C8B-B14F-4D97-AF65-F5344CB8AC3E}">
        <p14:creationId xmlns:p14="http://schemas.microsoft.com/office/powerpoint/2010/main" val="3777882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5D6FC-6089-810E-0636-208EA3154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078D7-4459-2DCF-F062-4DC363C5662F}"/>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Gross Profit on category and type of vehicle.</a:t>
            </a:r>
          </a:p>
        </p:txBody>
      </p:sp>
      <p:sp>
        <p:nvSpPr>
          <p:cNvPr id="5" name="Title 1">
            <a:extLst>
              <a:ext uri="{FF2B5EF4-FFF2-40B4-BE49-F238E27FC236}">
                <a16:creationId xmlns:a16="http://schemas.microsoft.com/office/drawing/2014/main" id="{BD84A637-1E4D-92E2-EEF9-F3B68A465FE0}"/>
              </a:ext>
            </a:extLst>
          </p:cNvPr>
          <p:cNvSpPr txBox="1">
            <a:spLocks/>
          </p:cNvSpPr>
          <p:nvPr/>
        </p:nvSpPr>
        <p:spPr>
          <a:xfrm>
            <a:off x="51653" y="726181"/>
            <a:ext cx="7091713"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Gross Profit on Premium Segment Vehicles sold in Mumbai and Delhi:</a:t>
            </a:r>
          </a:p>
        </p:txBody>
      </p:sp>
      <p:graphicFrame>
        <p:nvGraphicFramePr>
          <p:cNvPr id="8" name="Table 7">
            <a:extLst>
              <a:ext uri="{FF2B5EF4-FFF2-40B4-BE49-F238E27FC236}">
                <a16:creationId xmlns:a16="http://schemas.microsoft.com/office/drawing/2014/main" id="{FEC887D2-DF86-2D28-1A28-B2AC1FA04045}"/>
              </a:ext>
            </a:extLst>
          </p:cNvPr>
          <p:cNvGraphicFramePr>
            <a:graphicFrameLocks noGrp="1"/>
          </p:cNvGraphicFramePr>
          <p:nvPr>
            <p:extLst>
              <p:ext uri="{D42A27DB-BD31-4B8C-83A1-F6EECF244321}">
                <p14:modId xmlns:p14="http://schemas.microsoft.com/office/powerpoint/2010/main" val="2149874672"/>
              </p:ext>
            </p:extLst>
          </p:nvPr>
        </p:nvGraphicFramePr>
        <p:xfrm>
          <a:off x="51652" y="1573962"/>
          <a:ext cx="11800600" cy="1112520"/>
        </p:xfrm>
        <a:graphic>
          <a:graphicData uri="http://schemas.openxmlformats.org/drawingml/2006/table">
            <a:tbl>
              <a:tblPr firstRow="1" bandRow="1">
                <a:tableStyleId>{616DA210-FB5B-4158-B5E0-FEB733F419BA}</a:tableStyleId>
              </a:tblPr>
              <a:tblGrid>
                <a:gridCol w="2673137">
                  <a:extLst>
                    <a:ext uri="{9D8B030D-6E8A-4147-A177-3AD203B41FA5}">
                      <a16:colId xmlns:a16="http://schemas.microsoft.com/office/drawing/2014/main" val="2219150331"/>
                    </a:ext>
                  </a:extLst>
                </a:gridCol>
                <a:gridCol w="2047103">
                  <a:extLst>
                    <a:ext uri="{9D8B030D-6E8A-4147-A177-3AD203B41FA5}">
                      <a16:colId xmlns:a16="http://schemas.microsoft.com/office/drawing/2014/main" val="2190367657"/>
                    </a:ext>
                  </a:extLst>
                </a:gridCol>
                <a:gridCol w="2360120">
                  <a:extLst>
                    <a:ext uri="{9D8B030D-6E8A-4147-A177-3AD203B41FA5}">
                      <a16:colId xmlns:a16="http://schemas.microsoft.com/office/drawing/2014/main" val="4224070422"/>
                    </a:ext>
                  </a:extLst>
                </a:gridCol>
                <a:gridCol w="2360120">
                  <a:extLst>
                    <a:ext uri="{9D8B030D-6E8A-4147-A177-3AD203B41FA5}">
                      <a16:colId xmlns:a16="http://schemas.microsoft.com/office/drawing/2014/main" val="373642776"/>
                    </a:ext>
                  </a:extLst>
                </a:gridCol>
                <a:gridCol w="2360120">
                  <a:extLst>
                    <a:ext uri="{9D8B030D-6E8A-4147-A177-3AD203B41FA5}">
                      <a16:colId xmlns:a16="http://schemas.microsoft.com/office/drawing/2014/main" val="2916574530"/>
                    </a:ext>
                  </a:extLst>
                </a:gridCol>
              </a:tblGrid>
              <a:tr h="370840">
                <a:tc>
                  <a:txBody>
                    <a:bodyPr/>
                    <a:lstStyle/>
                    <a:p>
                      <a:pPr algn="ctr"/>
                      <a:r>
                        <a:rPr lang="en-US" dirty="0"/>
                        <a:t>Branch Name</a:t>
                      </a:r>
                    </a:p>
                  </a:txBody>
                  <a:tcPr/>
                </a:tc>
                <a:tc>
                  <a:txBody>
                    <a:bodyPr/>
                    <a:lstStyle/>
                    <a:p>
                      <a:pPr algn="ctr"/>
                      <a:r>
                        <a:rPr lang="en-US" dirty="0"/>
                        <a:t>City </a:t>
                      </a:r>
                    </a:p>
                  </a:txBody>
                  <a:tcPr/>
                </a:tc>
                <a:tc>
                  <a:txBody>
                    <a:bodyPr/>
                    <a:lstStyle/>
                    <a:p>
                      <a:pPr algn="ctr"/>
                      <a:r>
                        <a:rPr lang="en-US" dirty="0"/>
                        <a:t>Total Gross Profit</a:t>
                      </a:r>
                    </a:p>
                  </a:txBody>
                  <a:tcPr/>
                </a:tc>
                <a:tc>
                  <a:txBody>
                    <a:bodyPr/>
                    <a:lstStyle/>
                    <a:p>
                      <a:pPr algn="ctr"/>
                      <a:r>
                        <a:rPr lang="en-US" dirty="0"/>
                        <a:t>Avg Profit Per Vehicle</a:t>
                      </a:r>
                    </a:p>
                  </a:txBody>
                  <a:tcPr/>
                </a:tc>
                <a:tc>
                  <a:txBody>
                    <a:bodyPr/>
                    <a:lstStyle/>
                    <a:p>
                      <a:pPr algn="ctr"/>
                      <a:r>
                        <a:rPr lang="en-US" dirty="0"/>
                        <a:t>Margin %</a:t>
                      </a:r>
                    </a:p>
                  </a:txBody>
                  <a:tcPr/>
                </a:tc>
                <a:extLst>
                  <a:ext uri="{0D108BD9-81ED-4DB2-BD59-A6C34878D82A}">
                    <a16:rowId xmlns:a16="http://schemas.microsoft.com/office/drawing/2014/main" val="4024986763"/>
                  </a:ext>
                </a:extLst>
              </a:tr>
              <a:tr h="370840">
                <a:tc>
                  <a:txBody>
                    <a:bodyPr/>
                    <a:lstStyle/>
                    <a:p>
                      <a:r>
                        <a:rPr lang="en-US" dirty="0"/>
                        <a:t>Mumbai North Showroom</a:t>
                      </a:r>
                    </a:p>
                  </a:txBody>
                  <a:tcPr/>
                </a:tc>
                <a:tc>
                  <a:txBody>
                    <a:bodyPr/>
                    <a:lstStyle/>
                    <a:p>
                      <a:r>
                        <a:rPr lang="en-US" dirty="0"/>
                        <a:t>Mumbai</a:t>
                      </a:r>
                    </a:p>
                  </a:txBody>
                  <a:tcPr/>
                </a:tc>
                <a:tc>
                  <a:txBody>
                    <a:bodyPr/>
                    <a:lstStyle/>
                    <a:p>
                      <a:pPr algn="ctr">
                        <a:buNone/>
                      </a:pPr>
                      <a:r>
                        <a:rPr lang="en-US" dirty="0"/>
                        <a:t>10,27,72,592</a:t>
                      </a:r>
                    </a:p>
                  </a:txBody>
                  <a:tcPr anchor="ctr"/>
                </a:tc>
                <a:tc>
                  <a:txBody>
                    <a:bodyPr/>
                    <a:lstStyle/>
                    <a:p>
                      <a:pPr algn="ctr">
                        <a:buNone/>
                      </a:pPr>
                      <a:r>
                        <a:rPr lang="en-US"/>
                        <a:t>10,27,726</a:t>
                      </a:r>
                      <a:endParaRPr lang="en-US" dirty="0"/>
                    </a:p>
                  </a:txBody>
                  <a:tcPr anchor="ctr"/>
                </a:tc>
                <a:tc>
                  <a:txBody>
                    <a:bodyPr/>
                    <a:lstStyle/>
                    <a:p>
                      <a:pPr algn="ctr">
                        <a:buNone/>
                      </a:pPr>
                      <a:r>
                        <a:rPr lang="en-US"/>
                        <a:t>18.52%</a:t>
                      </a:r>
                      <a:endParaRPr lang="en-US" dirty="0"/>
                    </a:p>
                  </a:txBody>
                  <a:tcPr anchor="ctr"/>
                </a:tc>
                <a:extLst>
                  <a:ext uri="{0D108BD9-81ED-4DB2-BD59-A6C34878D82A}">
                    <a16:rowId xmlns:a16="http://schemas.microsoft.com/office/drawing/2014/main" val="1573353568"/>
                  </a:ext>
                </a:extLst>
              </a:tr>
              <a:tr h="370840">
                <a:tc>
                  <a:txBody>
                    <a:bodyPr/>
                    <a:lstStyle/>
                    <a:p>
                      <a:r>
                        <a:rPr lang="en-US" dirty="0"/>
                        <a:t>Delhi North Showroom</a:t>
                      </a:r>
                    </a:p>
                  </a:txBody>
                  <a:tcPr/>
                </a:tc>
                <a:tc>
                  <a:txBody>
                    <a:bodyPr/>
                    <a:lstStyle/>
                    <a:p>
                      <a:r>
                        <a:rPr lang="en-US" dirty="0"/>
                        <a:t>Delhi</a:t>
                      </a:r>
                    </a:p>
                  </a:txBody>
                  <a:tcPr/>
                </a:tc>
                <a:tc>
                  <a:txBody>
                    <a:bodyPr/>
                    <a:lstStyle/>
                    <a:p>
                      <a:pPr algn="ctr">
                        <a:buNone/>
                      </a:pPr>
                      <a:r>
                        <a:rPr lang="en-US"/>
                        <a:t>9,54,61,076</a:t>
                      </a:r>
                      <a:endParaRPr lang="en-US" dirty="0"/>
                    </a:p>
                  </a:txBody>
                  <a:tcPr anchor="ctr"/>
                </a:tc>
                <a:tc>
                  <a:txBody>
                    <a:bodyPr/>
                    <a:lstStyle/>
                    <a:p>
                      <a:pPr algn="ctr">
                        <a:buNone/>
                      </a:pPr>
                      <a:r>
                        <a:rPr lang="en-US" dirty="0"/>
                        <a:t>9,64,253</a:t>
                      </a:r>
                    </a:p>
                  </a:txBody>
                  <a:tcPr anchor="ctr"/>
                </a:tc>
                <a:tc>
                  <a:txBody>
                    <a:bodyPr/>
                    <a:lstStyle/>
                    <a:p>
                      <a:pPr algn="ctr">
                        <a:buNone/>
                      </a:pPr>
                      <a:r>
                        <a:rPr lang="en-US" dirty="0"/>
                        <a:t>18%</a:t>
                      </a:r>
                    </a:p>
                  </a:txBody>
                  <a:tcPr anchor="ctr"/>
                </a:tc>
                <a:extLst>
                  <a:ext uri="{0D108BD9-81ED-4DB2-BD59-A6C34878D82A}">
                    <a16:rowId xmlns:a16="http://schemas.microsoft.com/office/drawing/2014/main" val="3071444224"/>
                  </a:ext>
                </a:extLst>
              </a:tr>
            </a:tbl>
          </a:graphicData>
        </a:graphic>
      </p:graphicFrame>
      <p:sp>
        <p:nvSpPr>
          <p:cNvPr id="9" name="Title 1">
            <a:extLst>
              <a:ext uri="{FF2B5EF4-FFF2-40B4-BE49-F238E27FC236}">
                <a16:creationId xmlns:a16="http://schemas.microsoft.com/office/drawing/2014/main" id="{7E9A70F1-94EE-A2F1-3B38-16012AF0D8E1}"/>
              </a:ext>
            </a:extLst>
          </p:cNvPr>
          <p:cNvSpPr txBox="1">
            <a:spLocks/>
          </p:cNvSpPr>
          <p:nvPr/>
        </p:nvSpPr>
        <p:spPr>
          <a:xfrm>
            <a:off x="51652" y="1158855"/>
            <a:ext cx="1286194" cy="43267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Year 2023:</a:t>
            </a:r>
          </a:p>
        </p:txBody>
      </p:sp>
      <p:graphicFrame>
        <p:nvGraphicFramePr>
          <p:cNvPr id="10" name="Table 9">
            <a:extLst>
              <a:ext uri="{FF2B5EF4-FFF2-40B4-BE49-F238E27FC236}">
                <a16:creationId xmlns:a16="http://schemas.microsoft.com/office/drawing/2014/main" id="{ABFDCA88-78F3-CD55-92C3-3FC8054F7508}"/>
              </a:ext>
            </a:extLst>
          </p:cNvPr>
          <p:cNvGraphicFramePr>
            <a:graphicFrameLocks noGrp="1"/>
          </p:cNvGraphicFramePr>
          <p:nvPr>
            <p:extLst>
              <p:ext uri="{D42A27DB-BD31-4B8C-83A1-F6EECF244321}">
                <p14:modId xmlns:p14="http://schemas.microsoft.com/office/powerpoint/2010/main" val="3006887179"/>
              </p:ext>
            </p:extLst>
          </p:nvPr>
        </p:nvGraphicFramePr>
        <p:xfrm>
          <a:off x="51652" y="3186948"/>
          <a:ext cx="11800600" cy="1112520"/>
        </p:xfrm>
        <a:graphic>
          <a:graphicData uri="http://schemas.openxmlformats.org/drawingml/2006/table">
            <a:tbl>
              <a:tblPr firstRow="1" bandRow="1">
                <a:tableStyleId>{616DA210-FB5B-4158-B5E0-FEB733F419BA}</a:tableStyleId>
              </a:tblPr>
              <a:tblGrid>
                <a:gridCol w="2673137">
                  <a:extLst>
                    <a:ext uri="{9D8B030D-6E8A-4147-A177-3AD203B41FA5}">
                      <a16:colId xmlns:a16="http://schemas.microsoft.com/office/drawing/2014/main" val="2219150331"/>
                    </a:ext>
                  </a:extLst>
                </a:gridCol>
                <a:gridCol w="2047103">
                  <a:extLst>
                    <a:ext uri="{9D8B030D-6E8A-4147-A177-3AD203B41FA5}">
                      <a16:colId xmlns:a16="http://schemas.microsoft.com/office/drawing/2014/main" val="2190367657"/>
                    </a:ext>
                  </a:extLst>
                </a:gridCol>
                <a:gridCol w="2360120">
                  <a:extLst>
                    <a:ext uri="{9D8B030D-6E8A-4147-A177-3AD203B41FA5}">
                      <a16:colId xmlns:a16="http://schemas.microsoft.com/office/drawing/2014/main" val="4224070422"/>
                    </a:ext>
                  </a:extLst>
                </a:gridCol>
                <a:gridCol w="2360120">
                  <a:extLst>
                    <a:ext uri="{9D8B030D-6E8A-4147-A177-3AD203B41FA5}">
                      <a16:colId xmlns:a16="http://schemas.microsoft.com/office/drawing/2014/main" val="373642776"/>
                    </a:ext>
                  </a:extLst>
                </a:gridCol>
                <a:gridCol w="2360120">
                  <a:extLst>
                    <a:ext uri="{9D8B030D-6E8A-4147-A177-3AD203B41FA5}">
                      <a16:colId xmlns:a16="http://schemas.microsoft.com/office/drawing/2014/main" val="2916574530"/>
                    </a:ext>
                  </a:extLst>
                </a:gridCol>
              </a:tblGrid>
              <a:tr h="370840">
                <a:tc>
                  <a:txBody>
                    <a:bodyPr/>
                    <a:lstStyle/>
                    <a:p>
                      <a:pPr algn="ctr"/>
                      <a:r>
                        <a:rPr lang="en-US" dirty="0"/>
                        <a:t>Branch Name</a:t>
                      </a:r>
                    </a:p>
                  </a:txBody>
                  <a:tcPr/>
                </a:tc>
                <a:tc>
                  <a:txBody>
                    <a:bodyPr/>
                    <a:lstStyle/>
                    <a:p>
                      <a:pPr algn="ctr"/>
                      <a:r>
                        <a:rPr lang="en-US" dirty="0"/>
                        <a:t>City </a:t>
                      </a:r>
                    </a:p>
                  </a:txBody>
                  <a:tcPr/>
                </a:tc>
                <a:tc>
                  <a:txBody>
                    <a:bodyPr/>
                    <a:lstStyle/>
                    <a:p>
                      <a:pPr algn="ctr"/>
                      <a:r>
                        <a:rPr lang="en-US" dirty="0"/>
                        <a:t>Total Gross Profit</a:t>
                      </a:r>
                    </a:p>
                  </a:txBody>
                  <a:tcPr/>
                </a:tc>
                <a:tc>
                  <a:txBody>
                    <a:bodyPr/>
                    <a:lstStyle/>
                    <a:p>
                      <a:pPr algn="ctr"/>
                      <a:r>
                        <a:rPr lang="en-US" dirty="0"/>
                        <a:t>Avg Profit Per Vehicle</a:t>
                      </a:r>
                    </a:p>
                  </a:txBody>
                  <a:tcPr/>
                </a:tc>
                <a:tc>
                  <a:txBody>
                    <a:bodyPr/>
                    <a:lstStyle/>
                    <a:p>
                      <a:pPr algn="ctr"/>
                      <a:r>
                        <a:rPr lang="en-US" dirty="0"/>
                        <a:t>Margin %</a:t>
                      </a:r>
                    </a:p>
                  </a:txBody>
                  <a:tcPr/>
                </a:tc>
                <a:extLst>
                  <a:ext uri="{0D108BD9-81ED-4DB2-BD59-A6C34878D82A}">
                    <a16:rowId xmlns:a16="http://schemas.microsoft.com/office/drawing/2014/main" val="4024986763"/>
                  </a:ext>
                </a:extLst>
              </a:tr>
              <a:tr h="370840">
                <a:tc>
                  <a:txBody>
                    <a:bodyPr/>
                    <a:lstStyle/>
                    <a:p>
                      <a:r>
                        <a:rPr lang="en-US" dirty="0"/>
                        <a:t>Mumbai North Showroom</a:t>
                      </a:r>
                    </a:p>
                  </a:txBody>
                  <a:tcPr/>
                </a:tc>
                <a:tc>
                  <a:txBody>
                    <a:bodyPr/>
                    <a:lstStyle/>
                    <a:p>
                      <a:r>
                        <a:rPr lang="en-US" dirty="0"/>
                        <a:t>Mumbai</a:t>
                      </a:r>
                    </a:p>
                  </a:txBody>
                  <a:tcPr/>
                </a:tc>
                <a:tc>
                  <a:txBody>
                    <a:bodyPr/>
                    <a:lstStyle/>
                    <a:p>
                      <a:pPr algn="ctr">
                        <a:buNone/>
                      </a:pPr>
                      <a:r>
                        <a:rPr lang="en-US"/>
                        <a:t>8,42,08,463</a:t>
                      </a:r>
                      <a:endParaRPr lang="en-US" dirty="0"/>
                    </a:p>
                  </a:txBody>
                  <a:tcPr anchor="ctr"/>
                </a:tc>
                <a:tc>
                  <a:txBody>
                    <a:bodyPr/>
                    <a:lstStyle/>
                    <a:p>
                      <a:pPr algn="ctr">
                        <a:buNone/>
                      </a:pPr>
                      <a:r>
                        <a:rPr lang="en-US"/>
                        <a:t>8,86,405</a:t>
                      </a:r>
                      <a:endParaRPr lang="en-US" dirty="0"/>
                    </a:p>
                  </a:txBody>
                  <a:tcPr anchor="ctr"/>
                </a:tc>
                <a:tc>
                  <a:txBody>
                    <a:bodyPr/>
                    <a:lstStyle/>
                    <a:p>
                      <a:pPr algn="ctr">
                        <a:buNone/>
                      </a:pPr>
                      <a:r>
                        <a:rPr lang="en-US"/>
                        <a:t>18.6%</a:t>
                      </a:r>
                      <a:endParaRPr lang="en-US" dirty="0"/>
                    </a:p>
                  </a:txBody>
                  <a:tcPr anchor="ctr"/>
                </a:tc>
                <a:extLst>
                  <a:ext uri="{0D108BD9-81ED-4DB2-BD59-A6C34878D82A}">
                    <a16:rowId xmlns:a16="http://schemas.microsoft.com/office/drawing/2014/main" val="1573353568"/>
                  </a:ext>
                </a:extLst>
              </a:tr>
              <a:tr h="370840">
                <a:tc>
                  <a:txBody>
                    <a:bodyPr/>
                    <a:lstStyle/>
                    <a:p>
                      <a:r>
                        <a:rPr lang="en-US" dirty="0"/>
                        <a:t>Delhi North Showroom</a:t>
                      </a:r>
                    </a:p>
                  </a:txBody>
                  <a:tcPr/>
                </a:tc>
                <a:tc>
                  <a:txBody>
                    <a:bodyPr/>
                    <a:lstStyle/>
                    <a:p>
                      <a:r>
                        <a:rPr lang="en-US" dirty="0"/>
                        <a:t>Delhi</a:t>
                      </a:r>
                    </a:p>
                  </a:txBody>
                  <a:tcPr/>
                </a:tc>
                <a:tc>
                  <a:txBody>
                    <a:bodyPr/>
                    <a:lstStyle/>
                    <a:p>
                      <a:pPr algn="ctr">
                        <a:buNone/>
                      </a:pPr>
                      <a:r>
                        <a:rPr lang="en-US"/>
                        <a:t>7,98,92,154</a:t>
                      </a:r>
                      <a:endParaRPr lang="en-US" dirty="0"/>
                    </a:p>
                  </a:txBody>
                  <a:tcPr anchor="ctr"/>
                </a:tc>
                <a:tc>
                  <a:txBody>
                    <a:bodyPr/>
                    <a:lstStyle/>
                    <a:p>
                      <a:pPr algn="ctr">
                        <a:buNone/>
                      </a:pPr>
                      <a:r>
                        <a:rPr lang="en-US" dirty="0"/>
                        <a:t>9,07,865</a:t>
                      </a:r>
                    </a:p>
                  </a:txBody>
                  <a:tcPr anchor="ctr"/>
                </a:tc>
                <a:tc>
                  <a:txBody>
                    <a:bodyPr/>
                    <a:lstStyle/>
                    <a:p>
                      <a:pPr algn="ctr">
                        <a:buNone/>
                      </a:pPr>
                      <a:r>
                        <a:rPr lang="en-US" dirty="0"/>
                        <a:t>17.07%</a:t>
                      </a:r>
                    </a:p>
                  </a:txBody>
                  <a:tcPr anchor="ctr"/>
                </a:tc>
                <a:extLst>
                  <a:ext uri="{0D108BD9-81ED-4DB2-BD59-A6C34878D82A}">
                    <a16:rowId xmlns:a16="http://schemas.microsoft.com/office/drawing/2014/main" val="3071444224"/>
                  </a:ext>
                </a:extLst>
              </a:tr>
            </a:tbl>
          </a:graphicData>
        </a:graphic>
      </p:graphicFrame>
      <p:sp>
        <p:nvSpPr>
          <p:cNvPr id="13" name="Title 1">
            <a:extLst>
              <a:ext uri="{FF2B5EF4-FFF2-40B4-BE49-F238E27FC236}">
                <a16:creationId xmlns:a16="http://schemas.microsoft.com/office/drawing/2014/main" id="{C5DD12FF-F579-A061-7618-AA75413845B2}"/>
              </a:ext>
            </a:extLst>
          </p:cNvPr>
          <p:cNvSpPr txBox="1">
            <a:spLocks/>
          </p:cNvSpPr>
          <p:nvPr/>
        </p:nvSpPr>
        <p:spPr>
          <a:xfrm>
            <a:off x="51652" y="2771841"/>
            <a:ext cx="1286194" cy="43267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Year 2024:</a:t>
            </a:r>
          </a:p>
        </p:txBody>
      </p:sp>
    </p:spTree>
    <p:extLst>
      <p:ext uri="{BB962C8B-B14F-4D97-AF65-F5344CB8AC3E}">
        <p14:creationId xmlns:p14="http://schemas.microsoft.com/office/powerpoint/2010/main" val="2840842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56889-9ED8-6385-7361-953DD2850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C64D0-414D-BE14-6C5B-7C2EFE850603}"/>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Gross Profit on category and type of vehicle.</a:t>
            </a:r>
          </a:p>
        </p:txBody>
      </p:sp>
      <p:sp>
        <p:nvSpPr>
          <p:cNvPr id="5" name="Title 1">
            <a:extLst>
              <a:ext uri="{FF2B5EF4-FFF2-40B4-BE49-F238E27FC236}">
                <a16:creationId xmlns:a16="http://schemas.microsoft.com/office/drawing/2014/main" id="{A07371AF-42ED-0C4C-570C-F5C74EB952D8}"/>
              </a:ext>
            </a:extLst>
          </p:cNvPr>
          <p:cNvSpPr txBox="1">
            <a:spLocks/>
          </p:cNvSpPr>
          <p:nvPr/>
        </p:nvSpPr>
        <p:spPr>
          <a:xfrm>
            <a:off x="51653" y="726181"/>
            <a:ext cx="7423107"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Gross Profit on Standard Segment Vehicles sold in Mumbai and Delhi:</a:t>
            </a:r>
          </a:p>
        </p:txBody>
      </p:sp>
      <p:graphicFrame>
        <p:nvGraphicFramePr>
          <p:cNvPr id="8" name="Table 7">
            <a:extLst>
              <a:ext uri="{FF2B5EF4-FFF2-40B4-BE49-F238E27FC236}">
                <a16:creationId xmlns:a16="http://schemas.microsoft.com/office/drawing/2014/main" id="{8E142FA9-9CF2-E1CF-A01C-A81BE2F260F2}"/>
              </a:ext>
            </a:extLst>
          </p:cNvPr>
          <p:cNvGraphicFramePr>
            <a:graphicFrameLocks noGrp="1"/>
          </p:cNvGraphicFramePr>
          <p:nvPr>
            <p:extLst>
              <p:ext uri="{D42A27DB-BD31-4B8C-83A1-F6EECF244321}">
                <p14:modId xmlns:p14="http://schemas.microsoft.com/office/powerpoint/2010/main" val="2042234570"/>
              </p:ext>
            </p:extLst>
          </p:nvPr>
        </p:nvGraphicFramePr>
        <p:xfrm>
          <a:off x="51652" y="1573962"/>
          <a:ext cx="11800600" cy="1112520"/>
        </p:xfrm>
        <a:graphic>
          <a:graphicData uri="http://schemas.openxmlformats.org/drawingml/2006/table">
            <a:tbl>
              <a:tblPr firstRow="1" bandRow="1">
                <a:tableStyleId>{616DA210-FB5B-4158-B5E0-FEB733F419BA}</a:tableStyleId>
              </a:tblPr>
              <a:tblGrid>
                <a:gridCol w="2673137">
                  <a:extLst>
                    <a:ext uri="{9D8B030D-6E8A-4147-A177-3AD203B41FA5}">
                      <a16:colId xmlns:a16="http://schemas.microsoft.com/office/drawing/2014/main" val="2219150331"/>
                    </a:ext>
                  </a:extLst>
                </a:gridCol>
                <a:gridCol w="2047103">
                  <a:extLst>
                    <a:ext uri="{9D8B030D-6E8A-4147-A177-3AD203B41FA5}">
                      <a16:colId xmlns:a16="http://schemas.microsoft.com/office/drawing/2014/main" val="2190367657"/>
                    </a:ext>
                  </a:extLst>
                </a:gridCol>
                <a:gridCol w="2360120">
                  <a:extLst>
                    <a:ext uri="{9D8B030D-6E8A-4147-A177-3AD203B41FA5}">
                      <a16:colId xmlns:a16="http://schemas.microsoft.com/office/drawing/2014/main" val="4224070422"/>
                    </a:ext>
                  </a:extLst>
                </a:gridCol>
                <a:gridCol w="2360120">
                  <a:extLst>
                    <a:ext uri="{9D8B030D-6E8A-4147-A177-3AD203B41FA5}">
                      <a16:colId xmlns:a16="http://schemas.microsoft.com/office/drawing/2014/main" val="373642776"/>
                    </a:ext>
                  </a:extLst>
                </a:gridCol>
                <a:gridCol w="2360120">
                  <a:extLst>
                    <a:ext uri="{9D8B030D-6E8A-4147-A177-3AD203B41FA5}">
                      <a16:colId xmlns:a16="http://schemas.microsoft.com/office/drawing/2014/main" val="2916574530"/>
                    </a:ext>
                  </a:extLst>
                </a:gridCol>
              </a:tblGrid>
              <a:tr h="370840">
                <a:tc>
                  <a:txBody>
                    <a:bodyPr/>
                    <a:lstStyle/>
                    <a:p>
                      <a:pPr algn="ctr"/>
                      <a:r>
                        <a:rPr lang="en-US" dirty="0"/>
                        <a:t>Branch Name</a:t>
                      </a:r>
                    </a:p>
                  </a:txBody>
                  <a:tcPr/>
                </a:tc>
                <a:tc>
                  <a:txBody>
                    <a:bodyPr/>
                    <a:lstStyle/>
                    <a:p>
                      <a:pPr algn="ctr"/>
                      <a:r>
                        <a:rPr lang="en-US" dirty="0"/>
                        <a:t>City </a:t>
                      </a:r>
                    </a:p>
                  </a:txBody>
                  <a:tcPr/>
                </a:tc>
                <a:tc>
                  <a:txBody>
                    <a:bodyPr/>
                    <a:lstStyle/>
                    <a:p>
                      <a:pPr algn="ctr"/>
                      <a:r>
                        <a:rPr lang="en-US" dirty="0"/>
                        <a:t>Total Gross Profit</a:t>
                      </a:r>
                    </a:p>
                  </a:txBody>
                  <a:tcPr/>
                </a:tc>
                <a:tc>
                  <a:txBody>
                    <a:bodyPr/>
                    <a:lstStyle/>
                    <a:p>
                      <a:pPr algn="ctr"/>
                      <a:r>
                        <a:rPr lang="en-US" dirty="0"/>
                        <a:t>Avg Profit Per Vehicle</a:t>
                      </a:r>
                    </a:p>
                  </a:txBody>
                  <a:tcPr/>
                </a:tc>
                <a:tc>
                  <a:txBody>
                    <a:bodyPr/>
                    <a:lstStyle/>
                    <a:p>
                      <a:pPr algn="ctr"/>
                      <a:r>
                        <a:rPr lang="en-US" dirty="0"/>
                        <a:t>Margin %</a:t>
                      </a:r>
                    </a:p>
                  </a:txBody>
                  <a:tcPr/>
                </a:tc>
                <a:extLst>
                  <a:ext uri="{0D108BD9-81ED-4DB2-BD59-A6C34878D82A}">
                    <a16:rowId xmlns:a16="http://schemas.microsoft.com/office/drawing/2014/main" val="4024986763"/>
                  </a:ext>
                </a:extLst>
              </a:tr>
              <a:tr h="370840">
                <a:tc>
                  <a:txBody>
                    <a:bodyPr/>
                    <a:lstStyle/>
                    <a:p>
                      <a:r>
                        <a:rPr lang="en-US" dirty="0"/>
                        <a:t>Mumbai North Showroom</a:t>
                      </a:r>
                    </a:p>
                  </a:txBody>
                  <a:tcPr/>
                </a:tc>
                <a:tc>
                  <a:txBody>
                    <a:bodyPr/>
                    <a:lstStyle/>
                    <a:p>
                      <a:r>
                        <a:rPr lang="en-US" dirty="0"/>
                        <a:t>Mumbai</a:t>
                      </a:r>
                    </a:p>
                  </a:txBody>
                  <a:tcPr/>
                </a:tc>
                <a:tc>
                  <a:txBody>
                    <a:bodyPr/>
                    <a:lstStyle/>
                    <a:p>
                      <a:pPr algn="ctr">
                        <a:buNone/>
                      </a:pPr>
                      <a:r>
                        <a:rPr lang="en-US" dirty="0"/>
                        <a:t>4,29,27,537</a:t>
                      </a:r>
                    </a:p>
                  </a:txBody>
                  <a:tcPr anchor="ctr"/>
                </a:tc>
                <a:tc>
                  <a:txBody>
                    <a:bodyPr/>
                    <a:lstStyle/>
                    <a:p>
                      <a:pPr algn="ctr">
                        <a:buNone/>
                      </a:pPr>
                      <a:r>
                        <a:rPr lang="en-US"/>
                        <a:t>2,45,300</a:t>
                      </a:r>
                    </a:p>
                  </a:txBody>
                  <a:tcPr anchor="ctr"/>
                </a:tc>
                <a:tc>
                  <a:txBody>
                    <a:bodyPr/>
                    <a:lstStyle/>
                    <a:p>
                      <a:pPr algn="ctr">
                        <a:buNone/>
                      </a:pPr>
                      <a:r>
                        <a:rPr lang="en-US"/>
                        <a:t>22.22%</a:t>
                      </a:r>
                    </a:p>
                  </a:txBody>
                  <a:tcPr anchor="ctr"/>
                </a:tc>
                <a:extLst>
                  <a:ext uri="{0D108BD9-81ED-4DB2-BD59-A6C34878D82A}">
                    <a16:rowId xmlns:a16="http://schemas.microsoft.com/office/drawing/2014/main" val="1573353568"/>
                  </a:ext>
                </a:extLst>
              </a:tr>
              <a:tr h="370840">
                <a:tc>
                  <a:txBody>
                    <a:bodyPr/>
                    <a:lstStyle/>
                    <a:p>
                      <a:r>
                        <a:rPr lang="en-US" dirty="0"/>
                        <a:t>Delhi North Showroom</a:t>
                      </a:r>
                    </a:p>
                  </a:txBody>
                  <a:tcPr/>
                </a:tc>
                <a:tc>
                  <a:txBody>
                    <a:bodyPr/>
                    <a:lstStyle/>
                    <a:p>
                      <a:r>
                        <a:rPr lang="en-US" dirty="0"/>
                        <a:t>Delhi</a:t>
                      </a:r>
                    </a:p>
                  </a:txBody>
                  <a:tcPr/>
                </a:tc>
                <a:tc>
                  <a:txBody>
                    <a:bodyPr/>
                    <a:lstStyle/>
                    <a:p>
                      <a:pPr algn="ctr">
                        <a:buNone/>
                      </a:pPr>
                      <a:r>
                        <a:rPr lang="en-US"/>
                        <a:t>3,69,23,107</a:t>
                      </a:r>
                    </a:p>
                  </a:txBody>
                  <a:tcPr anchor="ctr"/>
                </a:tc>
                <a:tc>
                  <a:txBody>
                    <a:bodyPr/>
                    <a:lstStyle/>
                    <a:p>
                      <a:pPr algn="ctr">
                        <a:buNone/>
                      </a:pPr>
                      <a:r>
                        <a:rPr lang="en-US"/>
                        <a:t>2,49,480</a:t>
                      </a:r>
                    </a:p>
                  </a:txBody>
                  <a:tcPr anchor="ctr"/>
                </a:tc>
                <a:tc>
                  <a:txBody>
                    <a:bodyPr/>
                    <a:lstStyle/>
                    <a:p>
                      <a:pPr algn="ctr">
                        <a:buNone/>
                      </a:pPr>
                      <a:r>
                        <a:rPr lang="en-US" dirty="0"/>
                        <a:t>20%</a:t>
                      </a:r>
                    </a:p>
                  </a:txBody>
                  <a:tcPr anchor="ctr"/>
                </a:tc>
                <a:extLst>
                  <a:ext uri="{0D108BD9-81ED-4DB2-BD59-A6C34878D82A}">
                    <a16:rowId xmlns:a16="http://schemas.microsoft.com/office/drawing/2014/main" val="3071444224"/>
                  </a:ext>
                </a:extLst>
              </a:tr>
            </a:tbl>
          </a:graphicData>
        </a:graphic>
      </p:graphicFrame>
      <p:sp>
        <p:nvSpPr>
          <p:cNvPr id="9" name="Title 1">
            <a:extLst>
              <a:ext uri="{FF2B5EF4-FFF2-40B4-BE49-F238E27FC236}">
                <a16:creationId xmlns:a16="http://schemas.microsoft.com/office/drawing/2014/main" id="{BF185A9F-82DE-F3B7-1D97-9CD5341D36EB}"/>
              </a:ext>
            </a:extLst>
          </p:cNvPr>
          <p:cNvSpPr txBox="1">
            <a:spLocks/>
          </p:cNvSpPr>
          <p:nvPr/>
        </p:nvSpPr>
        <p:spPr>
          <a:xfrm>
            <a:off x="51652" y="1158855"/>
            <a:ext cx="1286194" cy="43267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Year 2023:</a:t>
            </a:r>
          </a:p>
        </p:txBody>
      </p:sp>
      <p:graphicFrame>
        <p:nvGraphicFramePr>
          <p:cNvPr id="10" name="Table 9">
            <a:extLst>
              <a:ext uri="{FF2B5EF4-FFF2-40B4-BE49-F238E27FC236}">
                <a16:creationId xmlns:a16="http://schemas.microsoft.com/office/drawing/2014/main" id="{6C8323F6-D9F0-7424-45FB-F6BE4DC0D239}"/>
              </a:ext>
            </a:extLst>
          </p:cNvPr>
          <p:cNvGraphicFramePr>
            <a:graphicFrameLocks noGrp="1"/>
          </p:cNvGraphicFramePr>
          <p:nvPr>
            <p:extLst>
              <p:ext uri="{D42A27DB-BD31-4B8C-83A1-F6EECF244321}">
                <p14:modId xmlns:p14="http://schemas.microsoft.com/office/powerpoint/2010/main" val="2626499170"/>
              </p:ext>
            </p:extLst>
          </p:nvPr>
        </p:nvGraphicFramePr>
        <p:xfrm>
          <a:off x="51652" y="3186948"/>
          <a:ext cx="11800600" cy="1112520"/>
        </p:xfrm>
        <a:graphic>
          <a:graphicData uri="http://schemas.openxmlformats.org/drawingml/2006/table">
            <a:tbl>
              <a:tblPr firstRow="1" bandRow="1">
                <a:tableStyleId>{616DA210-FB5B-4158-B5E0-FEB733F419BA}</a:tableStyleId>
              </a:tblPr>
              <a:tblGrid>
                <a:gridCol w="2673137">
                  <a:extLst>
                    <a:ext uri="{9D8B030D-6E8A-4147-A177-3AD203B41FA5}">
                      <a16:colId xmlns:a16="http://schemas.microsoft.com/office/drawing/2014/main" val="2219150331"/>
                    </a:ext>
                  </a:extLst>
                </a:gridCol>
                <a:gridCol w="2047103">
                  <a:extLst>
                    <a:ext uri="{9D8B030D-6E8A-4147-A177-3AD203B41FA5}">
                      <a16:colId xmlns:a16="http://schemas.microsoft.com/office/drawing/2014/main" val="2190367657"/>
                    </a:ext>
                  </a:extLst>
                </a:gridCol>
                <a:gridCol w="2360120">
                  <a:extLst>
                    <a:ext uri="{9D8B030D-6E8A-4147-A177-3AD203B41FA5}">
                      <a16:colId xmlns:a16="http://schemas.microsoft.com/office/drawing/2014/main" val="4224070422"/>
                    </a:ext>
                  </a:extLst>
                </a:gridCol>
                <a:gridCol w="2360120">
                  <a:extLst>
                    <a:ext uri="{9D8B030D-6E8A-4147-A177-3AD203B41FA5}">
                      <a16:colId xmlns:a16="http://schemas.microsoft.com/office/drawing/2014/main" val="373642776"/>
                    </a:ext>
                  </a:extLst>
                </a:gridCol>
                <a:gridCol w="2360120">
                  <a:extLst>
                    <a:ext uri="{9D8B030D-6E8A-4147-A177-3AD203B41FA5}">
                      <a16:colId xmlns:a16="http://schemas.microsoft.com/office/drawing/2014/main" val="2916574530"/>
                    </a:ext>
                  </a:extLst>
                </a:gridCol>
              </a:tblGrid>
              <a:tr h="370840">
                <a:tc>
                  <a:txBody>
                    <a:bodyPr/>
                    <a:lstStyle/>
                    <a:p>
                      <a:pPr algn="ctr"/>
                      <a:r>
                        <a:rPr lang="en-US" dirty="0"/>
                        <a:t>Branch Name</a:t>
                      </a:r>
                    </a:p>
                  </a:txBody>
                  <a:tcPr/>
                </a:tc>
                <a:tc>
                  <a:txBody>
                    <a:bodyPr/>
                    <a:lstStyle/>
                    <a:p>
                      <a:pPr algn="ctr"/>
                      <a:r>
                        <a:rPr lang="en-US" dirty="0"/>
                        <a:t>City </a:t>
                      </a:r>
                    </a:p>
                  </a:txBody>
                  <a:tcPr/>
                </a:tc>
                <a:tc>
                  <a:txBody>
                    <a:bodyPr/>
                    <a:lstStyle/>
                    <a:p>
                      <a:pPr algn="ctr"/>
                      <a:r>
                        <a:rPr lang="en-US" dirty="0"/>
                        <a:t>Total Gross Profit</a:t>
                      </a:r>
                    </a:p>
                  </a:txBody>
                  <a:tcPr/>
                </a:tc>
                <a:tc>
                  <a:txBody>
                    <a:bodyPr/>
                    <a:lstStyle/>
                    <a:p>
                      <a:pPr algn="ctr"/>
                      <a:r>
                        <a:rPr lang="en-US" dirty="0"/>
                        <a:t>Avg Profit Per Vehicle</a:t>
                      </a:r>
                    </a:p>
                  </a:txBody>
                  <a:tcPr/>
                </a:tc>
                <a:tc>
                  <a:txBody>
                    <a:bodyPr/>
                    <a:lstStyle/>
                    <a:p>
                      <a:pPr algn="ctr"/>
                      <a:r>
                        <a:rPr lang="en-US" dirty="0"/>
                        <a:t>Margin %</a:t>
                      </a:r>
                    </a:p>
                  </a:txBody>
                  <a:tcPr/>
                </a:tc>
                <a:extLst>
                  <a:ext uri="{0D108BD9-81ED-4DB2-BD59-A6C34878D82A}">
                    <a16:rowId xmlns:a16="http://schemas.microsoft.com/office/drawing/2014/main" val="4024986763"/>
                  </a:ext>
                </a:extLst>
              </a:tr>
              <a:tr h="370840">
                <a:tc>
                  <a:txBody>
                    <a:bodyPr/>
                    <a:lstStyle/>
                    <a:p>
                      <a:r>
                        <a:rPr lang="en-US" dirty="0"/>
                        <a:t>Mumbai North Showroom</a:t>
                      </a:r>
                    </a:p>
                  </a:txBody>
                  <a:tcPr/>
                </a:tc>
                <a:tc>
                  <a:txBody>
                    <a:bodyPr/>
                    <a:lstStyle/>
                    <a:p>
                      <a:r>
                        <a:rPr lang="en-US" dirty="0"/>
                        <a:t>Mumbai</a:t>
                      </a:r>
                    </a:p>
                  </a:txBody>
                  <a:tcPr/>
                </a:tc>
                <a:tc>
                  <a:txBody>
                    <a:bodyPr/>
                    <a:lstStyle/>
                    <a:p>
                      <a:pPr algn="ctr">
                        <a:buNone/>
                      </a:pPr>
                      <a:r>
                        <a:rPr lang="en-US" dirty="0"/>
                        <a:t>4,02,44,391</a:t>
                      </a:r>
                    </a:p>
                  </a:txBody>
                  <a:tcPr anchor="ctr"/>
                </a:tc>
                <a:tc>
                  <a:txBody>
                    <a:bodyPr/>
                    <a:lstStyle/>
                    <a:p>
                      <a:pPr algn="ctr">
                        <a:buNone/>
                      </a:pPr>
                      <a:r>
                        <a:rPr lang="en-US"/>
                        <a:t>2,49,965</a:t>
                      </a:r>
                    </a:p>
                  </a:txBody>
                  <a:tcPr anchor="ctr"/>
                </a:tc>
                <a:tc>
                  <a:txBody>
                    <a:bodyPr/>
                    <a:lstStyle/>
                    <a:p>
                      <a:pPr algn="ctr">
                        <a:buNone/>
                      </a:pPr>
                      <a:r>
                        <a:rPr lang="en-US"/>
                        <a:t>23.53%</a:t>
                      </a:r>
                    </a:p>
                  </a:txBody>
                  <a:tcPr anchor="ctr"/>
                </a:tc>
                <a:extLst>
                  <a:ext uri="{0D108BD9-81ED-4DB2-BD59-A6C34878D82A}">
                    <a16:rowId xmlns:a16="http://schemas.microsoft.com/office/drawing/2014/main" val="1573353568"/>
                  </a:ext>
                </a:extLst>
              </a:tr>
              <a:tr h="370840">
                <a:tc>
                  <a:txBody>
                    <a:bodyPr/>
                    <a:lstStyle/>
                    <a:p>
                      <a:r>
                        <a:rPr lang="en-US" dirty="0"/>
                        <a:t>Delhi North Showroom</a:t>
                      </a:r>
                    </a:p>
                  </a:txBody>
                  <a:tcPr/>
                </a:tc>
                <a:tc>
                  <a:txBody>
                    <a:bodyPr/>
                    <a:lstStyle/>
                    <a:p>
                      <a:r>
                        <a:rPr lang="en-US" dirty="0"/>
                        <a:t>Delhi</a:t>
                      </a:r>
                    </a:p>
                  </a:txBody>
                  <a:tcPr/>
                </a:tc>
                <a:tc>
                  <a:txBody>
                    <a:bodyPr/>
                    <a:lstStyle/>
                    <a:p>
                      <a:pPr algn="ctr">
                        <a:buNone/>
                      </a:pPr>
                      <a:r>
                        <a:rPr lang="en-US" dirty="0"/>
                        <a:t>3,13,81,758</a:t>
                      </a:r>
                    </a:p>
                  </a:txBody>
                  <a:tcPr anchor="ctr"/>
                </a:tc>
                <a:tc>
                  <a:txBody>
                    <a:bodyPr/>
                    <a:lstStyle/>
                    <a:p>
                      <a:pPr algn="ctr">
                        <a:buNone/>
                      </a:pPr>
                      <a:r>
                        <a:rPr lang="en-US" dirty="0"/>
                        <a:t>2,45,170</a:t>
                      </a:r>
                    </a:p>
                  </a:txBody>
                  <a:tcPr anchor="ctr"/>
                </a:tc>
                <a:tc>
                  <a:txBody>
                    <a:bodyPr/>
                    <a:lstStyle/>
                    <a:p>
                      <a:pPr algn="ctr">
                        <a:buNone/>
                      </a:pPr>
                      <a:r>
                        <a:rPr lang="en-US" dirty="0"/>
                        <a:t>23.08%</a:t>
                      </a:r>
                    </a:p>
                  </a:txBody>
                  <a:tcPr anchor="ctr"/>
                </a:tc>
                <a:extLst>
                  <a:ext uri="{0D108BD9-81ED-4DB2-BD59-A6C34878D82A}">
                    <a16:rowId xmlns:a16="http://schemas.microsoft.com/office/drawing/2014/main" val="3071444224"/>
                  </a:ext>
                </a:extLst>
              </a:tr>
            </a:tbl>
          </a:graphicData>
        </a:graphic>
      </p:graphicFrame>
      <p:sp>
        <p:nvSpPr>
          <p:cNvPr id="13" name="Title 1">
            <a:extLst>
              <a:ext uri="{FF2B5EF4-FFF2-40B4-BE49-F238E27FC236}">
                <a16:creationId xmlns:a16="http://schemas.microsoft.com/office/drawing/2014/main" id="{4A462229-A487-0FF3-9E50-237EEA9EEE5A}"/>
              </a:ext>
            </a:extLst>
          </p:cNvPr>
          <p:cNvSpPr txBox="1">
            <a:spLocks/>
          </p:cNvSpPr>
          <p:nvPr/>
        </p:nvSpPr>
        <p:spPr>
          <a:xfrm>
            <a:off x="51652" y="2771841"/>
            <a:ext cx="1286194" cy="43267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Year 2024:</a:t>
            </a:r>
          </a:p>
        </p:txBody>
      </p:sp>
    </p:spTree>
    <p:extLst>
      <p:ext uri="{BB962C8B-B14F-4D97-AF65-F5344CB8AC3E}">
        <p14:creationId xmlns:p14="http://schemas.microsoft.com/office/powerpoint/2010/main" val="2318234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4CB9F-7136-C0D5-7FD9-6E63F2E1B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DC6CB-D070-6596-3C40-82E9C338B2A8}"/>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Gross Profit on Vehicle Segment.</a:t>
            </a:r>
          </a:p>
        </p:txBody>
      </p:sp>
      <p:sp>
        <p:nvSpPr>
          <p:cNvPr id="5" name="Title 1">
            <a:extLst>
              <a:ext uri="{FF2B5EF4-FFF2-40B4-BE49-F238E27FC236}">
                <a16:creationId xmlns:a16="http://schemas.microsoft.com/office/drawing/2014/main" id="{7828584D-6DAD-8377-60B6-A93BBBD5D0A2}"/>
              </a:ext>
            </a:extLst>
          </p:cNvPr>
          <p:cNvSpPr txBox="1">
            <a:spLocks/>
          </p:cNvSpPr>
          <p:nvPr/>
        </p:nvSpPr>
        <p:spPr>
          <a:xfrm>
            <a:off x="51653" y="726181"/>
            <a:ext cx="7779048"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Gross Profit on type of vehicle segments in Mumbai and Delhi Showroom:</a:t>
            </a:r>
          </a:p>
        </p:txBody>
      </p:sp>
      <p:sp>
        <p:nvSpPr>
          <p:cNvPr id="9" name="Title 1">
            <a:extLst>
              <a:ext uri="{FF2B5EF4-FFF2-40B4-BE49-F238E27FC236}">
                <a16:creationId xmlns:a16="http://schemas.microsoft.com/office/drawing/2014/main" id="{3C4FFD46-E063-B9B4-420B-E960B65A3F14}"/>
              </a:ext>
            </a:extLst>
          </p:cNvPr>
          <p:cNvSpPr txBox="1">
            <a:spLocks/>
          </p:cNvSpPr>
          <p:nvPr/>
        </p:nvSpPr>
        <p:spPr>
          <a:xfrm>
            <a:off x="51652" y="1158855"/>
            <a:ext cx="1286194" cy="43267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Year 2023:</a:t>
            </a:r>
          </a:p>
        </p:txBody>
      </p:sp>
      <p:graphicFrame>
        <p:nvGraphicFramePr>
          <p:cNvPr id="3" name="Table 2">
            <a:extLst>
              <a:ext uri="{FF2B5EF4-FFF2-40B4-BE49-F238E27FC236}">
                <a16:creationId xmlns:a16="http://schemas.microsoft.com/office/drawing/2014/main" id="{6503B22A-CA76-429E-E103-C98828EC0A8E}"/>
              </a:ext>
            </a:extLst>
          </p:cNvPr>
          <p:cNvGraphicFramePr>
            <a:graphicFrameLocks noGrp="1"/>
          </p:cNvGraphicFramePr>
          <p:nvPr>
            <p:extLst>
              <p:ext uri="{D42A27DB-BD31-4B8C-83A1-F6EECF244321}">
                <p14:modId xmlns:p14="http://schemas.microsoft.com/office/powerpoint/2010/main" val="3572200517"/>
              </p:ext>
            </p:extLst>
          </p:nvPr>
        </p:nvGraphicFramePr>
        <p:xfrm>
          <a:off x="135693" y="1573829"/>
          <a:ext cx="11929476" cy="3337560"/>
        </p:xfrm>
        <a:graphic>
          <a:graphicData uri="http://schemas.openxmlformats.org/drawingml/2006/table">
            <a:tbl>
              <a:tblPr firstRow="1" bandRow="1">
                <a:tableStyleId>{616DA210-FB5B-4158-B5E0-FEB733F419BA}</a:tableStyleId>
              </a:tblPr>
              <a:tblGrid>
                <a:gridCol w="2994508">
                  <a:extLst>
                    <a:ext uri="{9D8B030D-6E8A-4147-A177-3AD203B41FA5}">
                      <a16:colId xmlns:a16="http://schemas.microsoft.com/office/drawing/2014/main" val="2001032469"/>
                    </a:ext>
                  </a:extLst>
                </a:gridCol>
                <a:gridCol w="1362019">
                  <a:extLst>
                    <a:ext uri="{9D8B030D-6E8A-4147-A177-3AD203B41FA5}">
                      <a16:colId xmlns:a16="http://schemas.microsoft.com/office/drawing/2014/main" val="96261705"/>
                    </a:ext>
                  </a:extLst>
                </a:gridCol>
                <a:gridCol w="1650830">
                  <a:extLst>
                    <a:ext uri="{9D8B030D-6E8A-4147-A177-3AD203B41FA5}">
                      <a16:colId xmlns:a16="http://schemas.microsoft.com/office/drawing/2014/main" val="1054460671"/>
                    </a:ext>
                  </a:extLst>
                </a:gridCol>
                <a:gridCol w="1724472">
                  <a:extLst>
                    <a:ext uri="{9D8B030D-6E8A-4147-A177-3AD203B41FA5}">
                      <a16:colId xmlns:a16="http://schemas.microsoft.com/office/drawing/2014/main" val="1213703344"/>
                    </a:ext>
                  </a:extLst>
                </a:gridCol>
                <a:gridCol w="1877895">
                  <a:extLst>
                    <a:ext uri="{9D8B030D-6E8A-4147-A177-3AD203B41FA5}">
                      <a16:colId xmlns:a16="http://schemas.microsoft.com/office/drawing/2014/main" val="879100030"/>
                    </a:ext>
                  </a:extLst>
                </a:gridCol>
                <a:gridCol w="2319752">
                  <a:extLst>
                    <a:ext uri="{9D8B030D-6E8A-4147-A177-3AD203B41FA5}">
                      <a16:colId xmlns:a16="http://schemas.microsoft.com/office/drawing/2014/main" val="3216144168"/>
                    </a:ext>
                  </a:extLst>
                </a:gridCol>
              </a:tblGrid>
              <a:tr h="370840">
                <a:tc>
                  <a:txBody>
                    <a:bodyPr/>
                    <a:lstStyle/>
                    <a:p>
                      <a:r>
                        <a:rPr lang="en-US" dirty="0"/>
                        <a:t>Branch Name</a:t>
                      </a:r>
                    </a:p>
                  </a:txBody>
                  <a:tcPr/>
                </a:tc>
                <a:tc>
                  <a:txBody>
                    <a:bodyPr/>
                    <a:lstStyle/>
                    <a:p>
                      <a:r>
                        <a:rPr lang="en-US" dirty="0"/>
                        <a:t>City</a:t>
                      </a:r>
                    </a:p>
                  </a:txBody>
                  <a:tcPr/>
                </a:tc>
                <a:tc>
                  <a:txBody>
                    <a:bodyPr/>
                    <a:lstStyle/>
                    <a:p>
                      <a:r>
                        <a:rPr lang="en-US" dirty="0"/>
                        <a:t>Segment</a:t>
                      </a:r>
                    </a:p>
                  </a:txBody>
                  <a:tcPr/>
                </a:tc>
                <a:tc>
                  <a:txBody>
                    <a:bodyPr/>
                    <a:lstStyle/>
                    <a:p>
                      <a:pPr algn="ctr"/>
                      <a:r>
                        <a:rPr lang="en-US" dirty="0"/>
                        <a:t>Total Units Sold</a:t>
                      </a:r>
                    </a:p>
                  </a:txBody>
                  <a:tcPr/>
                </a:tc>
                <a:tc>
                  <a:txBody>
                    <a:bodyPr/>
                    <a:lstStyle/>
                    <a:p>
                      <a:pPr algn="ctr"/>
                      <a:r>
                        <a:rPr lang="en-US" dirty="0"/>
                        <a:t>Total Gross Profit</a:t>
                      </a:r>
                    </a:p>
                  </a:txBody>
                  <a:tcPr/>
                </a:tc>
                <a:tc>
                  <a:txBody>
                    <a:bodyPr/>
                    <a:lstStyle/>
                    <a:p>
                      <a:pPr algn="ctr"/>
                      <a:r>
                        <a:rPr lang="en-US" dirty="0"/>
                        <a:t>Avg Profit Per Vehicle</a:t>
                      </a:r>
                    </a:p>
                  </a:txBody>
                  <a:tcPr/>
                </a:tc>
                <a:extLst>
                  <a:ext uri="{0D108BD9-81ED-4DB2-BD59-A6C34878D82A}">
                    <a16:rowId xmlns:a16="http://schemas.microsoft.com/office/drawing/2014/main" val="1296619304"/>
                  </a:ext>
                </a:extLst>
              </a:tr>
              <a:tr h="370840">
                <a:tc>
                  <a:txBody>
                    <a:bodyPr/>
                    <a:lstStyle/>
                    <a:p>
                      <a:pPr>
                        <a:buNone/>
                      </a:pPr>
                      <a:r>
                        <a:rPr lang="en-US" dirty="0"/>
                        <a:t>Mumbai North Showroom</a:t>
                      </a:r>
                    </a:p>
                  </a:txBody>
                  <a:tcPr anchor="ctr"/>
                </a:tc>
                <a:tc>
                  <a:txBody>
                    <a:bodyPr/>
                    <a:lstStyle/>
                    <a:p>
                      <a:pPr>
                        <a:buNone/>
                      </a:pPr>
                      <a:r>
                        <a:rPr lang="en-US" dirty="0"/>
                        <a:t>Mumbai</a:t>
                      </a:r>
                    </a:p>
                  </a:txBody>
                  <a:tcPr anchor="ctr"/>
                </a:tc>
                <a:tc>
                  <a:txBody>
                    <a:bodyPr/>
                    <a:lstStyle/>
                    <a:p>
                      <a:pPr>
                        <a:buNone/>
                      </a:pPr>
                      <a:r>
                        <a:rPr lang="en-US" dirty="0"/>
                        <a:t>Hatchback</a:t>
                      </a:r>
                    </a:p>
                  </a:txBody>
                  <a:tcPr anchor="ctr"/>
                </a:tc>
                <a:tc>
                  <a:txBody>
                    <a:bodyPr/>
                    <a:lstStyle/>
                    <a:p>
                      <a:pPr algn="ctr">
                        <a:buNone/>
                      </a:pPr>
                      <a:r>
                        <a:rPr lang="en-US" dirty="0"/>
                        <a:t>59</a:t>
                      </a:r>
                    </a:p>
                  </a:txBody>
                  <a:tcPr anchor="ctr"/>
                </a:tc>
                <a:tc>
                  <a:txBody>
                    <a:bodyPr/>
                    <a:lstStyle/>
                    <a:p>
                      <a:pPr algn="ctr">
                        <a:buNone/>
                      </a:pPr>
                      <a:r>
                        <a:rPr lang="en-US" dirty="0"/>
                        <a:t>92,32,572</a:t>
                      </a:r>
                    </a:p>
                  </a:txBody>
                  <a:tcPr anchor="ctr"/>
                </a:tc>
                <a:tc>
                  <a:txBody>
                    <a:bodyPr/>
                    <a:lstStyle/>
                    <a:p>
                      <a:pPr algn="ctr">
                        <a:buNone/>
                      </a:pPr>
                      <a:r>
                        <a:rPr lang="en-US" dirty="0"/>
                        <a:t>1,56,484</a:t>
                      </a:r>
                    </a:p>
                  </a:txBody>
                  <a:tcPr anchor="ctr"/>
                </a:tc>
                <a:extLst>
                  <a:ext uri="{0D108BD9-81ED-4DB2-BD59-A6C34878D82A}">
                    <a16:rowId xmlns:a16="http://schemas.microsoft.com/office/drawing/2014/main" val="3297113363"/>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a:buNone/>
                      </a:pPr>
                      <a:r>
                        <a:rPr lang="en-US" dirty="0"/>
                        <a:t>Hatchback</a:t>
                      </a:r>
                    </a:p>
                  </a:txBody>
                  <a:tcPr anchor="ctr"/>
                </a:tc>
                <a:tc>
                  <a:txBody>
                    <a:bodyPr/>
                    <a:lstStyle/>
                    <a:p>
                      <a:pPr algn="ctr">
                        <a:buNone/>
                      </a:pPr>
                      <a:r>
                        <a:rPr lang="en-US" dirty="0"/>
                        <a:t>47</a:t>
                      </a:r>
                    </a:p>
                  </a:txBody>
                  <a:tcPr anchor="ctr"/>
                </a:tc>
                <a:tc>
                  <a:txBody>
                    <a:bodyPr/>
                    <a:lstStyle/>
                    <a:p>
                      <a:pPr algn="ctr">
                        <a:buNone/>
                      </a:pPr>
                      <a:r>
                        <a:rPr lang="en-US"/>
                        <a:t>76,28,248</a:t>
                      </a:r>
                    </a:p>
                  </a:txBody>
                  <a:tcPr anchor="ctr"/>
                </a:tc>
                <a:tc>
                  <a:txBody>
                    <a:bodyPr/>
                    <a:lstStyle/>
                    <a:p>
                      <a:pPr algn="ctr">
                        <a:buNone/>
                      </a:pPr>
                      <a:r>
                        <a:rPr lang="en-US" dirty="0">
                          <a:solidFill>
                            <a:srgbClr val="FF0000"/>
                          </a:solidFill>
                        </a:rPr>
                        <a:t>1,62,303</a:t>
                      </a:r>
                    </a:p>
                  </a:txBody>
                  <a:tcPr anchor="ctr"/>
                </a:tc>
                <a:extLst>
                  <a:ext uri="{0D108BD9-81ED-4DB2-BD59-A6C34878D82A}">
                    <a16:rowId xmlns:a16="http://schemas.microsoft.com/office/drawing/2014/main" val="3988619554"/>
                  </a:ext>
                </a:extLst>
              </a:tr>
              <a:tr h="370840">
                <a:tc>
                  <a:txBody>
                    <a:bodyPr/>
                    <a:lstStyle/>
                    <a:p>
                      <a:pPr>
                        <a:buNone/>
                      </a:pPr>
                      <a:r>
                        <a:rPr lang="en-US" dirty="0"/>
                        <a:t>Mumbai North Showroom</a:t>
                      </a:r>
                    </a:p>
                  </a:txBody>
                  <a:tcPr anchor="ctr"/>
                </a:tc>
                <a:tc>
                  <a:txBody>
                    <a:bodyPr/>
                    <a:lstStyle/>
                    <a:p>
                      <a:pPr>
                        <a:buNone/>
                      </a:pPr>
                      <a:r>
                        <a:rPr lang="en-US"/>
                        <a:t>Mumbai</a:t>
                      </a:r>
                    </a:p>
                  </a:txBody>
                  <a:tcPr anchor="ctr"/>
                </a:tc>
                <a:tc>
                  <a:txBody>
                    <a:bodyPr/>
                    <a:lstStyle/>
                    <a:p>
                      <a:pPr>
                        <a:buNone/>
                      </a:pPr>
                      <a:r>
                        <a:rPr lang="en-US" dirty="0"/>
                        <a:t>Sedan</a:t>
                      </a:r>
                    </a:p>
                  </a:txBody>
                  <a:tcPr anchor="ctr"/>
                </a:tc>
                <a:tc>
                  <a:txBody>
                    <a:bodyPr/>
                    <a:lstStyle/>
                    <a:p>
                      <a:pPr algn="ctr">
                        <a:buNone/>
                      </a:pPr>
                      <a:r>
                        <a:rPr lang="en-US" dirty="0"/>
                        <a:t>57</a:t>
                      </a:r>
                    </a:p>
                  </a:txBody>
                  <a:tcPr anchor="ctr"/>
                </a:tc>
                <a:tc>
                  <a:txBody>
                    <a:bodyPr/>
                    <a:lstStyle/>
                    <a:p>
                      <a:pPr algn="ctr">
                        <a:buNone/>
                      </a:pPr>
                      <a:r>
                        <a:rPr lang="en-US" dirty="0"/>
                        <a:t>1,98,53,502</a:t>
                      </a:r>
                    </a:p>
                  </a:txBody>
                  <a:tcPr anchor="ctr"/>
                </a:tc>
                <a:tc>
                  <a:txBody>
                    <a:bodyPr/>
                    <a:lstStyle/>
                    <a:p>
                      <a:pPr algn="ctr">
                        <a:buNone/>
                      </a:pPr>
                      <a:r>
                        <a:rPr lang="en-US" dirty="0"/>
                        <a:t>3,48,307</a:t>
                      </a:r>
                    </a:p>
                  </a:txBody>
                  <a:tcPr anchor="ctr"/>
                </a:tc>
                <a:extLst>
                  <a:ext uri="{0D108BD9-81ED-4DB2-BD59-A6C34878D82A}">
                    <a16:rowId xmlns:a16="http://schemas.microsoft.com/office/drawing/2014/main" val="2444035341"/>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Sedan</a:t>
                      </a:r>
                    </a:p>
                  </a:txBody>
                  <a:tcPr anchor="ctr"/>
                </a:tc>
                <a:tc>
                  <a:txBody>
                    <a:bodyPr/>
                    <a:lstStyle/>
                    <a:p>
                      <a:pPr algn="ctr">
                        <a:buNone/>
                      </a:pPr>
                      <a:r>
                        <a:rPr lang="en-US" dirty="0"/>
                        <a:t>57</a:t>
                      </a:r>
                    </a:p>
                  </a:txBody>
                  <a:tcPr anchor="ctr"/>
                </a:tc>
                <a:tc>
                  <a:txBody>
                    <a:bodyPr/>
                    <a:lstStyle/>
                    <a:p>
                      <a:pPr algn="ctr">
                        <a:buNone/>
                      </a:pPr>
                      <a:r>
                        <a:rPr lang="en-US"/>
                        <a:t>2,08,84,825</a:t>
                      </a:r>
                    </a:p>
                  </a:txBody>
                  <a:tcPr anchor="ctr"/>
                </a:tc>
                <a:tc>
                  <a:txBody>
                    <a:bodyPr/>
                    <a:lstStyle/>
                    <a:p>
                      <a:pPr algn="ctr">
                        <a:buNone/>
                      </a:pPr>
                      <a:r>
                        <a:rPr lang="en-US" dirty="0">
                          <a:solidFill>
                            <a:srgbClr val="FF0000"/>
                          </a:solidFill>
                        </a:rPr>
                        <a:t>3,66,400</a:t>
                      </a:r>
                    </a:p>
                  </a:txBody>
                  <a:tcPr anchor="ctr"/>
                </a:tc>
                <a:extLst>
                  <a:ext uri="{0D108BD9-81ED-4DB2-BD59-A6C34878D82A}">
                    <a16:rowId xmlns:a16="http://schemas.microsoft.com/office/drawing/2014/main" val="923920110"/>
                  </a:ext>
                </a:extLst>
              </a:tr>
              <a:tr h="370840">
                <a:tc>
                  <a:txBody>
                    <a:bodyPr/>
                    <a:lstStyle/>
                    <a:p>
                      <a:pPr>
                        <a:buNone/>
                      </a:pPr>
                      <a:r>
                        <a:rPr lang="en-US" dirty="0"/>
                        <a:t>Mumbai North Showroom</a:t>
                      </a:r>
                    </a:p>
                  </a:txBody>
                  <a:tcPr anchor="ctr"/>
                </a:tc>
                <a:tc>
                  <a:txBody>
                    <a:bodyPr/>
                    <a:lstStyle/>
                    <a:p>
                      <a:pPr>
                        <a:buNone/>
                      </a:pPr>
                      <a:r>
                        <a:rPr lang="en-US"/>
                        <a:t>Mumbai</a:t>
                      </a:r>
                    </a:p>
                  </a:txBody>
                  <a:tcPr anchor="ctr"/>
                </a:tc>
                <a:tc>
                  <a:txBody>
                    <a:bodyPr/>
                    <a:lstStyle/>
                    <a:p>
                      <a:pPr>
                        <a:buNone/>
                      </a:pPr>
                      <a:r>
                        <a:rPr lang="en-US" dirty="0"/>
                        <a:t>SUV</a:t>
                      </a:r>
                    </a:p>
                  </a:txBody>
                  <a:tcPr anchor="ctr"/>
                </a:tc>
                <a:tc>
                  <a:txBody>
                    <a:bodyPr/>
                    <a:lstStyle/>
                    <a:p>
                      <a:pPr algn="ctr">
                        <a:buNone/>
                      </a:pPr>
                      <a:r>
                        <a:rPr lang="en-US" dirty="0"/>
                        <a:t>125</a:t>
                      </a:r>
                    </a:p>
                  </a:txBody>
                  <a:tcPr anchor="ctr"/>
                </a:tc>
                <a:tc>
                  <a:txBody>
                    <a:bodyPr/>
                    <a:lstStyle/>
                    <a:p>
                      <a:pPr algn="ctr">
                        <a:buNone/>
                      </a:pPr>
                      <a:r>
                        <a:rPr lang="en-US" dirty="0"/>
                        <a:t>5,99,86,709</a:t>
                      </a:r>
                    </a:p>
                  </a:txBody>
                  <a:tcPr anchor="ctr"/>
                </a:tc>
                <a:tc>
                  <a:txBody>
                    <a:bodyPr/>
                    <a:lstStyle/>
                    <a:p>
                      <a:pPr algn="ctr">
                        <a:buNone/>
                      </a:pPr>
                      <a:r>
                        <a:rPr lang="en-US" dirty="0"/>
                        <a:t>4,79,894</a:t>
                      </a:r>
                    </a:p>
                  </a:txBody>
                  <a:tcPr anchor="ctr"/>
                </a:tc>
                <a:extLst>
                  <a:ext uri="{0D108BD9-81ED-4DB2-BD59-A6C34878D82A}">
                    <a16:rowId xmlns:a16="http://schemas.microsoft.com/office/drawing/2014/main" val="4240954598"/>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a:buNone/>
                      </a:pPr>
                      <a:r>
                        <a:rPr lang="en-US" dirty="0"/>
                        <a:t>SUV</a:t>
                      </a:r>
                    </a:p>
                  </a:txBody>
                  <a:tcPr anchor="ctr"/>
                </a:tc>
                <a:tc>
                  <a:txBody>
                    <a:bodyPr/>
                    <a:lstStyle/>
                    <a:p>
                      <a:pPr algn="ctr">
                        <a:buNone/>
                      </a:pPr>
                      <a:r>
                        <a:rPr lang="en-US" dirty="0"/>
                        <a:t>113</a:t>
                      </a:r>
                    </a:p>
                  </a:txBody>
                  <a:tcPr anchor="ctr"/>
                </a:tc>
                <a:tc>
                  <a:txBody>
                    <a:bodyPr/>
                    <a:lstStyle/>
                    <a:p>
                      <a:pPr algn="ctr">
                        <a:buNone/>
                      </a:pPr>
                      <a:r>
                        <a:rPr lang="en-US"/>
                        <a:t>5,04,62,377</a:t>
                      </a:r>
                    </a:p>
                  </a:txBody>
                  <a:tcPr anchor="ctr"/>
                </a:tc>
                <a:tc>
                  <a:txBody>
                    <a:bodyPr/>
                    <a:lstStyle/>
                    <a:p>
                      <a:pPr algn="ctr">
                        <a:buNone/>
                      </a:pPr>
                      <a:r>
                        <a:rPr lang="en-US" dirty="0"/>
                        <a:t>4,46,570</a:t>
                      </a:r>
                    </a:p>
                  </a:txBody>
                  <a:tcPr anchor="ctr"/>
                </a:tc>
                <a:extLst>
                  <a:ext uri="{0D108BD9-81ED-4DB2-BD59-A6C34878D82A}">
                    <a16:rowId xmlns:a16="http://schemas.microsoft.com/office/drawing/2014/main" val="3868081375"/>
                  </a:ext>
                </a:extLst>
              </a:tr>
              <a:tr h="370840">
                <a:tc>
                  <a:txBody>
                    <a:bodyPr/>
                    <a:lstStyle/>
                    <a:p>
                      <a:pPr>
                        <a:buNone/>
                      </a:pPr>
                      <a:r>
                        <a:rPr lang="en-US" dirty="0"/>
                        <a:t>Mumbai North Showroom</a:t>
                      </a:r>
                    </a:p>
                  </a:txBody>
                  <a:tcPr anchor="ctr"/>
                </a:tc>
                <a:tc>
                  <a:txBody>
                    <a:bodyPr/>
                    <a:lstStyle/>
                    <a:p>
                      <a:pPr>
                        <a:buNone/>
                      </a:pPr>
                      <a:r>
                        <a:rPr lang="en-US"/>
                        <a:t>Mumbai</a:t>
                      </a:r>
                    </a:p>
                  </a:txBody>
                  <a:tcPr anchor="ctr"/>
                </a:tc>
                <a:tc>
                  <a:txBody>
                    <a:bodyPr/>
                    <a:lstStyle/>
                    <a:p>
                      <a:pPr>
                        <a:buNone/>
                      </a:pPr>
                      <a:r>
                        <a:rPr lang="en-US" dirty="0"/>
                        <a:t>Luxury</a:t>
                      </a:r>
                    </a:p>
                  </a:txBody>
                  <a:tcPr anchor="ctr"/>
                </a:tc>
                <a:tc>
                  <a:txBody>
                    <a:bodyPr/>
                    <a:lstStyle/>
                    <a:p>
                      <a:pPr algn="ctr">
                        <a:buNone/>
                      </a:pPr>
                      <a:r>
                        <a:rPr lang="en-US" dirty="0"/>
                        <a:t>34</a:t>
                      </a:r>
                    </a:p>
                  </a:txBody>
                  <a:tcPr anchor="ctr"/>
                </a:tc>
                <a:tc>
                  <a:txBody>
                    <a:bodyPr/>
                    <a:lstStyle/>
                    <a:p>
                      <a:pPr algn="ctr">
                        <a:buNone/>
                      </a:pPr>
                      <a:r>
                        <a:rPr lang="en-US"/>
                        <a:t>5,66,27,347</a:t>
                      </a:r>
                    </a:p>
                  </a:txBody>
                  <a:tcPr anchor="ctr"/>
                </a:tc>
                <a:tc>
                  <a:txBody>
                    <a:bodyPr/>
                    <a:lstStyle/>
                    <a:p>
                      <a:pPr algn="ctr">
                        <a:buNone/>
                      </a:pPr>
                      <a:r>
                        <a:rPr lang="en-US" dirty="0"/>
                        <a:t>16,65,510</a:t>
                      </a:r>
                    </a:p>
                  </a:txBody>
                  <a:tcPr anchor="ctr"/>
                </a:tc>
                <a:extLst>
                  <a:ext uri="{0D108BD9-81ED-4DB2-BD59-A6C34878D82A}">
                    <a16:rowId xmlns:a16="http://schemas.microsoft.com/office/drawing/2014/main" val="882733758"/>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a:buNone/>
                      </a:pPr>
                      <a:r>
                        <a:rPr lang="en-US" dirty="0"/>
                        <a:t>Luxury</a:t>
                      </a:r>
                    </a:p>
                  </a:txBody>
                  <a:tcPr anchor="ctr"/>
                </a:tc>
                <a:tc>
                  <a:txBody>
                    <a:bodyPr/>
                    <a:lstStyle/>
                    <a:p>
                      <a:pPr algn="ctr">
                        <a:buNone/>
                      </a:pPr>
                      <a:r>
                        <a:rPr lang="en-US" dirty="0"/>
                        <a:t>30</a:t>
                      </a:r>
                    </a:p>
                  </a:txBody>
                  <a:tcPr anchor="ctr"/>
                </a:tc>
                <a:tc>
                  <a:txBody>
                    <a:bodyPr/>
                    <a:lstStyle/>
                    <a:p>
                      <a:pPr algn="ctr">
                        <a:buNone/>
                      </a:pPr>
                      <a:r>
                        <a:rPr lang="en-US" dirty="0"/>
                        <a:t>5,34,08,733</a:t>
                      </a:r>
                    </a:p>
                  </a:txBody>
                  <a:tcPr anchor="ctr"/>
                </a:tc>
                <a:tc>
                  <a:txBody>
                    <a:bodyPr/>
                    <a:lstStyle/>
                    <a:p>
                      <a:pPr algn="ctr">
                        <a:buNone/>
                      </a:pPr>
                      <a:r>
                        <a:rPr lang="en-US" dirty="0">
                          <a:solidFill>
                            <a:srgbClr val="FF0000"/>
                          </a:solidFill>
                        </a:rPr>
                        <a:t>17,80,291</a:t>
                      </a:r>
                    </a:p>
                  </a:txBody>
                  <a:tcPr anchor="ctr"/>
                </a:tc>
                <a:extLst>
                  <a:ext uri="{0D108BD9-81ED-4DB2-BD59-A6C34878D82A}">
                    <a16:rowId xmlns:a16="http://schemas.microsoft.com/office/drawing/2014/main" val="770809825"/>
                  </a:ext>
                </a:extLst>
              </a:tr>
            </a:tbl>
          </a:graphicData>
        </a:graphic>
      </p:graphicFrame>
    </p:spTree>
    <p:extLst>
      <p:ext uri="{BB962C8B-B14F-4D97-AF65-F5344CB8AC3E}">
        <p14:creationId xmlns:p14="http://schemas.microsoft.com/office/powerpoint/2010/main" val="1734726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1BBB-2C9A-421A-64E6-717CAE7F8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69BA5-6BDF-01CC-2CC0-6343CBB9FC0A}"/>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Gross Profit on Vehicle Segment.</a:t>
            </a:r>
          </a:p>
        </p:txBody>
      </p:sp>
      <p:sp>
        <p:nvSpPr>
          <p:cNvPr id="5" name="Title 1">
            <a:extLst>
              <a:ext uri="{FF2B5EF4-FFF2-40B4-BE49-F238E27FC236}">
                <a16:creationId xmlns:a16="http://schemas.microsoft.com/office/drawing/2014/main" id="{FEDB514A-B571-A922-94F0-178763903456}"/>
              </a:ext>
            </a:extLst>
          </p:cNvPr>
          <p:cNvSpPr txBox="1">
            <a:spLocks/>
          </p:cNvSpPr>
          <p:nvPr/>
        </p:nvSpPr>
        <p:spPr>
          <a:xfrm>
            <a:off x="51653" y="726181"/>
            <a:ext cx="7938607"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Gross Profit on type of vehicle segments in Mumbai and Delhi Showroom:</a:t>
            </a:r>
          </a:p>
        </p:txBody>
      </p:sp>
      <p:sp>
        <p:nvSpPr>
          <p:cNvPr id="9" name="Title 1">
            <a:extLst>
              <a:ext uri="{FF2B5EF4-FFF2-40B4-BE49-F238E27FC236}">
                <a16:creationId xmlns:a16="http://schemas.microsoft.com/office/drawing/2014/main" id="{A7057C4F-C514-79DE-4A74-17252D7737DF}"/>
              </a:ext>
            </a:extLst>
          </p:cNvPr>
          <p:cNvSpPr txBox="1">
            <a:spLocks/>
          </p:cNvSpPr>
          <p:nvPr/>
        </p:nvSpPr>
        <p:spPr>
          <a:xfrm>
            <a:off x="51652" y="1158855"/>
            <a:ext cx="1286194" cy="43267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Year 2024:</a:t>
            </a:r>
          </a:p>
        </p:txBody>
      </p:sp>
      <p:graphicFrame>
        <p:nvGraphicFramePr>
          <p:cNvPr id="3" name="Table 2">
            <a:extLst>
              <a:ext uri="{FF2B5EF4-FFF2-40B4-BE49-F238E27FC236}">
                <a16:creationId xmlns:a16="http://schemas.microsoft.com/office/drawing/2014/main" id="{660DEED7-C4C4-8E60-3BFA-D780C91144E5}"/>
              </a:ext>
            </a:extLst>
          </p:cNvPr>
          <p:cNvGraphicFramePr>
            <a:graphicFrameLocks noGrp="1"/>
          </p:cNvGraphicFramePr>
          <p:nvPr>
            <p:extLst>
              <p:ext uri="{D42A27DB-BD31-4B8C-83A1-F6EECF244321}">
                <p14:modId xmlns:p14="http://schemas.microsoft.com/office/powerpoint/2010/main" val="393675586"/>
              </p:ext>
            </p:extLst>
          </p:nvPr>
        </p:nvGraphicFramePr>
        <p:xfrm>
          <a:off x="135693" y="1573829"/>
          <a:ext cx="11929476" cy="3337560"/>
        </p:xfrm>
        <a:graphic>
          <a:graphicData uri="http://schemas.openxmlformats.org/drawingml/2006/table">
            <a:tbl>
              <a:tblPr firstRow="1" bandRow="1">
                <a:tableStyleId>{616DA210-FB5B-4158-B5E0-FEB733F419BA}</a:tableStyleId>
              </a:tblPr>
              <a:tblGrid>
                <a:gridCol w="2994508">
                  <a:extLst>
                    <a:ext uri="{9D8B030D-6E8A-4147-A177-3AD203B41FA5}">
                      <a16:colId xmlns:a16="http://schemas.microsoft.com/office/drawing/2014/main" val="2001032469"/>
                    </a:ext>
                  </a:extLst>
                </a:gridCol>
                <a:gridCol w="1362019">
                  <a:extLst>
                    <a:ext uri="{9D8B030D-6E8A-4147-A177-3AD203B41FA5}">
                      <a16:colId xmlns:a16="http://schemas.microsoft.com/office/drawing/2014/main" val="96261705"/>
                    </a:ext>
                  </a:extLst>
                </a:gridCol>
                <a:gridCol w="1650830">
                  <a:extLst>
                    <a:ext uri="{9D8B030D-6E8A-4147-A177-3AD203B41FA5}">
                      <a16:colId xmlns:a16="http://schemas.microsoft.com/office/drawing/2014/main" val="1054460671"/>
                    </a:ext>
                  </a:extLst>
                </a:gridCol>
                <a:gridCol w="1724472">
                  <a:extLst>
                    <a:ext uri="{9D8B030D-6E8A-4147-A177-3AD203B41FA5}">
                      <a16:colId xmlns:a16="http://schemas.microsoft.com/office/drawing/2014/main" val="1213703344"/>
                    </a:ext>
                  </a:extLst>
                </a:gridCol>
                <a:gridCol w="1877895">
                  <a:extLst>
                    <a:ext uri="{9D8B030D-6E8A-4147-A177-3AD203B41FA5}">
                      <a16:colId xmlns:a16="http://schemas.microsoft.com/office/drawing/2014/main" val="879100030"/>
                    </a:ext>
                  </a:extLst>
                </a:gridCol>
                <a:gridCol w="2319752">
                  <a:extLst>
                    <a:ext uri="{9D8B030D-6E8A-4147-A177-3AD203B41FA5}">
                      <a16:colId xmlns:a16="http://schemas.microsoft.com/office/drawing/2014/main" val="3216144168"/>
                    </a:ext>
                  </a:extLst>
                </a:gridCol>
              </a:tblGrid>
              <a:tr h="370840">
                <a:tc>
                  <a:txBody>
                    <a:bodyPr/>
                    <a:lstStyle/>
                    <a:p>
                      <a:r>
                        <a:rPr lang="en-US" dirty="0"/>
                        <a:t>Branch Name</a:t>
                      </a:r>
                    </a:p>
                  </a:txBody>
                  <a:tcPr/>
                </a:tc>
                <a:tc>
                  <a:txBody>
                    <a:bodyPr/>
                    <a:lstStyle/>
                    <a:p>
                      <a:r>
                        <a:rPr lang="en-US" dirty="0"/>
                        <a:t>City</a:t>
                      </a:r>
                    </a:p>
                  </a:txBody>
                  <a:tcPr/>
                </a:tc>
                <a:tc>
                  <a:txBody>
                    <a:bodyPr/>
                    <a:lstStyle/>
                    <a:p>
                      <a:r>
                        <a:rPr lang="en-US" dirty="0"/>
                        <a:t>Segment</a:t>
                      </a:r>
                    </a:p>
                  </a:txBody>
                  <a:tcPr/>
                </a:tc>
                <a:tc>
                  <a:txBody>
                    <a:bodyPr/>
                    <a:lstStyle/>
                    <a:p>
                      <a:pPr algn="ctr"/>
                      <a:r>
                        <a:rPr lang="en-US" dirty="0"/>
                        <a:t>Total Units Sold</a:t>
                      </a:r>
                    </a:p>
                  </a:txBody>
                  <a:tcPr/>
                </a:tc>
                <a:tc>
                  <a:txBody>
                    <a:bodyPr/>
                    <a:lstStyle/>
                    <a:p>
                      <a:pPr algn="ctr"/>
                      <a:r>
                        <a:rPr lang="en-US" dirty="0"/>
                        <a:t>Total Gross Profit</a:t>
                      </a:r>
                    </a:p>
                  </a:txBody>
                  <a:tcPr/>
                </a:tc>
                <a:tc>
                  <a:txBody>
                    <a:bodyPr/>
                    <a:lstStyle/>
                    <a:p>
                      <a:pPr algn="ctr"/>
                      <a:r>
                        <a:rPr lang="en-US" dirty="0"/>
                        <a:t>Avg Profit Per Vehicle</a:t>
                      </a:r>
                    </a:p>
                  </a:txBody>
                  <a:tcPr/>
                </a:tc>
                <a:extLst>
                  <a:ext uri="{0D108BD9-81ED-4DB2-BD59-A6C34878D82A}">
                    <a16:rowId xmlns:a16="http://schemas.microsoft.com/office/drawing/2014/main" val="1296619304"/>
                  </a:ext>
                </a:extLst>
              </a:tr>
              <a:tr h="370840">
                <a:tc>
                  <a:txBody>
                    <a:bodyPr/>
                    <a:lstStyle/>
                    <a:p>
                      <a:pPr>
                        <a:buNone/>
                      </a:pPr>
                      <a:r>
                        <a:rPr lang="en-US" dirty="0"/>
                        <a:t>Mumbai North Showroom</a:t>
                      </a:r>
                    </a:p>
                  </a:txBody>
                  <a:tcPr anchor="ctr"/>
                </a:tc>
                <a:tc>
                  <a:txBody>
                    <a:bodyPr/>
                    <a:lstStyle/>
                    <a:p>
                      <a:pPr>
                        <a:buNone/>
                      </a:pPr>
                      <a:r>
                        <a:rPr lang="en-US" dirty="0"/>
                        <a:t>Mumbai</a:t>
                      </a:r>
                    </a:p>
                  </a:txBody>
                  <a:tcPr anchor="ctr"/>
                </a:tc>
                <a:tc>
                  <a:txBody>
                    <a:bodyPr/>
                    <a:lstStyle/>
                    <a:p>
                      <a:pPr>
                        <a:buNone/>
                      </a:pPr>
                      <a:r>
                        <a:rPr lang="en-US"/>
                        <a:t>Hatchback</a:t>
                      </a:r>
                    </a:p>
                  </a:txBody>
                  <a:tcPr anchor="ctr"/>
                </a:tc>
                <a:tc>
                  <a:txBody>
                    <a:bodyPr/>
                    <a:lstStyle/>
                    <a:p>
                      <a:pPr algn="ctr">
                        <a:buNone/>
                      </a:pPr>
                      <a:r>
                        <a:rPr lang="en-US" dirty="0"/>
                        <a:t>51</a:t>
                      </a:r>
                    </a:p>
                  </a:txBody>
                  <a:tcPr anchor="ctr"/>
                </a:tc>
                <a:tc>
                  <a:txBody>
                    <a:bodyPr/>
                    <a:lstStyle/>
                    <a:p>
                      <a:pPr algn="ctr">
                        <a:buNone/>
                      </a:pPr>
                      <a:r>
                        <a:rPr lang="en-US" dirty="0"/>
                        <a:t>85,38,508</a:t>
                      </a:r>
                    </a:p>
                  </a:txBody>
                  <a:tcPr anchor="ctr"/>
                </a:tc>
                <a:tc>
                  <a:txBody>
                    <a:bodyPr/>
                    <a:lstStyle/>
                    <a:p>
                      <a:pPr algn="ctr">
                        <a:buNone/>
                      </a:pPr>
                      <a:r>
                        <a:rPr lang="en-US" dirty="0"/>
                        <a:t>1,67,422</a:t>
                      </a:r>
                    </a:p>
                  </a:txBody>
                  <a:tcPr anchor="ctr"/>
                </a:tc>
                <a:extLst>
                  <a:ext uri="{0D108BD9-81ED-4DB2-BD59-A6C34878D82A}">
                    <a16:rowId xmlns:a16="http://schemas.microsoft.com/office/drawing/2014/main" val="3297113363"/>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a:buNone/>
                      </a:pPr>
                      <a:r>
                        <a:rPr lang="en-US" dirty="0"/>
                        <a:t>Hatchback</a:t>
                      </a:r>
                    </a:p>
                  </a:txBody>
                  <a:tcPr anchor="ctr"/>
                </a:tc>
                <a:tc>
                  <a:txBody>
                    <a:bodyPr/>
                    <a:lstStyle/>
                    <a:p>
                      <a:pPr algn="ctr">
                        <a:buNone/>
                      </a:pPr>
                      <a:r>
                        <a:rPr lang="en-US"/>
                        <a:t>48</a:t>
                      </a:r>
                    </a:p>
                  </a:txBody>
                  <a:tcPr anchor="ctr"/>
                </a:tc>
                <a:tc>
                  <a:txBody>
                    <a:bodyPr/>
                    <a:lstStyle/>
                    <a:p>
                      <a:pPr algn="ctr">
                        <a:buNone/>
                      </a:pPr>
                      <a:r>
                        <a:rPr lang="en-US" dirty="0"/>
                        <a:t>80,59,014</a:t>
                      </a:r>
                    </a:p>
                  </a:txBody>
                  <a:tcPr anchor="ctr"/>
                </a:tc>
                <a:tc>
                  <a:txBody>
                    <a:bodyPr/>
                    <a:lstStyle/>
                    <a:p>
                      <a:pPr algn="ctr">
                        <a:buNone/>
                      </a:pPr>
                      <a:r>
                        <a:rPr lang="en-US" dirty="0">
                          <a:solidFill>
                            <a:srgbClr val="FF0000"/>
                          </a:solidFill>
                        </a:rPr>
                        <a:t>1,67,896</a:t>
                      </a:r>
                    </a:p>
                  </a:txBody>
                  <a:tcPr anchor="ctr"/>
                </a:tc>
                <a:extLst>
                  <a:ext uri="{0D108BD9-81ED-4DB2-BD59-A6C34878D82A}">
                    <a16:rowId xmlns:a16="http://schemas.microsoft.com/office/drawing/2014/main" val="3988619554"/>
                  </a:ext>
                </a:extLst>
              </a:tr>
              <a:tr h="370840">
                <a:tc>
                  <a:txBody>
                    <a:bodyPr/>
                    <a:lstStyle/>
                    <a:p>
                      <a:pPr>
                        <a:buNone/>
                      </a:pPr>
                      <a:r>
                        <a:rPr lang="en-US" dirty="0"/>
                        <a:t>Mumbai North Showroom</a:t>
                      </a:r>
                    </a:p>
                  </a:txBody>
                  <a:tcPr anchor="ctr"/>
                </a:tc>
                <a:tc>
                  <a:txBody>
                    <a:bodyPr/>
                    <a:lstStyle/>
                    <a:p>
                      <a:pPr>
                        <a:buNone/>
                      </a:pPr>
                      <a:r>
                        <a:rPr lang="en-US"/>
                        <a:t>Mumbai</a:t>
                      </a:r>
                    </a:p>
                  </a:txBody>
                  <a:tcPr anchor="ctr"/>
                </a:tc>
                <a:tc>
                  <a:txBody>
                    <a:bodyPr/>
                    <a:lstStyle/>
                    <a:p>
                      <a:pPr>
                        <a:buNone/>
                      </a:pPr>
                      <a:r>
                        <a:rPr lang="en-US" dirty="0"/>
                        <a:t>Sedan</a:t>
                      </a:r>
                    </a:p>
                  </a:txBody>
                  <a:tcPr anchor="ctr"/>
                </a:tc>
                <a:tc>
                  <a:txBody>
                    <a:bodyPr/>
                    <a:lstStyle/>
                    <a:p>
                      <a:pPr algn="ctr">
                        <a:buNone/>
                      </a:pPr>
                      <a:r>
                        <a:rPr lang="en-US"/>
                        <a:t>57</a:t>
                      </a:r>
                    </a:p>
                  </a:txBody>
                  <a:tcPr anchor="ctr"/>
                </a:tc>
                <a:tc>
                  <a:txBody>
                    <a:bodyPr/>
                    <a:lstStyle/>
                    <a:p>
                      <a:pPr algn="ctr">
                        <a:buNone/>
                      </a:pPr>
                      <a:r>
                        <a:rPr lang="en-US"/>
                        <a:t>2,09,97,761</a:t>
                      </a:r>
                    </a:p>
                  </a:txBody>
                  <a:tcPr anchor="ctr"/>
                </a:tc>
                <a:tc>
                  <a:txBody>
                    <a:bodyPr/>
                    <a:lstStyle/>
                    <a:p>
                      <a:pPr algn="ctr">
                        <a:buNone/>
                      </a:pPr>
                      <a:r>
                        <a:rPr lang="en-US" dirty="0">
                          <a:solidFill>
                            <a:srgbClr val="FF0000"/>
                          </a:solidFill>
                        </a:rPr>
                        <a:t>3,68,382</a:t>
                      </a:r>
                    </a:p>
                  </a:txBody>
                  <a:tcPr anchor="ctr"/>
                </a:tc>
                <a:extLst>
                  <a:ext uri="{0D108BD9-81ED-4DB2-BD59-A6C34878D82A}">
                    <a16:rowId xmlns:a16="http://schemas.microsoft.com/office/drawing/2014/main" val="2444035341"/>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Sedan</a:t>
                      </a:r>
                    </a:p>
                  </a:txBody>
                  <a:tcPr anchor="ctr"/>
                </a:tc>
                <a:tc>
                  <a:txBody>
                    <a:bodyPr/>
                    <a:lstStyle/>
                    <a:p>
                      <a:pPr algn="ctr">
                        <a:buNone/>
                      </a:pPr>
                      <a:r>
                        <a:rPr lang="en-US" dirty="0"/>
                        <a:t>39</a:t>
                      </a:r>
                    </a:p>
                  </a:txBody>
                  <a:tcPr anchor="ctr"/>
                </a:tc>
                <a:tc>
                  <a:txBody>
                    <a:bodyPr/>
                    <a:lstStyle/>
                    <a:p>
                      <a:pPr algn="ctr">
                        <a:buNone/>
                      </a:pPr>
                      <a:r>
                        <a:rPr lang="en-US"/>
                        <a:t>1,32,55,231</a:t>
                      </a:r>
                    </a:p>
                  </a:txBody>
                  <a:tcPr anchor="ctr"/>
                </a:tc>
                <a:tc>
                  <a:txBody>
                    <a:bodyPr/>
                    <a:lstStyle/>
                    <a:p>
                      <a:pPr algn="ctr">
                        <a:buNone/>
                      </a:pPr>
                      <a:r>
                        <a:rPr lang="en-US" dirty="0"/>
                        <a:t>3,39,878</a:t>
                      </a:r>
                    </a:p>
                  </a:txBody>
                  <a:tcPr anchor="ctr"/>
                </a:tc>
                <a:extLst>
                  <a:ext uri="{0D108BD9-81ED-4DB2-BD59-A6C34878D82A}">
                    <a16:rowId xmlns:a16="http://schemas.microsoft.com/office/drawing/2014/main" val="923920110"/>
                  </a:ext>
                </a:extLst>
              </a:tr>
              <a:tr h="370840">
                <a:tc>
                  <a:txBody>
                    <a:bodyPr/>
                    <a:lstStyle/>
                    <a:p>
                      <a:pPr>
                        <a:buNone/>
                      </a:pPr>
                      <a:r>
                        <a:rPr lang="en-US" dirty="0"/>
                        <a:t>Mumbai North Showroom</a:t>
                      </a:r>
                    </a:p>
                  </a:txBody>
                  <a:tcPr anchor="ctr"/>
                </a:tc>
                <a:tc>
                  <a:txBody>
                    <a:bodyPr/>
                    <a:lstStyle/>
                    <a:p>
                      <a:pPr>
                        <a:buNone/>
                      </a:pPr>
                      <a:r>
                        <a:rPr lang="en-US"/>
                        <a:t>Mumbai</a:t>
                      </a:r>
                    </a:p>
                  </a:txBody>
                  <a:tcPr anchor="ctr"/>
                </a:tc>
                <a:tc>
                  <a:txBody>
                    <a:bodyPr/>
                    <a:lstStyle/>
                    <a:p>
                      <a:pPr>
                        <a:buNone/>
                      </a:pPr>
                      <a:r>
                        <a:rPr lang="en-US" dirty="0"/>
                        <a:t>SUV</a:t>
                      </a:r>
                    </a:p>
                  </a:txBody>
                  <a:tcPr anchor="ctr"/>
                </a:tc>
                <a:tc>
                  <a:txBody>
                    <a:bodyPr/>
                    <a:lstStyle/>
                    <a:p>
                      <a:pPr algn="ctr">
                        <a:buNone/>
                      </a:pPr>
                      <a:r>
                        <a:rPr lang="en-US" dirty="0"/>
                        <a:t>121</a:t>
                      </a:r>
                    </a:p>
                  </a:txBody>
                  <a:tcPr anchor="ctr"/>
                </a:tc>
                <a:tc>
                  <a:txBody>
                    <a:bodyPr/>
                    <a:lstStyle/>
                    <a:p>
                      <a:pPr algn="ctr">
                        <a:buNone/>
                      </a:pPr>
                      <a:r>
                        <a:rPr lang="en-US" dirty="0"/>
                        <a:t>5,04,57,481</a:t>
                      </a:r>
                    </a:p>
                  </a:txBody>
                  <a:tcPr anchor="ctr"/>
                </a:tc>
                <a:tc>
                  <a:txBody>
                    <a:bodyPr/>
                    <a:lstStyle/>
                    <a:p>
                      <a:pPr algn="ctr">
                        <a:buNone/>
                      </a:pPr>
                      <a:r>
                        <a:rPr lang="en-US" dirty="0"/>
                        <a:t>4,17,004</a:t>
                      </a:r>
                    </a:p>
                  </a:txBody>
                  <a:tcPr anchor="ctr"/>
                </a:tc>
                <a:extLst>
                  <a:ext uri="{0D108BD9-81ED-4DB2-BD59-A6C34878D82A}">
                    <a16:rowId xmlns:a16="http://schemas.microsoft.com/office/drawing/2014/main" val="4240954598"/>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a:buNone/>
                      </a:pPr>
                      <a:r>
                        <a:rPr lang="en-US" dirty="0"/>
                        <a:t>SUV</a:t>
                      </a:r>
                    </a:p>
                  </a:txBody>
                  <a:tcPr anchor="ctr"/>
                </a:tc>
                <a:tc>
                  <a:txBody>
                    <a:bodyPr/>
                    <a:lstStyle/>
                    <a:p>
                      <a:pPr algn="ctr">
                        <a:buNone/>
                      </a:pPr>
                      <a:r>
                        <a:rPr lang="en-US" dirty="0"/>
                        <a:t>105</a:t>
                      </a:r>
                    </a:p>
                  </a:txBody>
                  <a:tcPr anchor="ctr"/>
                </a:tc>
                <a:tc>
                  <a:txBody>
                    <a:bodyPr/>
                    <a:lstStyle/>
                    <a:p>
                      <a:pPr algn="ctr">
                        <a:buNone/>
                      </a:pPr>
                      <a:r>
                        <a:rPr lang="en-US"/>
                        <a:t>4,95,70,939</a:t>
                      </a:r>
                    </a:p>
                  </a:txBody>
                  <a:tcPr anchor="ctr"/>
                </a:tc>
                <a:tc>
                  <a:txBody>
                    <a:bodyPr/>
                    <a:lstStyle/>
                    <a:p>
                      <a:pPr algn="ctr">
                        <a:buNone/>
                      </a:pPr>
                      <a:r>
                        <a:rPr lang="en-US" dirty="0">
                          <a:solidFill>
                            <a:srgbClr val="FF0000"/>
                          </a:solidFill>
                        </a:rPr>
                        <a:t>4,72,104</a:t>
                      </a:r>
                    </a:p>
                  </a:txBody>
                  <a:tcPr anchor="ctr"/>
                </a:tc>
                <a:extLst>
                  <a:ext uri="{0D108BD9-81ED-4DB2-BD59-A6C34878D82A}">
                    <a16:rowId xmlns:a16="http://schemas.microsoft.com/office/drawing/2014/main" val="3868081375"/>
                  </a:ext>
                </a:extLst>
              </a:tr>
              <a:tr h="370840">
                <a:tc>
                  <a:txBody>
                    <a:bodyPr/>
                    <a:lstStyle/>
                    <a:p>
                      <a:pPr>
                        <a:buNone/>
                      </a:pPr>
                      <a:r>
                        <a:rPr lang="en-US" dirty="0"/>
                        <a:t>Mumbai North Showroom</a:t>
                      </a:r>
                    </a:p>
                  </a:txBody>
                  <a:tcPr anchor="ctr"/>
                </a:tc>
                <a:tc>
                  <a:txBody>
                    <a:bodyPr/>
                    <a:lstStyle/>
                    <a:p>
                      <a:pPr>
                        <a:buNone/>
                      </a:pPr>
                      <a:r>
                        <a:rPr lang="en-US"/>
                        <a:t>Mumbai</a:t>
                      </a:r>
                    </a:p>
                  </a:txBody>
                  <a:tcPr anchor="ctr"/>
                </a:tc>
                <a:tc>
                  <a:txBody>
                    <a:bodyPr/>
                    <a:lstStyle/>
                    <a:p>
                      <a:pPr>
                        <a:buNone/>
                      </a:pPr>
                      <a:r>
                        <a:rPr lang="en-US" dirty="0"/>
                        <a:t>Luxury</a:t>
                      </a:r>
                    </a:p>
                  </a:txBody>
                  <a:tcPr anchor="ctr"/>
                </a:tc>
                <a:tc>
                  <a:txBody>
                    <a:bodyPr/>
                    <a:lstStyle/>
                    <a:p>
                      <a:pPr algn="ctr">
                        <a:buNone/>
                      </a:pPr>
                      <a:r>
                        <a:rPr lang="en-US" dirty="0"/>
                        <a:t>27</a:t>
                      </a:r>
                    </a:p>
                  </a:txBody>
                  <a:tcPr anchor="ctr"/>
                </a:tc>
                <a:tc>
                  <a:txBody>
                    <a:bodyPr/>
                    <a:lstStyle/>
                    <a:p>
                      <a:pPr algn="ctr">
                        <a:buNone/>
                      </a:pPr>
                      <a:r>
                        <a:rPr lang="en-US" dirty="0"/>
                        <a:t>4,44,59,103</a:t>
                      </a:r>
                    </a:p>
                  </a:txBody>
                  <a:tcPr anchor="ctr"/>
                </a:tc>
                <a:tc>
                  <a:txBody>
                    <a:bodyPr/>
                    <a:lstStyle/>
                    <a:p>
                      <a:pPr algn="ctr">
                        <a:buNone/>
                      </a:pPr>
                      <a:r>
                        <a:rPr lang="en-US" dirty="0"/>
                        <a:t>16,46,633</a:t>
                      </a:r>
                    </a:p>
                  </a:txBody>
                  <a:tcPr anchor="ctr"/>
                </a:tc>
                <a:extLst>
                  <a:ext uri="{0D108BD9-81ED-4DB2-BD59-A6C34878D82A}">
                    <a16:rowId xmlns:a16="http://schemas.microsoft.com/office/drawing/2014/main" val="882733758"/>
                  </a:ext>
                </a:extLst>
              </a:tr>
              <a:tr h="370840">
                <a:tc>
                  <a:txBody>
                    <a:bodyPr/>
                    <a:lstStyle/>
                    <a:p>
                      <a:pPr>
                        <a:buNone/>
                      </a:pPr>
                      <a:r>
                        <a:rPr lang="en-US" dirty="0"/>
                        <a:t>Delhi North Showroom</a:t>
                      </a:r>
                    </a:p>
                  </a:txBody>
                  <a:tcPr anchor="ctr"/>
                </a:tc>
                <a:tc>
                  <a:txBody>
                    <a:bodyPr/>
                    <a:lstStyle/>
                    <a:p>
                      <a:pPr>
                        <a:buNone/>
                      </a:pPr>
                      <a:r>
                        <a:rPr lang="en-US" dirty="0"/>
                        <a:t>Delhi</a:t>
                      </a:r>
                    </a:p>
                  </a:txBody>
                  <a:tcPr anchor="ctr"/>
                </a:tc>
                <a:tc>
                  <a:txBody>
                    <a:bodyPr/>
                    <a:lstStyle/>
                    <a:p>
                      <a:pPr>
                        <a:buNone/>
                      </a:pPr>
                      <a:r>
                        <a:rPr lang="en-US" dirty="0"/>
                        <a:t>Luxury</a:t>
                      </a:r>
                    </a:p>
                  </a:txBody>
                  <a:tcPr anchor="ctr"/>
                </a:tc>
                <a:tc>
                  <a:txBody>
                    <a:bodyPr/>
                    <a:lstStyle/>
                    <a:p>
                      <a:pPr algn="ctr">
                        <a:buNone/>
                      </a:pPr>
                      <a:r>
                        <a:rPr lang="en-US" dirty="0"/>
                        <a:t>24</a:t>
                      </a:r>
                    </a:p>
                  </a:txBody>
                  <a:tcPr anchor="ctr"/>
                </a:tc>
                <a:tc>
                  <a:txBody>
                    <a:bodyPr/>
                    <a:lstStyle/>
                    <a:p>
                      <a:pPr algn="ctr">
                        <a:buNone/>
                      </a:pPr>
                      <a:r>
                        <a:rPr lang="en-US"/>
                        <a:t>4,03,88,729</a:t>
                      </a:r>
                    </a:p>
                  </a:txBody>
                  <a:tcPr anchor="ctr"/>
                </a:tc>
                <a:tc>
                  <a:txBody>
                    <a:bodyPr/>
                    <a:lstStyle/>
                    <a:p>
                      <a:pPr algn="ctr">
                        <a:buNone/>
                      </a:pPr>
                      <a:r>
                        <a:rPr lang="en-US" dirty="0">
                          <a:solidFill>
                            <a:srgbClr val="FF0000"/>
                          </a:solidFill>
                        </a:rPr>
                        <a:t>16,82,864</a:t>
                      </a:r>
                    </a:p>
                  </a:txBody>
                  <a:tcPr anchor="ctr"/>
                </a:tc>
                <a:extLst>
                  <a:ext uri="{0D108BD9-81ED-4DB2-BD59-A6C34878D82A}">
                    <a16:rowId xmlns:a16="http://schemas.microsoft.com/office/drawing/2014/main" val="770809825"/>
                  </a:ext>
                </a:extLst>
              </a:tr>
            </a:tbl>
          </a:graphicData>
        </a:graphic>
      </p:graphicFrame>
    </p:spTree>
    <p:extLst>
      <p:ext uri="{BB962C8B-B14F-4D97-AF65-F5344CB8AC3E}">
        <p14:creationId xmlns:p14="http://schemas.microsoft.com/office/powerpoint/2010/main" val="2675426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6DDC0-3965-E8E7-6F07-BAD6CFA31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0CCA36-0F63-96EF-E0EA-CDF310127C49}"/>
              </a:ext>
            </a:extLst>
          </p:cNvPr>
          <p:cNvSpPr>
            <a:spLocks noGrp="1"/>
          </p:cNvSpPr>
          <p:nvPr>
            <p:ph type="title"/>
          </p:nvPr>
        </p:nvSpPr>
        <p:spPr>
          <a:xfrm>
            <a:off x="838200" y="88965"/>
            <a:ext cx="10515600" cy="432674"/>
          </a:xfrm>
        </p:spPr>
        <p:txBody>
          <a:bodyPr>
            <a:normAutofit/>
          </a:bodyPr>
          <a:lstStyle/>
          <a:p>
            <a:r>
              <a:rPr lang="en-US" sz="2400" dirty="0">
                <a:latin typeface="Comic Sans MS" panose="030F0702030302020204" pitchFamily="66" charset="0"/>
              </a:rPr>
              <a:t>Why Delhi Achieved more profit margins in year 2023 and 2024.</a:t>
            </a:r>
          </a:p>
        </p:txBody>
      </p:sp>
      <p:sp>
        <p:nvSpPr>
          <p:cNvPr id="7" name="Content Placeholder 2">
            <a:extLst>
              <a:ext uri="{FF2B5EF4-FFF2-40B4-BE49-F238E27FC236}">
                <a16:creationId xmlns:a16="http://schemas.microsoft.com/office/drawing/2014/main" id="{F0D95399-BC2D-2D81-8AEC-F52D0D123E0E}"/>
              </a:ext>
            </a:extLst>
          </p:cNvPr>
          <p:cNvSpPr>
            <a:spLocks noGrp="1"/>
          </p:cNvSpPr>
          <p:nvPr>
            <p:ph idx="1"/>
          </p:nvPr>
        </p:nvSpPr>
        <p:spPr>
          <a:xfrm>
            <a:off x="763257" y="613689"/>
            <a:ext cx="10775950" cy="5971217"/>
          </a:xfrm>
        </p:spPr>
        <p:txBody>
          <a:bodyPr>
            <a:normAutofit/>
          </a:bodyPr>
          <a:lstStyle/>
          <a:p>
            <a:pPr>
              <a:lnSpc>
                <a:spcPct val="150000"/>
              </a:lnSpc>
            </a:pPr>
            <a:r>
              <a:rPr lang="en-US" sz="1600" dirty="0">
                <a:latin typeface="Comic Sans MS" panose="030F0702030302020204" pitchFamily="66" charset="0"/>
              </a:rPr>
              <a:t>Though Mumbai North Showroom generated more gross profit when we look at product level sales but it was not translated to higher gross profit margin % for years 2023, 2024.</a:t>
            </a:r>
          </a:p>
          <a:p>
            <a:pPr>
              <a:lnSpc>
                <a:spcPct val="150000"/>
              </a:lnSpc>
            </a:pPr>
            <a:r>
              <a:rPr lang="en-US" sz="1600" dirty="0">
                <a:latin typeface="Comic Sans MS" panose="030F0702030302020204" pitchFamily="66" charset="0"/>
              </a:rPr>
              <a:t>On the other hand, Delhi North showroom which ranks second in terms of gross profit value had given better gross margin % than Mumbai North showroom because in year 2023:</a:t>
            </a:r>
          </a:p>
          <a:p>
            <a:pPr>
              <a:lnSpc>
                <a:spcPct val="150000"/>
              </a:lnSpc>
            </a:pPr>
            <a:r>
              <a:rPr lang="en-US" sz="1600" dirty="0">
                <a:latin typeface="Comic Sans MS" panose="030F0702030302020204" pitchFamily="66" charset="0"/>
              </a:rPr>
              <a:t>Mumbai Showroom has gross profit of 14,57,00,128 rupees and the avg gross profit generated per vehicle is of 5,29,819 rupees. </a:t>
            </a:r>
          </a:p>
          <a:p>
            <a:pPr>
              <a:lnSpc>
                <a:spcPct val="150000"/>
              </a:lnSpc>
            </a:pPr>
            <a:r>
              <a:rPr lang="en-US" sz="1600" dirty="0">
                <a:latin typeface="Comic Sans MS" panose="030F0702030302020204" pitchFamily="66" charset="0"/>
              </a:rPr>
              <a:t>Delhi showroom generated 12,44,52,853 which around 14.58% less as compared to Mumbai showroom but avg gross profit generated per vehicle is 5,35,968 which is around 1.15% higher than Mumbai Showroom.</a:t>
            </a:r>
          </a:p>
          <a:p>
            <a:pPr>
              <a:lnSpc>
                <a:spcPct val="150000"/>
              </a:lnSpc>
            </a:pPr>
            <a:r>
              <a:rPr lang="en-US" sz="1600" dirty="0">
                <a:latin typeface="Comic Sans MS" panose="030F0702030302020204" pitchFamily="66" charset="0"/>
              </a:rPr>
              <a:t>Similar kind of trend is observed in year 2024. </a:t>
            </a:r>
          </a:p>
          <a:p>
            <a:pPr>
              <a:lnSpc>
                <a:spcPct val="150000"/>
              </a:lnSpc>
            </a:pPr>
            <a:r>
              <a:rPr lang="en-US" sz="1600" dirty="0">
                <a:latin typeface="Comic Sans MS" panose="030F0702030302020204" pitchFamily="66" charset="0"/>
              </a:rPr>
              <a:t>In year 2023 Delhi showroom earned a higher avg profit on every vehicle sold for hatchback, sedan, and luxury vehicle segments.</a:t>
            </a:r>
          </a:p>
          <a:p>
            <a:pPr>
              <a:lnSpc>
                <a:spcPct val="150000"/>
              </a:lnSpc>
            </a:pPr>
            <a:r>
              <a:rPr lang="en-US" sz="1600" dirty="0">
                <a:latin typeface="Comic Sans MS" panose="030F0702030302020204" pitchFamily="66" charset="0"/>
              </a:rPr>
              <a:t>In 2024 Delhi showroom earned a higher avg profit on every vehicle sold for Hatchback, SUV and Luxury segments vehicles. This is also the reason why Delhi showroom has higher gross profits for year 2023 and 2024.</a:t>
            </a:r>
          </a:p>
        </p:txBody>
      </p:sp>
    </p:spTree>
    <p:extLst>
      <p:ext uri="{BB962C8B-B14F-4D97-AF65-F5344CB8AC3E}">
        <p14:creationId xmlns:p14="http://schemas.microsoft.com/office/powerpoint/2010/main" val="199517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12E49-970B-F2B2-242D-CECE3FC93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1E81B-9B59-1B9C-2422-C0885CE540CB}"/>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Net Profit Analysis by Showroom</a:t>
            </a:r>
          </a:p>
        </p:txBody>
      </p:sp>
      <p:sp>
        <p:nvSpPr>
          <p:cNvPr id="5" name="Title 1">
            <a:extLst>
              <a:ext uri="{FF2B5EF4-FFF2-40B4-BE49-F238E27FC236}">
                <a16:creationId xmlns:a16="http://schemas.microsoft.com/office/drawing/2014/main" id="{49915874-70BC-CE11-FE54-37BC881C4962}"/>
              </a:ext>
            </a:extLst>
          </p:cNvPr>
          <p:cNvSpPr txBox="1">
            <a:spLocks/>
          </p:cNvSpPr>
          <p:nvPr/>
        </p:nvSpPr>
        <p:spPr>
          <a:xfrm>
            <a:off x="51653" y="726181"/>
            <a:ext cx="4170543"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Operating cost of Showroom City-wise:</a:t>
            </a:r>
          </a:p>
        </p:txBody>
      </p:sp>
      <p:sp>
        <p:nvSpPr>
          <p:cNvPr id="4" name="Title 1">
            <a:extLst>
              <a:ext uri="{FF2B5EF4-FFF2-40B4-BE49-F238E27FC236}">
                <a16:creationId xmlns:a16="http://schemas.microsoft.com/office/drawing/2014/main" id="{9FCEE76A-9BC6-DACE-A2F3-E055EDE010B0}"/>
              </a:ext>
            </a:extLst>
          </p:cNvPr>
          <p:cNvSpPr txBox="1">
            <a:spLocks/>
          </p:cNvSpPr>
          <p:nvPr/>
        </p:nvSpPr>
        <p:spPr>
          <a:xfrm>
            <a:off x="51652" y="1110238"/>
            <a:ext cx="4814920"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Monthly Gross and Net Profit for Mumbai Showroom 2023:</a:t>
            </a:r>
          </a:p>
        </p:txBody>
      </p:sp>
      <p:graphicFrame>
        <p:nvGraphicFramePr>
          <p:cNvPr id="7" name="Table 6">
            <a:extLst>
              <a:ext uri="{FF2B5EF4-FFF2-40B4-BE49-F238E27FC236}">
                <a16:creationId xmlns:a16="http://schemas.microsoft.com/office/drawing/2014/main" id="{92D950D6-24CF-C0BF-34D3-ED802B5B1E2F}"/>
              </a:ext>
            </a:extLst>
          </p:cNvPr>
          <p:cNvGraphicFramePr>
            <a:graphicFrameLocks noGrp="1"/>
          </p:cNvGraphicFramePr>
          <p:nvPr>
            <p:extLst>
              <p:ext uri="{D42A27DB-BD31-4B8C-83A1-F6EECF244321}">
                <p14:modId xmlns:p14="http://schemas.microsoft.com/office/powerpoint/2010/main" val="3465219206"/>
              </p:ext>
            </p:extLst>
          </p:nvPr>
        </p:nvGraphicFramePr>
        <p:xfrm>
          <a:off x="158195" y="1526527"/>
          <a:ext cx="11906976" cy="5150431"/>
        </p:xfrm>
        <a:graphic>
          <a:graphicData uri="http://schemas.openxmlformats.org/drawingml/2006/table">
            <a:tbl>
              <a:tblPr firstRow="1" bandRow="1">
                <a:tableStyleId>{616DA210-FB5B-4158-B5E0-FEB733F419BA}</a:tableStyleId>
              </a:tblPr>
              <a:tblGrid>
                <a:gridCol w="1488372">
                  <a:extLst>
                    <a:ext uri="{9D8B030D-6E8A-4147-A177-3AD203B41FA5}">
                      <a16:colId xmlns:a16="http://schemas.microsoft.com/office/drawing/2014/main" val="563446099"/>
                    </a:ext>
                  </a:extLst>
                </a:gridCol>
                <a:gridCol w="1605997">
                  <a:extLst>
                    <a:ext uri="{9D8B030D-6E8A-4147-A177-3AD203B41FA5}">
                      <a16:colId xmlns:a16="http://schemas.microsoft.com/office/drawing/2014/main" val="1483691423"/>
                    </a:ext>
                  </a:extLst>
                </a:gridCol>
                <a:gridCol w="1478996">
                  <a:extLst>
                    <a:ext uri="{9D8B030D-6E8A-4147-A177-3AD203B41FA5}">
                      <a16:colId xmlns:a16="http://schemas.microsoft.com/office/drawing/2014/main" val="2295663464"/>
                    </a:ext>
                  </a:extLst>
                </a:gridCol>
                <a:gridCol w="1380123">
                  <a:extLst>
                    <a:ext uri="{9D8B030D-6E8A-4147-A177-3AD203B41FA5}">
                      <a16:colId xmlns:a16="http://schemas.microsoft.com/office/drawing/2014/main" val="275066732"/>
                    </a:ext>
                  </a:extLst>
                </a:gridCol>
                <a:gridCol w="1488372">
                  <a:extLst>
                    <a:ext uri="{9D8B030D-6E8A-4147-A177-3AD203B41FA5}">
                      <a16:colId xmlns:a16="http://schemas.microsoft.com/office/drawing/2014/main" val="4124428345"/>
                    </a:ext>
                  </a:extLst>
                </a:gridCol>
                <a:gridCol w="1488372">
                  <a:extLst>
                    <a:ext uri="{9D8B030D-6E8A-4147-A177-3AD203B41FA5}">
                      <a16:colId xmlns:a16="http://schemas.microsoft.com/office/drawing/2014/main" val="282965329"/>
                    </a:ext>
                  </a:extLst>
                </a:gridCol>
                <a:gridCol w="1488372">
                  <a:extLst>
                    <a:ext uri="{9D8B030D-6E8A-4147-A177-3AD203B41FA5}">
                      <a16:colId xmlns:a16="http://schemas.microsoft.com/office/drawing/2014/main" val="4117380875"/>
                    </a:ext>
                  </a:extLst>
                </a:gridCol>
                <a:gridCol w="1488372">
                  <a:extLst>
                    <a:ext uri="{9D8B030D-6E8A-4147-A177-3AD203B41FA5}">
                      <a16:colId xmlns:a16="http://schemas.microsoft.com/office/drawing/2014/main" val="1991965073"/>
                    </a:ext>
                  </a:extLst>
                </a:gridCol>
              </a:tblGrid>
              <a:tr h="396187">
                <a:tc>
                  <a:txBody>
                    <a:bodyPr/>
                    <a:lstStyle/>
                    <a:p>
                      <a:pPr marL="0" algn="ctr" defTabSz="914400" rtl="0" eaLnBrk="1" fontAlgn="b" latinLnBrk="0" hangingPunct="1">
                        <a:buNone/>
                      </a:pPr>
                      <a:r>
                        <a:rPr lang="en-US" sz="1600" b="1" kern="1200" dirty="0">
                          <a:solidFill>
                            <a:schemeClr val="tx1"/>
                          </a:solidFill>
                          <a:latin typeface="+mn-lt"/>
                          <a:ea typeface="+mn-ea"/>
                          <a:cs typeface="+mn-cs"/>
                        </a:rPr>
                        <a:t>Sale Month</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Units Sold</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Revenue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 Cost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a:t>
                      </a:r>
                    </a:p>
                  </a:txBody>
                  <a:tcPr marL="6350" marR="6350" marT="6350" marB="0" anchor="ctr"/>
                </a:tc>
                <a:extLst>
                  <a:ext uri="{0D108BD9-81ED-4DB2-BD59-A6C34878D82A}">
                    <a16:rowId xmlns:a16="http://schemas.microsoft.com/office/drawing/2014/main" val="4232006560"/>
                  </a:ext>
                </a:extLst>
              </a:tr>
              <a:tr h="396187">
                <a:tc>
                  <a:txBody>
                    <a:bodyPr/>
                    <a:lstStyle/>
                    <a:p>
                      <a:pPr algn="l">
                        <a:buNone/>
                      </a:pPr>
                      <a:r>
                        <a:rPr lang="en-US" dirty="0"/>
                        <a:t>January</a:t>
                      </a:r>
                    </a:p>
                  </a:txBody>
                  <a:tcPr anchor="ctr"/>
                </a:tc>
                <a:tc>
                  <a:txBody>
                    <a:bodyPr/>
                    <a:lstStyle/>
                    <a:p>
                      <a:pPr algn="ctr">
                        <a:buNone/>
                      </a:pPr>
                      <a:r>
                        <a:rPr lang="en-US" dirty="0"/>
                        <a:t>24</a:t>
                      </a:r>
                    </a:p>
                  </a:txBody>
                  <a:tcPr anchor="ctr"/>
                </a:tc>
                <a:tc>
                  <a:txBody>
                    <a:bodyPr/>
                    <a:lstStyle/>
                    <a:p>
                      <a:pPr algn="ctr">
                        <a:buNone/>
                      </a:pPr>
                      <a:r>
                        <a:rPr lang="en-US" dirty="0"/>
                        <a:t>84,095,009</a:t>
                      </a:r>
                    </a:p>
                  </a:txBody>
                  <a:tcPr anchor="ctr"/>
                </a:tc>
                <a:tc>
                  <a:txBody>
                    <a:bodyPr/>
                    <a:lstStyle/>
                    <a:p>
                      <a:pPr algn="ctr">
                        <a:buNone/>
                      </a:pPr>
                      <a:r>
                        <a:rPr lang="en-US" dirty="0"/>
                        <a:t>16,290,009</a:t>
                      </a:r>
                    </a:p>
                  </a:txBody>
                  <a:tcPr anchor="ctr"/>
                </a:tc>
                <a:tc>
                  <a:txBody>
                    <a:bodyPr/>
                    <a:lstStyle/>
                    <a:p>
                      <a:pPr algn="ctr">
                        <a:buNone/>
                      </a:pPr>
                      <a:r>
                        <a:rPr lang="en-US" dirty="0"/>
                        <a:t>1,055,771</a:t>
                      </a:r>
                    </a:p>
                  </a:txBody>
                  <a:tcPr anchor="ctr"/>
                </a:tc>
                <a:tc>
                  <a:txBody>
                    <a:bodyPr/>
                    <a:lstStyle/>
                    <a:p>
                      <a:pPr algn="ctr">
                        <a:buNone/>
                      </a:pPr>
                      <a:r>
                        <a:rPr lang="en-US" dirty="0"/>
                        <a:t>15,234,238</a:t>
                      </a:r>
                    </a:p>
                  </a:txBody>
                  <a:tcPr anchor="ctr"/>
                </a:tc>
                <a:tc>
                  <a:txBody>
                    <a:bodyPr/>
                    <a:lstStyle/>
                    <a:p>
                      <a:pPr algn="ctr">
                        <a:buNone/>
                      </a:pPr>
                      <a:r>
                        <a:rPr lang="en-US" dirty="0"/>
                        <a:t>19.05 %</a:t>
                      </a:r>
                    </a:p>
                  </a:txBody>
                  <a:tcPr anchor="ctr"/>
                </a:tc>
                <a:tc>
                  <a:txBody>
                    <a:bodyPr/>
                    <a:lstStyle/>
                    <a:p>
                      <a:pPr algn="ctr">
                        <a:buNone/>
                      </a:pPr>
                      <a:r>
                        <a:rPr lang="en-US" dirty="0"/>
                        <a:t>17.86 %</a:t>
                      </a:r>
                    </a:p>
                  </a:txBody>
                  <a:tcPr anchor="ctr"/>
                </a:tc>
                <a:extLst>
                  <a:ext uri="{0D108BD9-81ED-4DB2-BD59-A6C34878D82A}">
                    <a16:rowId xmlns:a16="http://schemas.microsoft.com/office/drawing/2014/main" val="3237329551"/>
                  </a:ext>
                </a:extLst>
              </a:tr>
              <a:tr h="396187">
                <a:tc>
                  <a:txBody>
                    <a:bodyPr/>
                    <a:lstStyle/>
                    <a:p>
                      <a:pPr algn="l">
                        <a:buNone/>
                      </a:pPr>
                      <a:r>
                        <a:rPr lang="en-US"/>
                        <a:t>February</a:t>
                      </a:r>
                    </a:p>
                  </a:txBody>
                  <a:tcPr anchor="ctr"/>
                </a:tc>
                <a:tc>
                  <a:txBody>
                    <a:bodyPr/>
                    <a:lstStyle/>
                    <a:p>
                      <a:pPr algn="ctr">
                        <a:buNone/>
                      </a:pPr>
                      <a:r>
                        <a:rPr lang="en-US" dirty="0"/>
                        <a:t>18</a:t>
                      </a:r>
                    </a:p>
                  </a:txBody>
                  <a:tcPr anchor="ctr"/>
                </a:tc>
                <a:tc>
                  <a:txBody>
                    <a:bodyPr/>
                    <a:lstStyle/>
                    <a:p>
                      <a:pPr algn="ctr">
                        <a:buNone/>
                      </a:pPr>
                      <a:r>
                        <a:rPr lang="en-US"/>
                        <a:t>28,315,047</a:t>
                      </a:r>
                    </a:p>
                  </a:txBody>
                  <a:tcPr anchor="ctr"/>
                </a:tc>
                <a:tc>
                  <a:txBody>
                    <a:bodyPr/>
                    <a:lstStyle/>
                    <a:p>
                      <a:pPr algn="ctr">
                        <a:buNone/>
                      </a:pPr>
                      <a:r>
                        <a:rPr lang="en-US"/>
                        <a:t>5,770,047</a:t>
                      </a:r>
                    </a:p>
                  </a:txBody>
                  <a:tcPr anchor="ctr"/>
                </a:tc>
                <a:tc>
                  <a:txBody>
                    <a:bodyPr/>
                    <a:lstStyle/>
                    <a:p>
                      <a:pPr algn="ctr">
                        <a:buNone/>
                      </a:pPr>
                      <a:r>
                        <a:rPr lang="en-US"/>
                        <a:t>1,055,771</a:t>
                      </a:r>
                    </a:p>
                  </a:txBody>
                  <a:tcPr anchor="ctr"/>
                </a:tc>
                <a:tc>
                  <a:txBody>
                    <a:bodyPr/>
                    <a:lstStyle/>
                    <a:p>
                      <a:pPr algn="ctr">
                        <a:buNone/>
                      </a:pPr>
                      <a:r>
                        <a:rPr lang="en-US"/>
                        <a:t>4,714,277</a:t>
                      </a:r>
                    </a:p>
                  </a:txBody>
                  <a:tcPr anchor="ctr"/>
                </a:tc>
                <a:tc>
                  <a:txBody>
                    <a:bodyPr/>
                    <a:lstStyle/>
                    <a:p>
                      <a:pPr algn="ctr">
                        <a:buNone/>
                      </a:pPr>
                      <a:r>
                        <a:rPr lang="en-US"/>
                        <a:t>17.86 %</a:t>
                      </a:r>
                    </a:p>
                  </a:txBody>
                  <a:tcPr anchor="ctr"/>
                </a:tc>
                <a:tc>
                  <a:txBody>
                    <a:bodyPr/>
                    <a:lstStyle/>
                    <a:p>
                      <a:pPr algn="ctr">
                        <a:buNone/>
                      </a:pPr>
                      <a:r>
                        <a:rPr lang="en-US"/>
                        <a:t>14.29 %</a:t>
                      </a:r>
                    </a:p>
                  </a:txBody>
                  <a:tcPr anchor="ctr"/>
                </a:tc>
                <a:extLst>
                  <a:ext uri="{0D108BD9-81ED-4DB2-BD59-A6C34878D82A}">
                    <a16:rowId xmlns:a16="http://schemas.microsoft.com/office/drawing/2014/main" val="4213391767"/>
                  </a:ext>
                </a:extLst>
              </a:tr>
              <a:tr h="396187">
                <a:tc>
                  <a:txBody>
                    <a:bodyPr/>
                    <a:lstStyle/>
                    <a:p>
                      <a:pPr algn="l">
                        <a:buNone/>
                      </a:pPr>
                      <a:r>
                        <a:rPr lang="en-US"/>
                        <a:t>March</a:t>
                      </a:r>
                    </a:p>
                  </a:txBody>
                  <a:tcPr anchor="ctr"/>
                </a:tc>
                <a:tc>
                  <a:txBody>
                    <a:bodyPr/>
                    <a:lstStyle/>
                    <a:p>
                      <a:pPr algn="ctr">
                        <a:buNone/>
                      </a:pPr>
                      <a:r>
                        <a:rPr lang="en-US" dirty="0"/>
                        <a:t>11</a:t>
                      </a:r>
                    </a:p>
                  </a:txBody>
                  <a:tcPr anchor="ctr"/>
                </a:tc>
                <a:tc>
                  <a:txBody>
                    <a:bodyPr/>
                    <a:lstStyle/>
                    <a:p>
                      <a:pPr algn="ctr">
                        <a:buNone/>
                      </a:pPr>
                      <a:r>
                        <a:rPr lang="en-US"/>
                        <a:t>33,732,177</a:t>
                      </a:r>
                    </a:p>
                  </a:txBody>
                  <a:tcPr anchor="ctr"/>
                </a:tc>
                <a:tc>
                  <a:txBody>
                    <a:bodyPr/>
                    <a:lstStyle/>
                    <a:p>
                      <a:pPr algn="ctr">
                        <a:buNone/>
                      </a:pPr>
                      <a:r>
                        <a:rPr lang="en-US"/>
                        <a:t>6,367,177</a:t>
                      </a:r>
                    </a:p>
                  </a:txBody>
                  <a:tcPr anchor="ctr"/>
                </a:tc>
                <a:tc>
                  <a:txBody>
                    <a:bodyPr/>
                    <a:lstStyle/>
                    <a:p>
                      <a:pPr algn="ctr">
                        <a:buNone/>
                      </a:pPr>
                      <a:r>
                        <a:rPr lang="en-US"/>
                        <a:t>1,055,771</a:t>
                      </a:r>
                    </a:p>
                  </a:txBody>
                  <a:tcPr anchor="ctr"/>
                </a:tc>
                <a:tc>
                  <a:txBody>
                    <a:bodyPr/>
                    <a:lstStyle/>
                    <a:p>
                      <a:pPr algn="ctr">
                        <a:buNone/>
                      </a:pPr>
                      <a:r>
                        <a:rPr lang="en-US"/>
                        <a:t>5,311,406</a:t>
                      </a:r>
                    </a:p>
                  </a:txBody>
                  <a:tcPr anchor="ctr"/>
                </a:tc>
                <a:tc>
                  <a:txBody>
                    <a:bodyPr/>
                    <a:lstStyle/>
                    <a:p>
                      <a:pPr algn="ctr">
                        <a:buNone/>
                      </a:pPr>
                      <a:r>
                        <a:rPr lang="en-US"/>
                        <a:t>18.18 %</a:t>
                      </a:r>
                    </a:p>
                  </a:txBody>
                  <a:tcPr anchor="ctr"/>
                </a:tc>
                <a:tc>
                  <a:txBody>
                    <a:bodyPr/>
                    <a:lstStyle/>
                    <a:p>
                      <a:pPr algn="ctr">
                        <a:buNone/>
                      </a:pPr>
                      <a:r>
                        <a:rPr lang="en-US"/>
                        <a:t>15.15 %</a:t>
                      </a:r>
                    </a:p>
                  </a:txBody>
                  <a:tcPr anchor="ctr"/>
                </a:tc>
                <a:extLst>
                  <a:ext uri="{0D108BD9-81ED-4DB2-BD59-A6C34878D82A}">
                    <a16:rowId xmlns:a16="http://schemas.microsoft.com/office/drawing/2014/main" val="4061775816"/>
                  </a:ext>
                </a:extLst>
              </a:tr>
              <a:tr h="396187">
                <a:tc>
                  <a:txBody>
                    <a:bodyPr/>
                    <a:lstStyle/>
                    <a:p>
                      <a:pPr algn="l">
                        <a:buNone/>
                      </a:pPr>
                      <a:r>
                        <a:rPr lang="en-US"/>
                        <a:t>April</a:t>
                      </a:r>
                    </a:p>
                  </a:txBody>
                  <a:tcPr anchor="ctr"/>
                </a:tc>
                <a:tc>
                  <a:txBody>
                    <a:bodyPr/>
                    <a:lstStyle/>
                    <a:p>
                      <a:pPr algn="ctr">
                        <a:buNone/>
                      </a:pPr>
                      <a:r>
                        <a:rPr lang="en-US" dirty="0"/>
                        <a:t>17</a:t>
                      </a:r>
                    </a:p>
                  </a:txBody>
                  <a:tcPr anchor="ctr"/>
                </a:tc>
                <a:tc>
                  <a:txBody>
                    <a:bodyPr/>
                    <a:lstStyle/>
                    <a:p>
                      <a:pPr algn="ctr">
                        <a:buNone/>
                      </a:pPr>
                      <a:r>
                        <a:rPr lang="en-US"/>
                        <a:t>37,306,768</a:t>
                      </a:r>
                    </a:p>
                  </a:txBody>
                  <a:tcPr anchor="ctr"/>
                </a:tc>
                <a:tc>
                  <a:txBody>
                    <a:bodyPr/>
                    <a:lstStyle/>
                    <a:p>
                      <a:pPr algn="ctr">
                        <a:buNone/>
                      </a:pPr>
                      <a:r>
                        <a:rPr lang="en-US"/>
                        <a:t>7,446,768</a:t>
                      </a:r>
                    </a:p>
                  </a:txBody>
                  <a:tcPr anchor="ctr"/>
                </a:tc>
                <a:tc>
                  <a:txBody>
                    <a:bodyPr/>
                    <a:lstStyle/>
                    <a:p>
                      <a:pPr algn="ctr">
                        <a:buNone/>
                      </a:pPr>
                      <a:r>
                        <a:rPr lang="en-US"/>
                        <a:t>1,055,771</a:t>
                      </a:r>
                    </a:p>
                  </a:txBody>
                  <a:tcPr anchor="ctr"/>
                </a:tc>
                <a:tc>
                  <a:txBody>
                    <a:bodyPr/>
                    <a:lstStyle/>
                    <a:p>
                      <a:pPr algn="ctr">
                        <a:buNone/>
                      </a:pPr>
                      <a:r>
                        <a:rPr lang="en-US"/>
                        <a:t>6,390,997</a:t>
                      </a:r>
                    </a:p>
                  </a:txBody>
                  <a:tcPr anchor="ctr"/>
                </a:tc>
                <a:tc>
                  <a:txBody>
                    <a:bodyPr/>
                    <a:lstStyle/>
                    <a:p>
                      <a:pPr algn="ctr">
                        <a:buNone/>
                      </a:pPr>
                      <a:r>
                        <a:rPr lang="en-US"/>
                        <a:t>18.92 %</a:t>
                      </a:r>
                    </a:p>
                  </a:txBody>
                  <a:tcPr anchor="ctr"/>
                </a:tc>
                <a:tc>
                  <a:txBody>
                    <a:bodyPr/>
                    <a:lstStyle/>
                    <a:p>
                      <a:pPr algn="ctr">
                        <a:buNone/>
                      </a:pPr>
                      <a:r>
                        <a:rPr lang="en-US"/>
                        <a:t>16.22 %</a:t>
                      </a:r>
                    </a:p>
                  </a:txBody>
                  <a:tcPr anchor="ctr"/>
                </a:tc>
                <a:extLst>
                  <a:ext uri="{0D108BD9-81ED-4DB2-BD59-A6C34878D82A}">
                    <a16:rowId xmlns:a16="http://schemas.microsoft.com/office/drawing/2014/main" val="2104863014"/>
                  </a:ext>
                </a:extLst>
              </a:tr>
              <a:tr h="396187">
                <a:tc>
                  <a:txBody>
                    <a:bodyPr/>
                    <a:lstStyle/>
                    <a:p>
                      <a:pPr algn="l">
                        <a:buNone/>
                      </a:pPr>
                      <a:r>
                        <a:rPr lang="en-US"/>
                        <a:t>May</a:t>
                      </a:r>
                    </a:p>
                  </a:txBody>
                  <a:tcPr anchor="ctr"/>
                </a:tc>
                <a:tc>
                  <a:txBody>
                    <a:bodyPr/>
                    <a:lstStyle/>
                    <a:p>
                      <a:pPr algn="ctr">
                        <a:buNone/>
                      </a:pPr>
                      <a:r>
                        <a:rPr lang="en-US"/>
                        <a:t>23</a:t>
                      </a:r>
                    </a:p>
                  </a:txBody>
                  <a:tcPr anchor="ctr"/>
                </a:tc>
                <a:tc>
                  <a:txBody>
                    <a:bodyPr/>
                    <a:lstStyle/>
                    <a:p>
                      <a:pPr algn="ctr">
                        <a:buNone/>
                      </a:pPr>
                      <a:r>
                        <a:rPr lang="en-US"/>
                        <a:t>72,609,695</a:t>
                      </a:r>
                    </a:p>
                  </a:txBody>
                  <a:tcPr anchor="ctr"/>
                </a:tc>
                <a:tc>
                  <a:txBody>
                    <a:bodyPr/>
                    <a:lstStyle/>
                    <a:p>
                      <a:pPr algn="ctr">
                        <a:buNone/>
                      </a:pPr>
                      <a:r>
                        <a:rPr lang="en-US"/>
                        <a:t>14,159,695</a:t>
                      </a:r>
                    </a:p>
                  </a:txBody>
                  <a:tcPr anchor="ctr"/>
                </a:tc>
                <a:tc>
                  <a:txBody>
                    <a:bodyPr/>
                    <a:lstStyle/>
                    <a:p>
                      <a:pPr algn="ctr">
                        <a:buNone/>
                      </a:pPr>
                      <a:r>
                        <a:rPr lang="en-US"/>
                        <a:t>1,055,771</a:t>
                      </a:r>
                    </a:p>
                  </a:txBody>
                  <a:tcPr anchor="ctr"/>
                </a:tc>
                <a:tc>
                  <a:txBody>
                    <a:bodyPr/>
                    <a:lstStyle/>
                    <a:p>
                      <a:pPr algn="ctr">
                        <a:buNone/>
                      </a:pPr>
                      <a:r>
                        <a:rPr lang="en-US"/>
                        <a:t>13,103,924</a:t>
                      </a:r>
                    </a:p>
                  </a:txBody>
                  <a:tcPr anchor="ctr"/>
                </a:tc>
                <a:tc>
                  <a:txBody>
                    <a:bodyPr/>
                    <a:lstStyle/>
                    <a:p>
                      <a:pPr algn="ctr">
                        <a:buNone/>
                      </a:pPr>
                      <a:r>
                        <a:rPr lang="en-US"/>
                        <a:t>19.44 %</a:t>
                      </a:r>
                    </a:p>
                  </a:txBody>
                  <a:tcPr anchor="ctr"/>
                </a:tc>
                <a:tc>
                  <a:txBody>
                    <a:bodyPr/>
                    <a:lstStyle/>
                    <a:p>
                      <a:pPr algn="ctr">
                        <a:buNone/>
                      </a:pPr>
                      <a:r>
                        <a:rPr lang="en-US"/>
                        <a:t>18.06 %</a:t>
                      </a:r>
                    </a:p>
                  </a:txBody>
                  <a:tcPr anchor="ctr"/>
                </a:tc>
                <a:extLst>
                  <a:ext uri="{0D108BD9-81ED-4DB2-BD59-A6C34878D82A}">
                    <a16:rowId xmlns:a16="http://schemas.microsoft.com/office/drawing/2014/main" val="313506327"/>
                  </a:ext>
                </a:extLst>
              </a:tr>
              <a:tr h="396187">
                <a:tc>
                  <a:txBody>
                    <a:bodyPr/>
                    <a:lstStyle/>
                    <a:p>
                      <a:pPr algn="l">
                        <a:buNone/>
                      </a:pPr>
                      <a:r>
                        <a:rPr lang="en-US"/>
                        <a:t>June</a:t>
                      </a:r>
                    </a:p>
                  </a:txBody>
                  <a:tcPr anchor="ctr"/>
                </a:tc>
                <a:tc>
                  <a:txBody>
                    <a:bodyPr/>
                    <a:lstStyle/>
                    <a:p>
                      <a:pPr algn="ctr">
                        <a:buNone/>
                      </a:pPr>
                      <a:r>
                        <a:rPr lang="en-US" dirty="0"/>
                        <a:t>28</a:t>
                      </a:r>
                    </a:p>
                  </a:txBody>
                  <a:tcPr anchor="ctr"/>
                </a:tc>
                <a:tc>
                  <a:txBody>
                    <a:bodyPr/>
                    <a:lstStyle/>
                    <a:p>
                      <a:pPr algn="ctr">
                        <a:buNone/>
                      </a:pPr>
                      <a:r>
                        <a:rPr lang="en-US"/>
                        <a:t>61,200,185</a:t>
                      </a:r>
                    </a:p>
                  </a:txBody>
                  <a:tcPr anchor="ctr"/>
                </a:tc>
                <a:tc>
                  <a:txBody>
                    <a:bodyPr/>
                    <a:lstStyle/>
                    <a:p>
                      <a:pPr algn="ctr">
                        <a:buNone/>
                      </a:pPr>
                      <a:r>
                        <a:rPr lang="en-US"/>
                        <a:t>12,690,185</a:t>
                      </a:r>
                    </a:p>
                  </a:txBody>
                  <a:tcPr anchor="ctr"/>
                </a:tc>
                <a:tc>
                  <a:txBody>
                    <a:bodyPr/>
                    <a:lstStyle/>
                    <a:p>
                      <a:pPr algn="ctr">
                        <a:buNone/>
                      </a:pPr>
                      <a:r>
                        <a:rPr lang="en-US"/>
                        <a:t>1,055,771</a:t>
                      </a:r>
                    </a:p>
                  </a:txBody>
                  <a:tcPr anchor="ctr"/>
                </a:tc>
                <a:tc>
                  <a:txBody>
                    <a:bodyPr/>
                    <a:lstStyle/>
                    <a:p>
                      <a:pPr algn="ctr">
                        <a:buNone/>
                      </a:pPr>
                      <a:r>
                        <a:rPr lang="en-US"/>
                        <a:t>11,634,414</a:t>
                      </a:r>
                    </a:p>
                  </a:txBody>
                  <a:tcPr anchor="ctr"/>
                </a:tc>
                <a:tc>
                  <a:txBody>
                    <a:bodyPr/>
                    <a:lstStyle/>
                    <a:p>
                      <a:pPr algn="ctr">
                        <a:buNone/>
                      </a:pPr>
                      <a:r>
                        <a:rPr lang="en-US"/>
                        <a:t>19.67 %</a:t>
                      </a:r>
                    </a:p>
                  </a:txBody>
                  <a:tcPr anchor="ctr"/>
                </a:tc>
                <a:tc>
                  <a:txBody>
                    <a:bodyPr/>
                    <a:lstStyle/>
                    <a:p>
                      <a:pPr algn="ctr">
                        <a:buNone/>
                      </a:pPr>
                      <a:r>
                        <a:rPr lang="en-US"/>
                        <a:t>18.03 %</a:t>
                      </a:r>
                    </a:p>
                  </a:txBody>
                  <a:tcPr anchor="ctr"/>
                </a:tc>
                <a:extLst>
                  <a:ext uri="{0D108BD9-81ED-4DB2-BD59-A6C34878D82A}">
                    <a16:rowId xmlns:a16="http://schemas.microsoft.com/office/drawing/2014/main" val="1655420942"/>
                  </a:ext>
                </a:extLst>
              </a:tr>
              <a:tr h="396187">
                <a:tc>
                  <a:txBody>
                    <a:bodyPr/>
                    <a:lstStyle/>
                    <a:p>
                      <a:pPr algn="l">
                        <a:buNone/>
                      </a:pPr>
                      <a:r>
                        <a:rPr lang="en-US"/>
                        <a:t>July</a:t>
                      </a:r>
                    </a:p>
                  </a:txBody>
                  <a:tcPr anchor="ctr"/>
                </a:tc>
                <a:tc>
                  <a:txBody>
                    <a:bodyPr/>
                    <a:lstStyle/>
                    <a:p>
                      <a:pPr algn="ctr">
                        <a:buNone/>
                      </a:pPr>
                      <a:r>
                        <a:rPr lang="en-US" dirty="0"/>
                        <a:t>24</a:t>
                      </a:r>
                    </a:p>
                  </a:txBody>
                  <a:tcPr anchor="ctr"/>
                </a:tc>
                <a:tc>
                  <a:txBody>
                    <a:bodyPr/>
                    <a:lstStyle/>
                    <a:p>
                      <a:pPr algn="ctr">
                        <a:buNone/>
                      </a:pPr>
                      <a:r>
                        <a:rPr lang="en-US"/>
                        <a:t>85,129,107</a:t>
                      </a:r>
                    </a:p>
                  </a:txBody>
                  <a:tcPr anchor="ctr"/>
                </a:tc>
                <a:tc>
                  <a:txBody>
                    <a:bodyPr/>
                    <a:lstStyle/>
                    <a:p>
                      <a:pPr algn="ctr">
                        <a:buNone/>
                      </a:pPr>
                      <a:r>
                        <a:rPr lang="en-US"/>
                        <a:t>16,394,107</a:t>
                      </a:r>
                    </a:p>
                  </a:txBody>
                  <a:tcPr anchor="ctr"/>
                </a:tc>
                <a:tc>
                  <a:txBody>
                    <a:bodyPr/>
                    <a:lstStyle/>
                    <a:p>
                      <a:pPr algn="ctr">
                        <a:buNone/>
                      </a:pPr>
                      <a:r>
                        <a:rPr lang="en-US"/>
                        <a:t>1,055,771</a:t>
                      </a:r>
                    </a:p>
                  </a:txBody>
                  <a:tcPr anchor="ctr"/>
                </a:tc>
                <a:tc>
                  <a:txBody>
                    <a:bodyPr/>
                    <a:lstStyle/>
                    <a:p>
                      <a:pPr algn="ctr">
                        <a:buNone/>
                      </a:pPr>
                      <a:r>
                        <a:rPr lang="en-US"/>
                        <a:t>15,338,337</a:t>
                      </a:r>
                    </a:p>
                  </a:txBody>
                  <a:tcPr anchor="ctr"/>
                </a:tc>
                <a:tc>
                  <a:txBody>
                    <a:bodyPr/>
                    <a:lstStyle/>
                    <a:p>
                      <a:pPr algn="ctr">
                        <a:buNone/>
                      </a:pPr>
                      <a:r>
                        <a:rPr lang="en-US"/>
                        <a:t>18.82 %</a:t>
                      </a:r>
                    </a:p>
                  </a:txBody>
                  <a:tcPr anchor="ctr"/>
                </a:tc>
                <a:tc>
                  <a:txBody>
                    <a:bodyPr/>
                    <a:lstStyle/>
                    <a:p>
                      <a:pPr algn="ctr">
                        <a:buNone/>
                      </a:pPr>
                      <a:r>
                        <a:rPr lang="en-US"/>
                        <a:t>17.65 %</a:t>
                      </a:r>
                    </a:p>
                  </a:txBody>
                  <a:tcPr anchor="ctr"/>
                </a:tc>
                <a:extLst>
                  <a:ext uri="{0D108BD9-81ED-4DB2-BD59-A6C34878D82A}">
                    <a16:rowId xmlns:a16="http://schemas.microsoft.com/office/drawing/2014/main" val="1880118335"/>
                  </a:ext>
                </a:extLst>
              </a:tr>
              <a:tr h="396187">
                <a:tc>
                  <a:txBody>
                    <a:bodyPr/>
                    <a:lstStyle/>
                    <a:p>
                      <a:pPr algn="l">
                        <a:buNone/>
                      </a:pPr>
                      <a:r>
                        <a:rPr lang="en-US"/>
                        <a:t>August</a:t>
                      </a:r>
                    </a:p>
                  </a:txBody>
                  <a:tcPr anchor="ctr"/>
                </a:tc>
                <a:tc>
                  <a:txBody>
                    <a:bodyPr/>
                    <a:lstStyle/>
                    <a:p>
                      <a:pPr algn="ctr">
                        <a:buNone/>
                      </a:pPr>
                      <a:r>
                        <a:rPr lang="en-US" dirty="0"/>
                        <a:t>22</a:t>
                      </a:r>
                    </a:p>
                  </a:txBody>
                  <a:tcPr anchor="ctr"/>
                </a:tc>
                <a:tc>
                  <a:txBody>
                    <a:bodyPr/>
                    <a:lstStyle/>
                    <a:p>
                      <a:pPr algn="ctr">
                        <a:buNone/>
                      </a:pPr>
                      <a:r>
                        <a:rPr lang="en-US"/>
                        <a:t>55,625,791</a:t>
                      </a:r>
                    </a:p>
                  </a:txBody>
                  <a:tcPr anchor="ctr"/>
                </a:tc>
                <a:tc>
                  <a:txBody>
                    <a:bodyPr/>
                    <a:lstStyle/>
                    <a:p>
                      <a:pPr algn="ctr">
                        <a:buNone/>
                      </a:pPr>
                      <a:r>
                        <a:rPr lang="en-US"/>
                        <a:t>11,345,791</a:t>
                      </a:r>
                    </a:p>
                  </a:txBody>
                  <a:tcPr anchor="ctr"/>
                </a:tc>
                <a:tc>
                  <a:txBody>
                    <a:bodyPr/>
                    <a:lstStyle/>
                    <a:p>
                      <a:pPr algn="ctr">
                        <a:buNone/>
                      </a:pPr>
                      <a:r>
                        <a:rPr lang="en-US"/>
                        <a:t>1,055,771</a:t>
                      </a:r>
                    </a:p>
                  </a:txBody>
                  <a:tcPr anchor="ctr"/>
                </a:tc>
                <a:tc>
                  <a:txBody>
                    <a:bodyPr/>
                    <a:lstStyle/>
                    <a:p>
                      <a:pPr algn="ctr">
                        <a:buNone/>
                      </a:pPr>
                      <a:r>
                        <a:rPr lang="en-US"/>
                        <a:t>10,290,020</a:t>
                      </a:r>
                    </a:p>
                  </a:txBody>
                  <a:tcPr anchor="ctr"/>
                </a:tc>
                <a:tc>
                  <a:txBody>
                    <a:bodyPr/>
                    <a:lstStyle/>
                    <a:p>
                      <a:pPr algn="ctr">
                        <a:buNone/>
                      </a:pPr>
                      <a:r>
                        <a:rPr lang="en-US"/>
                        <a:t>20 %</a:t>
                      </a:r>
                    </a:p>
                  </a:txBody>
                  <a:tcPr anchor="ctr"/>
                </a:tc>
                <a:tc>
                  <a:txBody>
                    <a:bodyPr/>
                    <a:lstStyle/>
                    <a:p>
                      <a:pPr algn="ctr">
                        <a:buNone/>
                      </a:pPr>
                      <a:r>
                        <a:rPr lang="en-US"/>
                        <a:t>18.18 %</a:t>
                      </a:r>
                    </a:p>
                  </a:txBody>
                  <a:tcPr anchor="ctr"/>
                </a:tc>
                <a:extLst>
                  <a:ext uri="{0D108BD9-81ED-4DB2-BD59-A6C34878D82A}">
                    <a16:rowId xmlns:a16="http://schemas.microsoft.com/office/drawing/2014/main" val="3773150926"/>
                  </a:ext>
                </a:extLst>
              </a:tr>
              <a:tr h="396187">
                <a:tc>
                  <a:txBody>
                    <a:bodyPr/>
                    <a:lstStyle/>
                    <a:p>
                      <a:pPr algn="l">
                        <a:buNone/>
                      </a:pPr>
                      <a:r>
                        <a:rPr lang="en-US"/>
                        <a:t>September</a:t>
                      </a:r>
                    </a:p>
                  </a:txBody>
                  <a:tcPr anchor="ctr"/>
                </a:tc>
                <a:tc>
                  <a:txBody>
                    <a:bodyPr/>
                    <a:lstStyle/>
                    <a:p>
                      <a:pPr algn="ctr">
                        <a:buNone/>
                      </a:pPr>
                      <a:r>
                        <a:rPr lang="en-US" dirty="0"/>
                        <a:t>34</a:t>
                      </a:r>
                    </a:p>
                  </a:txBody>
                  <a:tcPr anchor="ctr"/>
                </a:tc>
                <a:tc>
                  <a:txBody>
                    <a:bodyPr/>
                    <a:lstStyle/>
                    <a:p>
                      <a:pPr algn="ctr">
                        <a:buNone/>
                      </a:pPr>
                      <a:r>
                        <a:rPr lang="en-US"/>
                        <a:t>66,002,834</a:t>
                      </a:r>
                    </a:p>
                  </a:txBody>
                  <a:tcPr anchor="ctr"/>
                </a:tc>
                <a:tc>
                  <a:txBody>
                    <a:bodyPr/>
                    <a:lstStyle/>
                    <a:p>
                      <a:pPr algn="ctr">
                        <a:buNone/>
                      </a:pPr>
                      <a:r>
                        <a:rPr lang="en-US"/>
                        <a:t>13,842,834</a:t>
                      </a:r>
                    </a:p>
                  </a:txBody>
                  <a:tcPr anchor="ctr"/>
                </a:tc>
                <a:tc>
                  <a:txBody>
                    <a:bodyPr/>
                    <a:lstStyle/>
                    <a:p>
                      <a:pPr algn="ctr">
                        <a:buNone/>
                      </a:pPr>
                      <a:r>
                        <a:rPr lang="en-US"/>
                        <a:t>1,055,771</a:t>
                      </a:r>
                    </a:p>
                  </a:txBody>
                  <a:tcPr anchor="ctr"/>
                </a:tc>
                <a:tc>
                  <a:txBody>
                    <a:bodyPr/>
                    <a:lstStyle/>
                    <a:p>
                      <a:pPr algn="ctr">
                        <a:buNone/>
                      </a:pPr>
                      <a:r>
                        <a:rPr lang="en-US"/>
                        <a:t>12,787,063</a:t>
                      </a:r>
                    </a:p>
                  </a:txBody>
                  <a:tcPr anchor="ctr"/>
                </a:tc>
                <a:tc>
                  <a:txBody>
                    <a:bodyPr/>
                    <a:lstStyle/>
                    <a:p>
                      <a:pPr algn="ctr">
                        <a:buNone/>
                      </a:pPr>
                      <a:r>
                        <a:rPr lang="en-US"/>
                        <a:t>19.7 %</a:t>
                      </a:r>
                    </a:p>
                  </a:txBody>
                  <a:tcPr anchor="ctr"/>
                </a:tc>
                <a:tc>
                  <a:txBody>
                    <a:bodyPr/>
                    <a:lstStyle/>
                    <a:p>
                      <a:pPr algn="ctr">
                        <a:buNone/>
                      </a:pPr>
                      <a:r>
                        <a:rPr lang="en-US"/>
                        <a:t>18.18 %</a:t>
                      </a:r>
                    </a:p>
                  </a:txBody>
                  <a:tcPr anchor="ctr"/>
                </a:tc>
                <a:extLst>
                  <a:ext uri="{0D108BD9-81ED-4DB2-BD59-A6C34878D82A}">
                    <a16:rowId xmlns:a16="http://schemas.microsoft.com/office/drawing/2014/main" val="984347646"/>
                  </a:ext>
                </a:extLst>
              </a:tr>
              <a:tr h="396187">
                <a:tc>
                  <a:txBody>
                    <a:bodyPr/>
                    <a:lstStyle/>
                    <a:p>
                      <a:pPr algn="l">
                        <a:buNone/>
                      </a:pPr>
                      <a:r>
                        <a:rPr lang="en-US"/>
                        <a:t>October</a:t>
                      </a:r>
                    </a:p>
                  </a:txBody>
                  <a:tcPr anchor="ctr"/>
                </a:tc>
                <a:tc>
                  <a:txBody>
                    <a:bodyPr/>
                    <a:lstStyle/>
                    <a:p>
                      <a:pPr algn="ctr">
                        <a:buNone/>
                      </a:pPr>
                      <a:r>
                        <a:rPr lang="en-US" dirty="0"/>
                        <a:t>23</a:t>
                      </a:r>
                    </a:p>
                  </a:txBody>
                  <a:tcPr anchor="ctr"/>
                </a:tc>
                <a:tc>
                  <a:txBody>
                    <a:bodyPr/>
                    <a:lstStyle/>
                    <a:p>
                      <a:pPr algn="ctr">
                        <a:buNone/>
                      </a:pPr>
                      <a:r>
                        <a:rPr lang="en-US"/>
                        <a:t>61,819,534</a:t>
                      </a:r>
                    </a:p>
                  </a:txBody>
                  <a:tcPr anchor="ctr"/>
                </a:tc>
                <a:tc>
                  <a:txBody>
                    <a:bodyPr/>
                    <a:lstStyle/>
                    <a:p>
                      <a:pPr algn="ctr">
                        <a:buNone/>
                      </a:pPr>
                      <a:r>
                        <a:rPr lang="en-US"/>
                        <a:t>12,299,534</a:t>
                      </a:r>
                    </a:p>
                  </a:txBody>
                  <a:tcPr anchor="ctr"/>
                </a:tc>
                <a:tc>
                  <a:txBody>
                    <a:bodyPr/>
                    <a:lstStyle/>
                    <a:p>
                      <a:pPr algn="ctr">
                        <a:buNone/>
                      </a:pPr>
                      <a:r>
                        <a:rPr lang="en-US"/>
                        <a:t>1,055,771</a:t>
                      </a:r>
                    </a:p>
                  </a:txBody>
                  <a:tcPr anchor="ctr"/>
                </a:tc>
                <a:tc>
                  <a:txBody>
                    <a:bodyPr/>
                    <a:lstStyle/>
                    <a:p>
                      <a:pPr algn="ctr">
                        <a:buNone/>
                      </a:pPr>
                      <a:r>
                        <a:rPr lang="en-US"/>
                        <a:t>11,243,763</a:t>
                      </a:r>
                    </a:p>
                  </a:txBody>
                  <a:tcPr anchor="ctr"/>
                </a:tc>
                <a:tc>
                  <a:txBody>
                    <a:bodyPr/>
                    <a:lstStyle/>
                    <a:p>
                      <a:pPr algn="ctr">
                        <a:buNone/>
                      </a:pPr>
                      <a:r>
                        <a:rPr lang="en-US"/>
                        <a:t>19.67 %</a:t>
                      </a:r>
                    </a:p>
                  </a:txBody>
                  <a:tcPr anchor="ctr"/>
                </a:tc>
                <a:tc>
                  <a:txBody>
                    <a:bodyPr/>
                    <a:lstStyle/>
                    <a:p>
                      <a:pPr algn="ctr">
                        <a:buNone/>
                      </a:pPr>
                      <a:r>
                        <a:rPr lang="en-US"/>
                        <a:t>18.03 %</a:t>
                      </a:r>
                    </a:p>
                  </a:txBody>
                  <a:tcPr anchor="ctr"/>
                </a:tc>
                <a:extLst>
                  <a:ext uri="{0D108BD9-81ED-4DB2-BD59-A6C34878D82A}">
                    <a16:rowId xmlns:a16="http://schemas.microsoft.com/office/drawing/2014/main" val="2456975059"/>
                  </a:ext>
                </a:extLst>
              </a:tr>
              <a:tr h="396187">
                <a:tc>
                  <a:txBody>
                    <a:bodyPr/>
                    <a:lstStyle/>
                    <a:p>
                      <a:pPr algn="l">
                        <a:buNone/>
                      </a:pPr>
                      <a:r>
                        <a:rPr lang="en-US"/>
                        <a:t>November</a:t>
                      </a:r>
                    </a:p>
                  </a:txBody>
                  <a:tcPr anchor="ctr"/>
                </a:tc>
                <a:tc>
                  <a:txBody>
                    <a:bodyPr/>
                    <a:lstStyle/>
                    <a:p>
                      <a:pPr algn="ctr">
                        <a:buNone/>
                      </a:pPr>
                      <a:r>
                        <a:rPr lang="en-US" dirty="0"/>
                        <a:t>32</a:t>
                      </a:r>
                    </a:p>
                  </a:txBody>
                  <a:tcPr anchor="ctr"/>
                </a:tc>
                <a:tc>
                  <a:txBody>
                    <a:bodyPr/>
                    <a:lstStyle/>
                    <a:p>
                      <a:pPr algn="ctr">
                        <a:buNone/>
                      </a:pPr>
                      <a:r>
                        <a:rPr lang="en-US"/>
                        <a:t>86,175,009</a:t>
                      </a:r>
                    </a:p>
                  </a:txBody>
                  <a:tcPr anchor="ctr"/>
                </a:tc>
                <a:tc>
                  <a:txBody>
                    <a:bodyPr/>
                    <a:lstStyle/>
                    <a:p>
                      <a:pPr algn="ctr">
                        <a:buNone/>
                      </a:pPr>
                      <a:r>
                        <a:rPr lang="en-US"/>
                        <a:t>17,320,009</a:t>
                      </a:r>
                    </a:p>
                  </a:txBody>
                  <a:tcPr anchor="ctr"/>
                </a:tc>
                <a:tc>
                  <a:txBody>
                    <a:bodyPr/>
                    <a:lstStyle/>
                    <a:p>
                      <a:pPr algn="ctr">
                        <a:buNone/>
                      </a:pPr>
                      <a:r>
                        <a:rPr lang="en-US"/>
                        <a:t>1,055,771</a:t>
                      </a:r>
                    </a:p>
                  </a:txBody>
                  <a:tcPr anchor="ctr"/>
                </a:tc>
                <a:tc>
                  <a:txBody>
                    <a:bodyPr/>
                    <a:lstStyle/>
                    <a:p>
                      <a:pPr algn="ctr">
                        <a:buNone/>
                      </a:pPr>
                      <a:r>
                        <a:rPr lang="en-US"/>
                        <a:t>16,264,238</a:t>
                      </a:r>
                    </a:p>
                  </a:txBody>
                  <a:tcPr anchor="ctr"/>
                </a:tc>
                <a:tc>
                  <a:txBody>
                    <a:bodyPr/>
                    <a:lstStyle/>
                    <a:p>
                      <a:pPr algn="ctr">
                        <a:buNone/>
                      </a:pPr>
                      <a:r>
                        <a:rPr lang="en-US"/>
                        <a:t>19.77 %</a:t>
                      </a:r>
                    </a:p>
                  </a:txBody>
                  <a:tcPr anchor="ctr"/>
                </a:tc>
                <a:tc>
                  <a:txBody>
                    <a:bodyPr/>
                    <a:lstStyle/>
                    <a:p>
                      <a:pPr algn="ctr">
                        <a:buNone/>
                      </a:pPr>
                      <a:r>
                        <a:rPr lang="en-US"/>
                        <a:t>18.6 %</a:t>
                      </a:r>
                    </a:p>
                  </a:txBody>
                  <a:tcPr anchor="ctr"/>
                </a:tc>
                <a:extLst>
                  <a:ext uri="{0D108BD9-81ED-4DB2-BD59-A6C34878D82A}">
                    <a16:rowId xmlns:a16="http://schemas.microsoft.com/office/drawing/2014/main" val="712714810"/>
                  </a:ext>
                </a:extLst>
              </a:tr>
              <a:tr h="396187">
                <a:tc>
                  <a:txBody>
                    <a:bodyPr/>
                    <a:lstStyle/>
                    <a:p>
                      <a:pPr algn="l">
                        <a:buNone/>
                      </a:pPr>
                      <a:r>
                        <a:rPr lang="en-US" dirty="0"/>
                        <a:t>December</a:t>
                      </a:r>
                    </a:p>
                  </a:txBody>
                  <a:tcPr anchor="ctr"/>
                </a:tc>
                <a:tc>
                  <a:txBody>
                    <a:bodyPr/>
                    <a:lstStyle/>
                    <a:p>
                      <a:pPr algn="ctr">
                        <a:buNone/>
                      </a:pPr>
                      <a:r>
                        <a:rPr lang="en-US" dirty="0"/>
                        <a:t>19</a:t>
                      </a:r>
                    </a:p>
                  </a:txBody>
                  <a:tcPr anchor="ctr"/>
                </a:tc>
                <a:tc>
                  <a:txBody>
                    <a:bodyPr/>
                    <a:lstStyle/>
                    <a:p>
                      <a:pPr algn="ctr">
                        <a:buNone/>
                      </a:pPr>
                      <a:r>
                        <a:rPr lang="en-US" dirty="0"/>
                        <a:t>59,148,973</a:t>
                      </a:r>
                    </a:p>
                  </a:txBody>
                  <a:tcPr anchor="ctr"/>
                </a:tc>
                <a:tc>
                  <a:txBody>
                    <a:bodyPr/>
                    <a:lstStyle/>
                    <a:p>
                      <a:pPr algn="ctr">
                        <a:buNone/>
                      </a:pPr>
                      <a:r>
                        <a:rPr lang="en-US" dirty="0"/>
                        <a:t>11,773,973</a:t>
                      </a:r>
                    </a:p>
                  </a:txBody>
                  <a:tcPr anchor="ctr"/>
                </a:tc>
                <a:tc>
                  <a:txBody>
                    <a:bodyPr/>
                    <a:lstStyle/>
                    <a:p>
                      <a:pPr algn="ctr">
                        <a:buNone/>
                      </a:pPr>
                      <a:r>
                        <a:rPr lang="en-US" dirty="0"/>
                        <a:t>1,055,771</a:t>
                      </a:r>
                    </a:p>
                  </a:txBody>
                  <a:tcPr anchor="ctr"/>
                </a:tc>
                <a:tc>
                  <a:txBody>
                    <a:bodyPr/>
                    <a:lstStyle/>
                    <a:p>
                      <a:pPr algn="ctr">
                        <a:buNone/>
                      </a:pPr>
                      <a:r>
                        <a:rPr lang="en-US" dirty="0"/>
                        <a:t>10,718,202</a:t>
                      </a:r>
                    </a:p>
                  </a:txBody>
                  <a:tcPr anchor="ctr"/>
                </a:tc>
                <a:tc>
                  <a:txBody>
                    <a:bodyPr/>
                    <a:lstStyle/>
                    <a:p>
                      <a:pPr algn="ctr">
                        <a:buNone/>
                      </a:pPr>
                      <a:r>
                        <a:rPr lang="en-US" dirty="0"/>
                        <a:t>18.64 %</a:t>
                      </a:r>
                    </a:p>
                  </a:txBody>
                  <a:tcPr anchor="ctr"/>
                </a:tc>
                <a:tc>
                  <a:txBody>
                    <a:bodyPr/>
                    <a:lstStyle/>
                    <a:p>
                      <a:pPr algn="ctr">
                        <a:buNone/>
                      </a:pPr>
                      <a:r>
                        <a:rPr lang="en-US" dirty="0"/>
                        <a:t>16.95 %</a:t>
                      </a:r>
                    </a:p>
                  </a:txBody>
                  <a:tcPr anchor="ctr"/>
                </a:tc>
                <a:extLst>
                  <a:ext uri="{0D108BD9-81ED-4DB2-BD59-A6C34878D82A}">
                    <a16:rowId xmlns:a16="http://schemas.microsoft.com/office/drawing/2014/main" val="2119831125"/>
                  </a:ext>
                </a:extLst>
              </a:tr>
            </a:tbl>
          </a:graphicData>
        </a:graphic>
      </p:graphicFrame>
    </p:spTree>
    <p:extLst>
      <p:ext uri="{BB962C8B-B14F-4D97-AF65-F5344CB8AC3E}">
        <p14:creationId xmlns:p14="http://schemas.microsoft.com/office/powerpoint/2010/main" val="1610709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2C331-5B76-264E-D177-1633A31CD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9DC47-D3E9-6D90-FD67-2D452FA436D9}"/>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Net Profit Analysis by Showroom</a:t>
            </a:r>
          </a:p>
        </p:txBody>
      </p:sp>
      <p:sp>
        <p:nvSpPr>
          <p:cNvPr id="5" name="Title 1">
            <a:extLst>
              <a:ext uri="{FF2B5EF4-FFF2-40B4-BE49-F238E27FC236}">
                <a16:creationId xmlns:a16="http://schemas.microsoft.com/office/drawing/2014/main" id="{99784BF6-E084-243C-3079-B761F4CAD4A2}"/>
              </a:ext>
            </a:extLst>
          </p:cNvPr>
          <p:cNvSpPr txBox="1">
            <a:spLocks/>
          </p:cNvSpPr>
          <p:nvPr/>
        </p:nvSpPr>
        <p:spPr>
          <a:xfrm>
            <a:off x="51653" y="726181"/>
            <a:ext cx="4170543"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Operating cost of Showroom City-wise:</a:t>
            </a:r>
          </a:p>
        </p:txBody>
      </p:sp>
      <p:sp>
        <p:nvSpPr>
          <p:cNvPr id="4" name="Title 1">
            <a:extLst>
              <a:ext uri="{FF2B5EF4-FFF2-40B4-BE49-F238E27FC236}">
                <a16:creationId xmlns:a16="http://schemas.microsoft.com/office/drawing/2014/main" id="{04932781-9221-1615-5E0B-48A119167950}"/>
              </a:ext>
            </a:extLst>
          </p:cNvPr>
          <p:cNvSpPr txBox="1">
            <a:spLocks/>
          </p:cNvSpPr>
          <p:nvPr/>
        </p:nvSpPr>
        <p:spPr>
          <a:xfrm>
            <a:off x="51652" y="1110238"/>
            <a:ext cx="4679907"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Monthly Gross and Profit for Mumbai Showroom 2024:</a:t>
            </a:r>
          </a:p>
        </p:txBody>
      </p:sp>
      <p:graphicFrame>
        <p:nvGraphicFramePr>
          <p:cNvPr id="7" name="Table 6">
            <a:extLst>
              <a:ext uri="{FF2B5EF4-FFF2-40B4-BE49-F238E27FC236}">
                <a16:creationId xmlns:a16="http://schemas.microsoft.com/office/drawing/2014/main" id="{D71BC60B-2E14-97EC-F4A5-88A5114D0527}"/>
              </a:ext>
            </a:extLst>
          </p:cNvPr>
          <p:cNvGraphicFramePr>
            <a:graphicFrameLocks noGrp="1"/>
          </p:cNvGraphicFramePr>
          <p:nvPr>
            <p:extLst>
              <p:ext uri="{D42A27DB-BD31-4B8C-83A1-F6EECF244321}">
                <p14:modId xmlns:p14="http://schemas.microsoft.com/office/powerpoint/2010/main" val="812178521"/>
              </p:ext>
            </p:extLst>
          </p:nvPr>
        </p:nvGraphicFramePr>
        <p:xfrm>
          <a:off x="158195" y="1526527"/>
          <a:ext cx="11906976" cy="5150431"/>
        </p:xfrm>
        <a:graphic>
          <a:graphicData uri="http://schemas.openxmlformats.org/drawingml/2006/table">
            <a:tbl>
              <a:tblPr firstRow="1" bandRow="1">
                <a:tableStyleId>{616DA210-FB5B-4158-B5E0-FEB733F419BA}</a:tableStyleId>
              </a:tblPr>
              <a:tblGrid>
                <a:gridCol w="1488372">
                  <a:extLst>
                    <a:ext uri="{9D8B030D-6E8A-4147-A177-3AD203B41FA5}">
                      <a16:colId xmlns:a16="http://schemas.microsoft.com/office/drawing/2014/main" val="563446099"/>
                    </a:ext>
                  </a:extLst>
                </a:gridCol>
                <a:gridCol w="1605997">
                  <a:extLst>
                    <a:ext uri="{9D8B030D-6E8A-4147-A177-3AD203B41FA5}">
                      <a16:colId xmlns:a16="http://schemas.microsoft.com/office/drawing/2014/main" val="1483691423"/>
                    </a:ext>
                  </a:extLst>
                </a:gridCol>
                <a:gridCol w="1478996">
                  <a:extLst>
                    <a:ext uri="{9D8B030D-6E8A-4147-A177-3AD203B41FA5}">
                      <a16:colId xmlns:a16="http://schemas.microsoft.com/office/drawing/2014/main" val="2295663464"/>
                    </a:ext>
                  </a:extLst>
                </a:gridCol>
                <a:gridCol w="1380123">
                  <a:extLst>
                    <a:ext uri="{9D8B030D-6E8A-4147-A177-3AD203B41FA5}">
                      <a16:colId xmlns:a16="http://schemas.microsoft.com/office/drawing/2014/main" val="275066732"/>
                    </a:ext>
                  </a:extLst>
                </a:gridCol>
                <a:gridCol w="1488372">
                  <a:extLst>
                    <a:ext uri="{9D8B030D-6E8A-4147-A177-3AD203B41FA5}">
                      <a16:colId xmlns:a16="http://schemas.microsoft.com/office/drawing/2014/main" val="4124428345"/>
                    </a:ext>
                  </a:extLst>
                </a:gridCol>
                <a:gridCol w="1488372">
                  <a:extLst>
                    <a:ext uri="{9D8B030D-6E8A-4147-A177-3AD203B41FA5}">
                      <a16:colId xmlns:a16="http://schemas.microsoft.com/office/drawing/2014/main" val="282965329"/>
                    </a:ext>
                  </a:extLst>
                </a:gridCol>
                <a:gridCol w="1488372">
                  <a:extLst>
                    <a:ext uri="{9D8B030D-6E8A-4147-A177-3AD203B41FA5}">
                      <a16:colId xmlns:a16="http://schemas.microsoft.com/office/drawing/2014/main" val="4117380875"/>
                    </a:ext>
                  </a:extLst>
                </a:gridCol>
                <a:gridCol w="1488372">
                  <a:extLst>
                    <a:ext uri="{9D8B030D-6E8A-4147-A177-3AD203B41FA5}">
                      <a16:colId xmlns:a16="http://schemas.microsoft.com/office/drawing/2014/main" val="1991965073"/>
                    </a:ext>
                  </a:extLst>
                </a:gridCol>
              </a:tblGrid>
              <a:tr h="396187">
                <a:tc>
                  <a:txBody>
                    <a:bodyPr/>
                    <a:lstStyle/>
                    <a:p>
                      <a:pPr marL="0" algn="ctr" defTabSz="914400" rtl="0" eaLnBrk="1" fontAlgn="b" latinLnBrk="0" hangingPunct="1">
                        <a:buNone/>
                      </a:pPr>
                      <a:r>
                        <a:rPr lang="en-US" sz="1600" b="1" kern="1200" dirty="0">
                          <a:solidFill>
                            <a:schemeClr val="tx1"/>
                          </a:solidFill>
                          <a:latin typeface="+mn-lt"/>
                          <a:ea typeface="+mn-ea"/>
                          <a:cs typeface="+mn-cs"/>
                        </a:rPr>
                        <a:t>Sale Month</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Units Sold</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Revenue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 Cost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a:t>
                      </a:r>
                    </a:p>
                  </a:txBody>
                  <a:tcPr marL="6350" marR="6350" marT="6350" marB="0" anchor="ctr"/>
                </a:tc>
                <a:extLst>
                  <a:ext uri="{0D108BD9-81ED-4DB2-BD59-A6C34878D82A}">
                    <a16:rowId xmlns:a16="http://schemas.microsoft.com/office/drawing/2014/main" val="4232006560"/>
                  </a:ext>
                </a:extLst>
              </a:tr>
              <a:tr h="396187">
                <a:tc>
                  <a:txBody>
                    <a:bodyPr/>
                    <a:lstStyle/>
                    <a:p>
                      <a:pPr algn="l">
                        <a:buNone/>
                      </a:pPr>
                      <a:r>
                        <a:rPr lang="en-US" dirty="0"/>
                        <a:t>January</a:t>
                      </a:r>
                    </a:p>
                  </a:txBody>
                  <a:tcPr anchor="ctr"/>
                </a:tc>
                <a:tc>
                  <a:txBody>
                    <a:bodyPr/>
                    <a:lstStyle/>
                    <a:p>
                      <a:pPr algn="ctr">
                        <a:buNone/>
                      </a:pPr>
                      <a:r>
                        <a:rPr lang="en-US" dirty="0"/>
                        <a:t>20</a:t>
                      </a:r>
                    </a:p>
                  </a:txBody>
                  <a:tcPr anchor="ctr"/>
                </a:tc>
                <a:tc>
                  <a:txBody>
                    <a:bodyPr/>
                    <a:lstStyle/>
                    <a:p>
                      <a:pPr algn="ctr">
                        <a:buNone/>
                      </a:pPr>
                      <a:r>
                        <a:rPr lang="en-US" dirty="0"/>
                        <a:t>64,400,175</a:t>
                      </a:r>
                    </a:p>
                  </a:txBody>
                  <a:tcPr anchor="ctr"/>
                </a:tc>
                <a:tc>
                  <a:txBody>
                    <a:bodyPr/>
                    <a:lstStyle/>
                    <a:p>
                      <a:pPr algn="ctr">
                        <a:buNone/>
                      </a:pPr>
                      <a:r>
                        <a:rPr lang="en-US" dirty="0"/>
                        <a:t>12,915,175</a:t>
                      </a:r>
                    </a:p>
                  </a:txBody>
                  <a:tcPr anchor="ctr"/>
                </a:tc>
                <a:tc>
                  <a:txBody>
                    <a:bodyPr/>
                    <a:lstStyle/>
                    <a:p>
                      <a:pPr algn="ctr">
                        <a:buNone/>
                      </a:pPr>
                      <a:r>
                        <a:rPr lang="en-US" dirty="0"/>
                        <a:t>1,055,771</a:t>
                      </a:r>
                    </a:p>
                  </a:txBody>
                  <a:tcPr anchor="ctr"/>
                </a:tc>
                <a:tc>
                  <a:txBody>
                    <a:bodyPr/>
                    <a:lstStyle/>
                    <a:p>
                      <a:pPr algn="ctr">
                        <a:buNone/>
                      </a:pPr>
                      <a:r>
                        <a:rPr lang="en-US"/>
                        <a:t>11,859,404</a:t>
                      </a:r>
                    </a:p>
                  </a:txBody>
                  <a:tcPr anchor="ctr"/>
                </a:tc>
                <a:tc>
                  <a:txBody>
                    <a:bodyPr/>
                    <a:lstStyle/>
                    <a:p>
                      <a:pPr algn="ctr">
                        <a:buNone/>
                      </a:pPr>
                      <a:r>
                        <a:rPr lang="en-US"/>
                        <a:t>18.75 %</a:t>
                      </a:r>
                    </a:p>
                  </a:txBody>
                  <a:tcPr anchor="ctr"/>
                </a:tc>
                <a:tc>
                  <a:txBody>
                    <a:bodyPr/>
                    <a:lstStyle/>
                    <a:p>
                      <a:pPr algn="ctr">
                        <a:buNone/>
                      </a:pPr>
                      <a:r>
                        <a:rPr lang="en-US"/>
                        <a:t>17.19 %</a:t>
                      </a:r>
                    </a:p>
                  </a:txBody>
                  <a:tcPr anchor="ctr"/>
                </a:tc>
                <a:extLst>
                  <a:ext uri="{0D108BD9-81ED-4DB2-BD59-A6C34878D82A}">
                    <a16:rowId xmlns:a16="http://schemas.microsoft.com/office/drawing/2014/main" val="3237329551"/>
                  </a:ext>
                </a:extLst>
              </a:tr>
              <a:tr h="396187">
                <a:tc>
                  <a:txBody>
                    <a:bodyPr/>
                    <a:lstStyle/>
                    <a:p>
                      <a:pPr algn="l">
                        <a:buNone/>
                      </a:pPr>
                      <a:r>
                        <a:rPr lang="en-US"/>
                        <a:t>February</a:t>
                      </a:r>
                    </a:p>
                  </a:txBody>
                  <a:tcPr anchor="ctr"/>
                </a:tc>
                <a:tc>
                  <a:txBody>
                    <a:bodyPr/>
                    <a:lstStyle/>
                    <a:p>
                      <a:pPr algn="ctr">
                        <a:buNone/>
                      </a:pPr>
                      <a:r>
                        <a:rPr lang="en-US"/>
                        <a:t>11</a:t>
                      </a:r>
                    </a:p>
                  </a:txBody>
                  <a:tcPr anchor="ctr"/>
                </a:tc>
                <a:tc>
                  <a:txBody>
                    <a:bodyPr/>
                    <a:lstStyle/>
                    <a:p>
                      <a:pPr algn="ctr">
                        <a:buNone/>
                      </a:pPr>
                      <a:r>
                        <a:rPr lang="en-US"/>
                        <a:t>21,863,197</a:t>
                      </a:r>
                    </a:p>
                  </a:txBody>
                  <a:tcPr anchor="ctr"/>
                </a:tc>
                <a:tc>
                  <a:txBody>
                    <a:bodyPr/>
                    <a:lstStyle/>
                    <a:p>
                      <a:pPr algn="ctr">
                        <a:buNone/>
                      </a:pPr>
                      <a:r>
                        <a:rPr lang="en-US"/>
                        <a:t>4,448,197</a:t>
                      </a:r>
                    </a:p>
                  </a:txBody>
                  <a:tcPr anchor="ctr"/>
                </a:tc>
                <a:tc>
                  <a:txBody>
                    <a:bodyPr/>
                    <a:lstStyle/>
                    <a:p>
                      <a:pPr algn="ctr">
                        <a:buNone/>
                      </a:pPr>
                      <a:r>
                        <a:rPr lang="en-US"/>
                        <a:t>1,055,771</a:t>
                      </a:r>
                    </a:p>
                  </a:txBody>
                  <a:tcPr anchor="ctr"/>
                </a:tc>
                <a:tc>
                  <a:txBody>
                    <a:bodyPr/>
                    <a:lstStyle/>
                    <a:p>
                      <a:pPr algn="ctr">
                        <a:buNone/>
                      </a:pPr>
                      <a:r>
                        <a:rPr lang="en-US" dirty="0"/>
                        <a:t>3,392,427</a:t>
                      </a:r>
                    </a:p>
                  </a:txBody>
                  <a:tcPr anchor="ctr"/>
                </a:tc>
                <a:tc>
                  <a:txBody>
                    <a:bodyPr/>
                    <a:lstStyle/>
                    <a:p>
                      <a:pPr algn="ctr">
                        <a:buNone/>
                      </a:pPr>
                      <a:r>
                        <a:rPr lang="en-US"/>
                        <a:t>19.05 %</a:t>
                      </a:r>
                    </a:p>
                  </a:txBody>
                  <a:tcPr anchor="ctr"/>
                </a:tc>
                <a:tc>
                  <a:txBody>
                    <a:bodyPr/>
                    <a:lstStyle/>
                    <a:p>
                      <a:pPr algn="ctr">
                        <a:buNone/>
                      </a:pPr>
                      <a:r>
                        <a:rPr lang="en-US"/>
                        <a:t>14.29 %</a:t>
                      </a:r>
                    </a:p>
                  </a:txBody>
                  <a:tcPr anchor="ctr"/>
                </a:tc>
                <a:extLst>
                  <a:ext uri="{0D108BD9-81ED-4DB2-BD59-A6C34878D82A}">
                    <a16:rowId xmlns:a16="http://schemas.microsoft.com/office/drawing/2014/main" val="4213391767"/>
                  </a:ext>
                </a:extLst>
              </a:tr>
              <a:tr h="396187">
                <a:tc>
                  <a:txBody>
                    <a:bodyPr/>
                    <a:lstStyle/>
                    <a:p>
                      <a:pPr algn="l">
                        <a:buNone/>
                      </a:pPr>
                      <a:r>
                        <a:rPr lang="en-US"/>
                        <a:t>March</a:t>
                      </a:r>
                    </a:p>
                  </a:txBody>
                  <a:tcPr anchor="ctr"/>
                </a:tc>
                <a:tc>
                  <a:txBody>
                    <a:bodyPr/>
                    <a:lstStyle/>
                    <a:p>
                      <a:pPr algn="ctr">
                        <a:buNone/>
                      </a:pPr>
                      <a:r>
                        <a:rPr lang="en-US"/>
                        <a:t>24</a:t>
                      </a:r>
                    </a:p>
                  </a:txBody>
                  <a:tcPr anchor="ctr"/>
                </a:tc>
                <a:tc>
                  <a:txBody>
                    <a:bodyPr/>
                    <a:lstStyle/>
                    <a:p>
                      <a:pPr algn="ctr">
                        <a:buNone/>
                      </a:pPr>
                      <a:r>
                        <a:rPr lang="en-US"/>
                        <a:t>73,023,079</a:t>
                      </a:r>
                    </a:p>
                  </a:txBody>
                  <a:tcPr anchor="ctr"/>
                </a:tc>
                <a:tc>
                  <a:txBody>
                    <a:bodyPr/>
                    <a:lstStyle/>
                    <a:p>
                      <a:pPr algn="ctr">
                        <a:buNone/>
                      </a:pPr>
                      <a:r>
                        <a:rPr lang="en-US"/>
                        <a:t>14,558,079</a:t>
                      </a:r>
                    </a:p>
                  </a:txBody>
                  <a:tcPr anchor="ctr"/>
                </a:tc>
                <a:tc>
                  <a:txBody>
                    <a:bodyPr/>
                    <a:lstStyle/>
                    <a:p>
                      <a:pPr algn="ctr">
                        <a:buNone/>
                      </a:pPr>
                      <a:r>
                        <a:rPr lang="en-US"/>
                        <a:t>1,055,771</a:t>
                      </a:r>
                    </a:p>
                  </a:txBody>
                  <a:tcPr anchor="ctr"/>
                </a:tc>
                <a:tc>
                  <a:txBody>
                    <a:bodyPr/>
                    <a:lstStyle/>
                    <a:p>
                      <a:pPr algn="ctr">
                        <a:buNone/>
                      </a:pPr>
                      <a:r>
                        <a:rPr lang="en-US"/>
                        <a:t>13,502,308</a:t>
                      </a:r>
                    </a:p>
                  </a:txBody>
                  <a:tcPr anchor="ctr"/>
                </a:tc>
                <a:tc>
                  <a:txBody>
                    <a:bodyPr/>
                    <a:lstStyle/>
                    <a:p>
                      <a:pPr algn="ctr">
                        <a:buNone/>
                      </a:pPr>
                      <a:r>
                        <a:rPr lang="en-US" dirty="0"/>
                        <a:t>19.18 %</a:t>
                      </a:r>
                    </a:p>
                  </a:txBody>
                  <a:tcPr anchor="ctr"/>
                </a:tc>
                <a:tc>
                  <a:txBody>
                    <a:bodyPr/>
                    <a:lstStyle/>
                    <a:p>
                      <a:pPr algn="ctr">
                        <a:buNone/>
                      </a:pPr>
                      <a:r>
                        <a:rPr lang="en-US" dirty="0"/>
                        <a:t>17.81 %</a:t>
                      </a:r>
                    </a:p>
                  </a:txBody>
                  <a:tcPr anchor="ctr"/>
                </a:tc>
                <a:extLst>
                  <a:ext uri="{0D108BD9-81ED-4DB2-BD59-A6C34878D82A}">
                    <a16:rowId xmlns:a16="http://schemas.microsoft.com/office/drawing/2014/main" val="4061775816"/>
                  </a:ext>
                </a:extLst>
              </a:tr>
              <a:tr h="396187">
                <a:tc>
                  <a:txBody>
                    <a:bodyPr/>
                    <a:lstStyle/>
                    <a:p>
                      <a:pPr algn="l">
                        <a:buNone/>
                      </a:pPr>
                      <a:r>
                        <a:rPr lang="en-US"/>
                        <a:t>April</a:t>
                      </a:r>
                    </a:p>
                  </a:txBody>
                  <a:tcPr anchor="ctr"/>
                </a:tc>
                <a:tc>
                  <a:txBody>
                    <a:bodyPr/>
                    <a:lstStyle/>
                    <a:p>
                      <a:pPr algn="ctr">
                        <a:buNone/>
                      </a:pPr>
                      <a:r>
                        <a:rPr lang="en-US"/>
                        <a:t>24</a:t>
                      </a:r>
                    </a:p>
                  </a:txBody>
                  <a:tcPr anchor="ctr"/>
                </a:tc>
                <a:tc>
                  <a:txBody>
                    <a:bodyPr/>
                    <a:lstStyle/>
                    <a:p>
                      <a:pPr algn="ctr">
                        <a:buNone/>
                      </a:pPr>
                      <a:r>
                        <a:rPr lang="en-US"/>
                        <a:t>50,394,982</a:t>
                      </a:r>
                    </a:p>
                  </a:txBody>
                  <a:tcPr anchor="ctr"/>
                </a:tc>
                <a:tc>
                  <a:txBody>
                    <a:bodyPr/>
                    <a:lstStyle/>
                    <a:p>
                      <a:pPr algn="ctr">
                        <a:buNone/>
                      </a:pPr>
                      <a:r>
                        <a:rPr lang="en-US"/>
                        <a:t>10,144,982</a:t>
                      </a:r>
                    </a:p>
                  </a:txBody>
                  <a:tcPr anchor="ctr"/>
                </a:tc>
                <a:tc>
                  <a:txBody>
                    <a:bodyPr/>
                    <a:lstStyle/>
                    <a:p>
                      <a:pPr algn="ctr">
                        <a:buNone/>
                      </a:pPr>
                      <a:r>
                        <a:rPr lang="en-US"/>
                        <a:t>1,055,771</a:t>
                      </a:r>
                    </a:p>
                  </a:txBody>
                  <a:tcPr anchor="ctr"/>
                </a:tc>
                <a:tc>
                  <a:txBody>
                    <a:bodyPr/>
                    <a:lstStyle/>
                    <a:p>
                      <a:pPr algn="ctr">
                        <a:buNone/>
                      </a:pPr>
                      <a:r>
                        <a:rPr lang="en-US"/>
                        <a:t>9,089,211</a:t>
                      </a:r>
                    </a:p>
                  </a:txBody>
                  <a:tcPr anchor="ctr"/>
                </a:tc>
                <a:tc>
                  <a:txBody>
                    <a:bodyPr/>
                    <a:lstStyle/>
                    <a:p>
                      <a:pPr algn="ctr">
                        <a:buNone/>
                      </a:pPr>
                      <a:r>
                        <a:rPr lang="en-US"/>
                        <a:t>20 %</a:t>
                      </a:r>
                    </a:p>
                  </a:txBody>
                  <a:tcPr anchor="ctr"/>
                </a:tc>
                <a:tc>
                  <a:txBody>
                    <a:bodyPr/>
                    <a:lstStyle/>
                    <a:p>
                      <a:pPr algn="ctr">
                        <a:buNone/>
                      </a:pPr>
                      <a:r>
                        <a:rPr lang="en-US" dirty="0"/>
                        <a:t>18 %</a:t>
                      </a:r>
                    </a:p>
                  </a:txBody>
                  <a:tcPr anchor="ctr"/>
                </a:tc>
                <a:extLst>
                  <a:ext uri="{0D108BD9-81ED-4DB2-BD59-A6C34878D82A}">
                    <a16:rowId xmlns:a16="http://schemas.microsoft.com/office/drawing/2014/main" val="2104863014"/>
                  </a:ext>
                </a:extLst>
              </a:tr>
              <a:tr h="396187">
                <a:tc>
                  <a:txBody>
                    <a:bodyPr/>
                    <a:lstStyle/>
                    <a:p>
                      <a:pPr algn="l">
                        <a:buNone/>
                      </a:pPr>
                      <a:r>
                        <a:rPr lang="en-US"/>
                        <a:t>May</a:t>
                      </a:r>
                    </a:p>
                  </a:txBody>
                  <a:tcPr anchor="ctr"/>
                </a:tc>
                <a:tc>
                  <a:txBody>
                    <a:bodyPr/>
                    <a:lstStyle/>
                    <a:p>
                      <a:pPr algn="ctr">
                        <a:buNone/>
                      </a:pPr>
                      <a:r>
                        <a:rPr lang="en-US"/>
                        <a:t>32</a:t>
                      </a:r>
                    </a:p>
                  </a:txBody>
                  <a:tcPr anchor="ctr"/>
                </a:tc>
                <a:tc>
                  <a:txBody>
                    <a:bodyPr/>
                    <a:lstStyle/>
                    <a:p>
                      <a:pPr algn="ctr">
                        <a:buNone/>
                      </a:pPr>
                      <a:r>
                        <a:rPr lang="en-US"/>
                        <a:t>61,215,636</a:t>
                      </a:r>
                    </a:p>
                  </a:txBody>
                  <a:tcPr anchor="ctr"/>
                </a:tc>
                <a:tc>
                  <a:txBody>
                    <a:bodyPr/>
                    <a:lstStyle/>
                    <a:p>
                      <a:pPr algn="ctr">
                        <a:buNone/>
                      </a:pPr>
                      <a:r>
                        <a:rPr lang="en-US"/>
                        <a:t>12,735,636</a:t>
                      </a:r>
                    </a:p>
                  </a:txBody>
                  <a:tcPr anchor="ctr"/>
                </a:tc>
                <a:tc>
                  <a:txBody>
                    <a:bodyPr/>
                    <a:lstStyle/>
                    <a:p>
                      <a:pPr algn="ctr">
                        <a:buNone/>
                      </a:pPr>
                      <a:r>
                        <a:rPr lang="en-US"/>
                        <a:t>1,055,771</a:t>
                      </a:r>
                    </a:p>
                  </a:txBody>
                  <a:tcPr anchor="ctr"/>
                </a:tc>
                <a:tc>
                  <a:txBody>
                    <a:bodyPr/>
                    <a:lstStyle/>
                    <a:p>
                      <a:pPr algn="ctr">
                        <a:buNone/>
                      </a:pPr>
                      <a:r>
                        <a:rPr lang="en-US"/>
                        <a:t>11,679,865</a:t>
                      </a:r>
                    </a:p>
                  </a:txBody>
                  <a:tcPr anchor="ctr"/>
                </a:tc>
                <a:tc>
                  <a:txBody>
                    <a:bodyPr/>
                    <a:lstStyle/>
                    <a:p>
                      <a:pPr algn="ctr">
                        <a:buNone/>
                      </a:pPr>
                      <a:r>
                        <a:rPr lang="en-US"/>
                        <a:t>19.67 %</a:t>
                      </a:r>
                    </a:p>
                  </a:txBody>
                  <a:tcPr anchor="ctr"/>
                </a:tc>
                <a:tc>
                  <a:txBody>
                    <a:bodyPr/>
                    <a:lstStyle/>
                    <a:p>
                      <a:pPr algn="ctr">
                        <a:buNone/>
                      </a:pPr>
                      <a:r>
                        <a:rPr lang="en-US" dirty="0"/>
                        <a:t>18.03 %</a:t>
                      </a:r>
                    </a:p>
                  </a:txBody>
                  <a:tcPr anchor="ctr"/>
                </a:tc>
                <a:extLst>
                  <a:ext uri="{0D108BD9-81ED-4DB2-BD59-A6C34878D82A}">
                    <a16:rowId xmlns:a16="http://schemas.microsoft.com/office/drawing/2014/main" val="313506327"/>
                  </a:ext>
                </a:extLst>
              </a:tr>
              <a:tr h="396187">
                <a:tc>
                  <a:txBody>
                    <a:bodyPr/>
                    <a:lstStyle/>
                    <a:p>
                      <a:pPr algn="l">
                        <a:buNone/>
                      </a:pPr>
                      <a:r>
                        <a:rPr lang="en-US"/>
                        <a:t>June</a:t>
                      </a:r>
                    </a:p>
                  </a:txBody>
                  <a:tcPr anchor="ctr"/>
                </a:tc>
                <a:tc>
                  <a:txBody>
                    <a:bodyPr/>
                    <a:lstStyle/>
                    <a:p>
                      <a:pPr algn="ctr">
                        <a:buNone/>
                      </a:pPr>
                      <a:r>
                        <a:rPr lang="en-US"/>
                        <a:t>21</a:t>
                      </a:r>
                    </a:p>
                  </a:txBody>
                  <a:tcPr anchor="ctr"/>
                </a:tc>
                <a:tc>
                  <a:txBody>
                    <a:bodyPr/>
                    <a:lstStyle/>
                    <a:p>
                      <a:pPr algn="ctr">
                        <a:buNone/>
                      </a:pPr>
                      <a:r>
                        <a:rPr lang="en-US"/>
                        <a:t>38,348,070</a:t>
                      </a:r>
                    </a:p>
                  </a:txBody>
                  <a:tcPr anchor="ctr"/>
                </a:tc>
                <a:tc>
                  <a:txBody>
                    <a:bodyPr/>
                    <a:lstStyle/>
                    <a:p>
                      <a:pPr algn="ctr">
                        <a:buNone/>
                      </a:pPr>
                      <a:r>
                        <a:rPr lang="en-US"/>
                        <a:t>8,053,070</a:t>
                      </a:r>
                    </a:p>
                  </a:txBody>
                  <a:tcPr anchor="ctr"/>
                </a:tc>
                <a:tc>
                  <a:txBody>
                    <a:bodyPr/>
                    <a:lstStyle/>
                    <a:p>
                      <a:pPr algn="ctr">
                        <a:buNone/>
                      </a:pPr>
                      <a:r>
                        <a:rPr lang="en-US"/>
                        <a:t>1,055,771</a:t>
                      </a:r>
                    </a:p>
                  </a:txBody>
                  <a:tcPr anchor="ctr"/>
                </a:tc>
                <a:tc>
                  <a:txBody>
                    <a:bodyPr/>
                    <a:lstStyle/>
                    <a:p>
                      <a:pPr algn="ctr">
                        <a:buNone/>
                      </a:pPr>
                      <a:r>
                        <a:rPr lang="en-US"/>
                        <a:t>6,997,299</a:t>
                      </a:r>
                    </a:p>
                  </a:txBody>
                  <a:tcPr anchor="ctr"/>
                </a:tc>
                <a:tc>
                  <a:txBody>
                    <a:bodyPr/>
                    <a:lstStyle/>
                    <a:p>
                      <a:pPr algn="ctr">
                        <a:buNone/>
                      </a:pPr>
                      <a:r>
                        <a:rPr lang="en-US"/>
                        <a:t>21.05 %</a:t>
                      </a:r>
                    </a:p>
                  </a:txBody>
                  <a:tcPr anchor="ctr"/>
                </a:tc>
                <a:tc>
                  <a:txBody>
                    <a:bodyPr/>
                    <a:lstStyle/>
                    <a:p>
                      <a:pPr algn="ctr">
                        <a:buNone/>
                      </a:pPr>
                      <a:r>
                        <a:rPr lang="en-US" dirty="0"/>
                        <a:t>15.79 %</a:t>
                      </a:r>
                    </a:p>
                  </a:txBody>
                  <a:tcPr anchor="ctr"/>
                </a:tc>
                <a:extLst>
                  <a:ext uri="{0D108BD9-81ED-4DB2-BD59-A6C34878D82A}">
                    <a16:rowId xmlns:a16="http://schemas.microsoft.com/office/drawing/2014/main" val="1655420942"/>
                  </a:ext>
                </a:extLst>
              </a:tr>
              <a:tr h="396187">
                <a:tc>
                  <a:txBody>
                    <a:bodyPr/>
                    <a:lstStyle/>
                    <a:p>
                      <a:pPr algn="l">
                        <a:buNone/>
                      </a:pPr>
                      <a:r>
                        <a:rPr lang="en-US"/>
                        <a:t>July</a:t>
                      </a:r>
                    </a:p>
                  </a:txBody>
                  <a:tcPr anchor="ctr"/>
                </a:tc>
                <a:tc>
                  <a:txBody>
                    <a:bodyPr/>
                    <a:lstStyle/>
                    <a:p>
                      <a:pPr algn="ctr">
                        <a:buNone/>
                      </a:pPr>
                      <a:r>
                        <a:rPr lang="en-US"/>
                        <a:t>19</a:t>
                      </a:r>
                    </a:p>
                  </a:txBody>
                  <a:tcPr anchor="ctr"/>
                </a:tc>
                <a:tc>
                  <a:txBody>
                    <a:bodyPr/>
                    <a:lstStyle/>
                    <a:p>
                      <a:pPr algn="ctr">
                        <a:buNone/>
                      </a:pPr>
                      <a:r>
                        <a:rPr lang="en-US"/>
                        <a:t>27,811,344</a:t>
                      </a:r>
                    </a:p>
                  </a:txBody>
                  <a:tcPr anchor="ctr"/>
                </a:tc>
                <a:tc>
                  <a:txBody>
                    <a:bodyPr/>
                    <a:lstStyle/>
                    <a:p>
                      <a:pPr algn="ctr">
                        <a:buNone/>
                      </a:pPr>
                      <a:r>
                        <a:rPr lang="en-US"/>
                        <a:t>6,166,344</a:t>
                      </a:r>
                    </a:p>
                  </a:txBody>
                  <a:tcPr anchor="ctr"/>
                </a:tc>
                <a:tc>
                  <a:txBody>
                    <a:bodyPr/>
                    <a:lstStyle/>
                    <a:p>
                      <a:pPr algn="ctr">
                        <a:buNone/>
                      </a:pPr>
                      <a:r>
                        <a:rPr lang="en-US"/>
                        <a:t>1,055,771</a:t>
                      </a:r>
                    </a:p>
                  </a:txBody>
                  <a:tcPr anchor="ctr"/>
                </a:tc>
                <a:tc>
                  <a:txBody>
                    <a:bodyPr/>
                    <a:lstStyle/>
                    <a:p>
                      <a:pPr algn="ctr">
                        <a:buNone/>
                      </a:pPr>
                      <a:r>
                        <a:rPr lang="en-US"/>
                        <a:t>5,110,573</a:t>
                      </a:r>
                    </a:p>
                  </a:txBody>
                  <a:tcPr anchor="ctr"/>
                </a:tc>
                <a:tc>
                  <a:txBody>
                    <a:bodyPr/>
                    <a:lstStyle/>
                    <a:p>
                      <a:pPr algn="ctr">
                        <a:buNone/>
                      </a:pPr>
                      <a:r>
                        <a:rPr lang="en-US"/>
                        <a:t>22.22 %</a:t>
                      </a:r>
                    </a:p>
                  </a:txBody>
                  <a:tcPr anchor="ctr"/>
                </a:tc>
                <a:tc>
                  <a:txBody>
                    <a:bodyPr/>
                    <a:lstStyle/>
                    <a:p>
                      <a:pPr algn="ctr">
                        <a:buNone/>
                      </a:pPr>
                      <a:r>
                        <a:rPr lang="en-US" dirty="0"/>
                        <a:t>18.52 %</a:t>
                      </a:r>
                    </a:p>
                  </a:txBody>
                  <a:tcPr anchor="ctr"/>
                </a:tc>
                <a:extLst>
                  <a:ext uri="{0D108BD9-81ED-4DB2-BD59-A6C34878D82A}">
                    <a16:rowId xmlns:a16="http://schemas.microsoft.com/office/drawing/2014/main" val="1880118335"/>
                  </a:ext>
                </a:extLst>
              </a:tr>
              <a:tr h="396187">
                <a:tc>
                  <a:txBody>
                    <a:bodyPr/>
                    <a:lstStyle/>
                    <a:p>
                      <a:pPr algn="l">
                        <a:buNone/>
                      </a:pPr>
                      <a:r>
                        <a:rPr lang="en-US"/>
                        <a:t>August</a:t>
                      </a:r>
                    </a:p>
                  </a:txBody>
                  <a:tcPr anchor="ctr"/>
                </a:tc>
                <a:tc>
                  <a:txBody>
                    <a:bodyPr/>
                    <a:lstStyle/>
                    <a:p>
                      <a:pPr algn="ctr">
                        <a:buNone/>
                      </a:pPr>
                      <a:r>
                        <a:rPr lang="en-US"/>
                        <a:t>25</a:t>
                      </a:r>
                    </a:p>
                  </a:txBody>
                  <a:tcPr anchor="ctr"/>
                </a:tc>
                <a:tc>
                  <a:txBody>
                    <a:bodyPr/>
                    <a:lstStyle/>
                    <a:p>
                      <a:pPr algn="ctr">
                        <a:buNone/>
                      </a:pPr>
                      <a:r>
                        <a:rPr lang="en-US"/>
                        <a:t>86,792,721</a:t>
                      </a:r>
                    </a:p>
                  </a:txBody>
                  <a:tcPr anchor="ctr"/>
                </a:tc>
                <a:tc>
                  <a:txBody>
                    <a:bodyPr/>
                    <a:lstStyle/>
                    <a:p>
                      <a:pPr algn="ctr">
                        <a:buNone/>
                      </a:pPr>
                      <a:r>
                        <a:rPr lang="en-US"/>
                        <a:t>17,202,721</a:t>
                      </a:r>
                    </a:p>
                  </a:txBody>
                  <a:tcPr anchor="ctr"/>
                </a:tc>
                <a:tc>
                  <a:txBody>
                    <a:bodyPr/>
                    <a:lstStyle/>
                    <a:p>
                      <a:pPr algn="ctr">
                        <a:buNone/>
                      </a:pPr>
                      <a:r>
                        <a:rPr lang="en-US"/>
                        <a:t>1,055,771</a:t>
                      </a:r>
                    </a:p>
                  </a:txBody>
                  <a:tcPr anchor="ctr"/>
                </a:tc>
                <a:tc>
                  <a:txBody>
                    <a:bodyPr/>
                    <a:lstStyle/>
                    <a:p>
                      <a:pPr algn="ctr">
                        <a:buNone/>
                      </a:pPr>
                      <a:r>
                        <a:rPr lang="en-US"/>
                        <a:t>16,146,950</a:t>
                      </a:r>
                    </a:p>
                  </a:txBody>
                  <a:tcPr anchor="ctr"/>
                </a:tc>
                <a:tc>
                  <a:txBody>
                    <a:bodyPr/>
                    <a:lstStyle/>
                    <a:p>
                      <a:pPr algn="ctr">
                        <a:buNone/>
                      </a:pPr>
                      <a:r>
                        <a:rPr lang="en-US"/>
                        <a:t>19.77 %</a:t>
                      </a:r>
                    </a:p>
                  </a:txBody>
                  <a:tcPr anchor="ctr"/>
                </a:tc>
                <a:tc>
                  <a:txBody>
                    <a:bodyPr/>
                    <a:lstStyle/>
                    <a:p>
                      <a:pPr algn="ctr">
                        <a:buNone/>
                      </a:pPr>
                      <a:r>
                        <a:rPr lang="en-US" dirty="0"/>
                        <a:t>18.6 %</a:t>
                      </a:r>
                    </a:p>
                  </a:txBody>
                  <a:tcPr anchor="ctr"/>
                </a:tc>
                <a:extLst>
                  <a:ext uri="{0D108BD9-81ED-4DB2-BD59-A6C34878D82A}">
                    <a16:rowId xmlns:a16="http://schemas.microsoft.com/office/drawing/2014/main" val="3773150926"/>
                  </a:ext>
                </a:extLst>
              </a:tr>
              <a:tr h="396187">
                <a:tc>
                  <a:txBody>
                    <a:bodyPr/>
                    <a:lstStyle/>
                    <a:p>
                      <a:pPr algn="l">
                        <a:buNone/>
                      </a:pPr>
                      <a:r>
                        <a:rPr lang="en-US"/>
                        <a:t>September</a:t>
                      </a:r>
                    </a:p>
                  </a:txBody>
                  <a:tcPr anchor="ctr"/>
                </a:tc>
                <a:tc>
                  <a:txBody>
                    <a:bodyPr/>
                    <a:lstStyle/>
                    <a:p>
                      <a:pPr algn="ctr">
                        <a:buNone/>
                      </a:pPr>
                      <a:r>
                        <a:rPr lang="en-US"/>
                        <a:t>17</a:t>
                      </a:r>
                    </a:p>
                  </a:txBody>
                  <a:tcPr anchor="ctr"/>
                </a:tc>
                <a:tc>
                  <a:txBody>
                    <a:bodyPr/>
                    <a:lstStyle/>
                    <a:p>
                      <a:pPr algn="ctr">
                        <a:buNone/>
                      </a:pPr>
                      <a:r>
                        <a:rPr lang="en-US"/>
                        <a:t>42,458,899</a:t>
                      </a:r>
                    </a:p>
                  </a:txBody>
                  <a:tcPr anchor="ctr"/>
                </a:tc>
                <a:tc>
                  <a:txBody>
                    <a:bodyPr/>
                    <a:lstStyle/>
                    <a:p>
                      <a:pPr algn="ctr">
                        <a:buNone/>
                      </a:pPr>
                      <a:r>
                        <a:rPr lang="en-US"/>
                        <a:t>8,663,899</a:t>
                      </a:r>
                    </a:p>
                  </a:txBody>
                  <a:tcPr anchor="ctr"/>
                </a:tc>
                <a:tc>
                  <a:txBody>
                    <a:bodyPr/>
                    <a:lstStyle/>
                    <a:p>
                      <a:pPr algn="ctr">
                        <a:buNone/>
                      </a:pPr>
                      <a:r>
                        <a:rPr lang="en-US"/>
                        <a:t>1,055,771</a:t>
                      </a:r>
                    </a:p>
                  </a:txBody>
                  <a:tcPr anchor="ctr"/>
                </a:tc>
                <a:tc>
                  <a:txBody>
                    <a:bodyPr/>
                    <a:lstStyle/>
                    <a:p>
                      <a:pPr algn="ctr">
                        <a:buNone/>
                      </a:pPr>
                      <a:r>
                        <a:rPr lang="en-US"/>
                        <a:t>7,608,128</a:t>
                      </a:r>
                    </a:p>
                  </a:txBody>
                  <a:tcPr anchor="ctr"/>
                </a:tc>
                <a:tc>
                  <a:txBody>
                    <a:bodyPr/>
                    <a:lstStyle/>
                    <a:p>
                      <a:pPr algn="ctr">
                        <a:buNone/>
                      </a:pPr>
                      <a:r>
                        <a:rPr lang="en-US"/>
                        <a:t>19.05 %</a:t>
                      </a:r>
                    </a:p>
                  </a:txBody>
                  <a:tcPr anchor="ctr"/>
                </a:tc>
                <a:tc>
                  <a:txBody>
                    <a:bodyPr/>
                    <a:lstStyle/>
                    <a:p>
                      <a:pPr algn="ctr">
                        <a:buNone/>
                      </a:pPr>
                      <a:r>
                        <a:rPr lang="en-US" dirty="0"/>
                        <a:t>16.67 %</a:t>
                      </a:r>
                    </a:p>
                  </a:txBody>
                  <a:tcPr anchor="ctr"/>
                </a:tc>
                <a:extLst>
                  <a:ext uri="{0D108BD9-81ED-4DB2-BD59-A6C34878D82A}">
                    <a16:rowId xmlns:a16="http://schemas.microsoft.com/office/drawing/2014/main" val="984347646"/>
                  </a:ext>
                </a:extLst>
              </a:tr>
              <a:tr h="396187">
                <a:tc>
                  <a:txBody>
                    <a:bodyPr/>
                    <a:lstStyle/>
                    <a:p>
                      <a:pPr algn="l">
                        <a:buNone/>
                      </a:pPr>
                      <a:r>
                        <a:rPr lang="en-US"/>
                        <a:t>October</a:t>
                      </a:r>
                    </a:p>
                  </a:txBody>
                  <a:tcPr anchor="ctr"/>
                </a:tc>
                <a:tc>
                  <a:txBody>
                    <a:bodyPr/>
                    <a:lstStyle/>
                    <a:p>
                      <a:pPr algn="ctr">
                        <a:buNone/>
                      </a:pPr>
                      <a:r>
                        <a:rPr lang="en-US"/>
                        <a:t>19</a:t>
                      </a:r>
                    </a:p>
                  </a:txBody>
                  <a:tcPr anchor="ctr"/>
                </a:tc>
                <a:tc>
                  <a:txBody>
                    <a:bodyPr/>
                    <a:lstStyle/>
                    <a:p>
                      <a:pPr algn="ctr">
                        <a:buNone/>
                      </a:pPr>
                      <a:r>
                        <a:rPr lang="en-US"/>
                        <a:t>46,198,041</a:t>
                      </a:r>
                    </a:p>
                  </a:txBody>
                  <a:tcPr anchor="ctr"/>
                </a:tc>
                <a:tc>
                  <a:txBody>
                    <a:bodyPr/>
                    <a:lstStyle/>
                    <a:p>
                      <a:pPr algn="ctr">
                        <a:buNone/>
                      </a:pPr>
                      <a:r>
                        <a:rPr lang="en-US"/>
                        <a:t>9,793,041</a:t>
                      </a:r>
                    </a:p>
                  </a:txBody>
                  <a:tcPr anchor="ctr"/>
                </a:tc>
                <a:tc>
                  <a:txBody>
                    <a:bodyPr/>
                    <a:lstStyle/>
                    <a:p>
                      <a:pPr algn="ctr">
                        <a:buNone/>
                      </a:pPr>
                      <a:r>
                        <a:rPr lang="en-US"/>
                        <a:t>1,055,771</a:t>
                      </a:r>
                    </a:p>
                  </a:txBody>
                  <a:tcPr anchor="ctr"/>
                </a:tc>
                <a:tc>
                  <a:txBody>
                    <a:bodyPr/>
                    <a:lstStyle/>
                    <a:p>
                      <a:pPr algn="ctr">
                        <a:buNone/>
                      </a:pPr>
                      <a:r>
                        <a:rPr lang="en-US"/>
                        <a:t>8,737,271</a:t>
                      </a:r>
                    </a:p>
                  </a:txBody>
                  <a:tcPr anchor="ctr"/>
                </a:tc>
                <a:tc>
                  <a:txBody>
                    <a:bodyPr/>
                    <a:lstStyle/>
                    <a:p>
                      <a:pPr algn="ctr">
                        <a:buNone/>
                      </a:pPr>
                      <a:r>
                        <a:rPr lang="en-US"/>
                        <a:t>19.57 %</a:t>
                      </a:r>
                    </a:p>
                  </a:txBody>
                  <a:tcPr anchor="ctr"/>
                </a:tc>
                <a:tc>
                  <a:txBody>
                    <a:bodyPr/>
                    <a:lstStyle/>
                    <a:p>
                      <a:pPr algn="ctr">
                        <a:buNone/>
                      </a:pPr>
                      <a:r>
                        <a:rPr lang="en-US" dirty="0"/>
                        <a:t>17.39 %</a:t>
                      </a:r>
                    </a:p>
                  </a:txBody>
                  <a:tcPr anchor="ctr"/>
                </a:tc>
                <a:extLst>
                  <a:ext uri="{0D108BD9-81ED-4DB2-BD59-A6C34878D82A}">
                    <a16:rowId xmlns:a16="http://schemas.microsoft.com/office/drawing/2014/main" val="2456975059"/>
                  </a:ext>
                </a:extLst>
              </a:tr>
              <a:tr h="396187">
                <a:tc>
                  <a:txBody>
                    <a:bodyPr/>
                    <a:lstStyle/>
                    <a:p>
                      <a:pPr algn="l">
                        <a:buNone/>
                      </a:pPr>
                      <a:r>
                        <a:rPr lang="en-US"/>
                        <a:t>November</a:t>
                      </a:r>
                    </a:p>
                  </a:txBody>
                  <a:tcPr anchor="ctr"/>
                </a:tc>
                <a:tc>
                  <a:txBody>
                    <a:bodyPr/>
                    <a:lstStyle/>
                    <a:p>
                      <a:pPr algn="ctr">
                        <a:buNone/>
                      </a:pPr>
                      <a:r>
                        <a:rPr lang="en-US"/>
                        <a:t>28</a:t>
                      </a:r>
                    </a:p>
                  </a:txBody>
                  <a:tcPr anchor="ctr"/>
                </a:tc>
                <a:tc>
                  <a:txBody>
                    <a:bodyPr/>
                    <a:lstStyle/>
                    <a:p>
                      <a:pPr algn="ctr">
                        <a:buNone/>
                      </a:pPr>
                      <a:r>
                        <a:rPr lang="en-US"/>
                        <a:t>65,324,232</a:t>
                      </a:r>
                    </a:p>
                  </a:txBody>
                  <a:tcPr anchor="ctr"/>
                </a:tc>
                <a:tc>
                  <a:txBody>
                    <a:bodyPr/>
                    <a:lstStyle/>
                    <a:p>
                      <a:pPr algn="ctr">
                        <a:buNone/>
                      </a:pPr>
                      <a:r>
                        <a:rPr lang="en-US"/>
                        <a:t>13,219,232</a:t>
                      </a:r>
                    </a:p>
                  </a:txBody>
                  <a:tcPr anchor="ctr"/>
                </a:tc>
                <a:tc>
                  <a:txBody>
                    <a:bodyPr/>
                    <a:lstStyle/>
                    <a:p>
                      <a:pPr algn="ctr">
                        <a:buNone/>
                      </a:pPr>
                      <a:r>
                        <a:rPr lang="en-US"/>
                        <a:t>1,055,771</a:t>
                      </a:r>
                    </a:p>
                  </a:txBody>
                  <a:tcPr anchor="ctr"/>
                </a:tc>
                <a:tc>
                  <a:txBody>
                    <a:bodyPr/>
                    <a:lstStyle/>
                    <a:p>
                      <a:pPr algn="ctr">
                        <a:buNone/>
                      </a:pPr>
                      <a:r>
                        <a:rPr lang="en-US"/>
                        <a:t>12,163,461</a:t>
                      </a:r>
                    </a:p>
                  </a:txBody>
                  <a:tcPr anchor="ctr"/>
                </a:tc>
                <a:tc>
                  <a:txBody>
                    <a:bodyPr/>
                    <a:lstStyle/>
                    <a:p>
                      <a:pPr algn="ctr">
                        <a:buNone/>
                      </a:pPr>
                      <a:r>
                        <a:rPr lang="en-US"/>
                        <a:t>20 %</a:t>
                      </a:r>
                    </a:p>
                  </a:txBody>
                  <a:tcPr anchor="ctr"/>
                </a:tc>
                <a:tc>
                  <a:txBody>
                    <a:bodyPr/>
                    <a:lstStyle/>
                    <a:p>
                      <a:pPr algn="ctr">
                        <a:buNone/>
                      </a:pPr>
                      <a:r>
                        <a:rPr lang="en-US" dirty="0"/>
                        <a:t>18.46 %</a:t>
                      </a:r>
                    </a:p>
                  </a:txBody>
                  <a:tcPr anchor="ctr"/>
                </a:tc>
                <a:extLst>
                  <a:ext uri="{0D108BD9-81ED-4DB2-BD59-A6C34878D82A}">
                    <a16:rowId xmlns:a16="http://schemas.microsoft.com/office/drawing/2014/main" val="712714810"/>
                  </a:ext>
                </a:extLst>
              </a:tr>
              <a:tr h="396187">
                <a:tc>
                  <a:txBody>
                    <a:bodyPr/>
                    <a:lstStyle/>
                    <a:p>
                      <a:pPr algn="l">
                        <a:buNone/>
                      </a:pPr>
                      <a:r>
                        <a:rPr lang="en-US" dirty="0"/>
                        <a:t>December</a:t>
                      </a:r>
                    </a:p>
                  </a:txBody>
                  <a:tcPr anchor="ctr"/>
                </a:tc>
                <a:tc>
                  <a:txBody>
                    <a:bodyPr/>
                    <a:lstStyle/>
                    <a:p>
                      <a:pPr algn="ctr">
                        <a:buNone/>
                      </a:pPr>
                      <a:r>
                        <a:rPr lang="en-US" dirty="0"/>
                        <a:t>16</a:t>
                      </a:r>
                    </a:p>
                  </a:txBody>
                  <a:tcPr anchor="ctr"/>
                </a:tc>
                <a:tc>
                  <a:txBody>
                    <a:bodyPr/>
                    <a:lstStyle/>
                    <a:p>
                      <a:pPr algn="ctr">
                        <a:buNone/>
                      </a:pPr>
                      <a:r>
                        <a:rPr lang="en-US"/>
                        <a:t>32,652,478</a:t>
                      </a:r>
                    </a:p>
                  </a:txBody>
                  <a:tcPr anchor="ctr"/>
                </a:tc>
                <a:tc>
                  <a:txBody>
                    <a:bodyPr/>
                    <a:lstStyle/>
                    <a:p>
                      <a:pPr algn="ctr">
                        <a:buNone/>
                      </a:pPr>
                      <a:r>
                        <a:rPr lang="en-US" dirty="0"/>
                        <a:t>6,552,478</a:t>
                      </a:r>
                    </a:p>
                  </a:txBody>
                  <a:tcPr anchor="ctr"/>
                </a:tc>
                <a:tc>
                  <a:txBody>
                    <a:bodyPr/>
                    <a:lstStyle/>
                    <a:p>
                      <a:pPr algn="ctr">
                        <a:buNone/>
                      </a:pPr>
                      <a:r>
                        <a:rPr lang="en-US"/>
                        <a:t>1,055,771</a:t>
                      </a:r>
                    </a:p>
                  </a:txBody>
                  <a:tcPr anchor="ctr"/>
                </a:tc>
                <a:tc>
                  <a:txBody>
                    <a:bodyPr/>
                    <a:lstStyle/>
                    <a:p>
                      <a:pPr algn="ctr">
                        <a:buNone/>
                      </a:pPr>
                      <a:r>
                        <a:rPr lang="en-US"/>
                        <a:t>5,496,707</a:t>
                      </a:r>
                    </a:p>
                  </a:txBody>
                  <a:tcPr anchor="ctr"/>
                </a:tc>
                <a:tc>
                  <a:txBody>
                    <a:bodyPr/>
                    <a:lstStyle/>
                    <a:p>
                      <a:pPr algn="ctr">
                        <a:buNone/>
                      </a:pPr>
                      <a:r>
                        <a:rPr lang="en-US"/>
                        <a:t>18.75 %</a:t>
                      </a:r>
                    </a:p>
                  </a:txBody>
                  <a:tcPr anchor="ctr"/>
                </a:tc>
                <a:tc>
                  <a:txBody>
                    <a:bodyPr/>
                    <a:lstStyle/>
                    <a:p>
                      <a:pPr algn="ctr">
                        <a:buNone/>
                      </a:pPr>
                      <a:r>
                        <a:rPr lang="en-US" dirty="0"/>
                        <a:t>15.62 %</a:t>
                      </a:r>
                    </a:p>
                  </a:txBody>
                  <a:tcPr anchor="ctr"/>
                </a:tc>
                <a:extLst>
                  <a:ext uri="{0D108BD9-81ED-4DB2-BD59-A6C34878D82A}">
                    <a16:rowId xmlns:a16="http://schemas.microsoft.com/office/drawing/2014/main" val="2119831125"/>
                  </a:ext>
                </a:extLst>
              </a:tr>
            </a:tbl>
          </a:graphicData>
        </a:graphic>
      </p:graphicFrame>
    </p:spTree>
    <p:extLst>
      <p:ext uri="{BB962C8B-B14F-4D97-AF65-F5344CB8AC3E}">
        <p14:creationId xmlns:p14="http://schemas.microsoft.com/office/powerpoint/2010/main" val="3014862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76A3F-C190-3ACD-5491-3D08CB5E6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25468-6B4C-9CC6-5759-8297CA14267E}"/>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Net Profit Analysis by Showroom</a:t>
            </a:r>
          </a:p>
        </p:txBody>
      </p:sp>
      <p:sp>
        <p:nvSpPr>
          <p:cNvPr id="5" name="Title 1">
            <a:extLst>
              <a:ext uri="{FF2B5EF4-FFF2-40B4-BE49-F238E27FC236}">
                <a16:creationId xmlns:a16="http://schemas.microsoft.com/office/drawing/2014/main" id="{F80552FF-9BF5-869E-68D6-555B79131412}"/>
              </a:ext>
            </a:extLst>
          </p:cNvPr>
          <p:cNvSpPr txBox="1">
            <a:spLocks/>
          </p:cNvSpPr>
          <p:nvPr/>
        </p:nvSpPr>
        <p:spPr>
          <a:xfrm>
            <a:off x="51653" y="726181"/>
            <a:ext cx="4170543"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Operating cost of Showroom City-wise:</a:t>
            </a:r>
          </a:p>
        </p:txBody>
      </p:sp>
      <p:sp>
        <p:nvSpPr>
          <p:cNvPr id="4" name="Title 1">
            <a:extLst>
              <a:ext uri="{FF2B5EF4-FFF2-40B4-BE49-F238E27FC236}">
                <a16:creationId xmlns:a16="http://schemas.microsoft.com/office/drawing/2014/main" id="{734FAC71-A4FC-C8D4-ABBC-7736A79FAA52}"/>
              </a:ext>
            </a:extLst>
          </p:cNvPr>
          <p:cNvSpPr txBox="1">
            <a:spLocks/>
          </p:cNvSpPr>
          <p:nvPr/>
        </p:nvSpPr>
        <p:spPr>
          <a:xfrm>
            <a:off x="51652" y="1110238"/>
            <a:ext cx="4679907"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Monthly Gross and Profit for Delhi Showroom 2023:</a:t>
            </a:r>
          </a:p>
        </p:txBody>
      </p:sp>
      <p:graphicFrame>
        <p:nvGraphicFramePr>
          <p:cNvPr id="7" name="Table 6">
            <a:extLst>
              <a:ext uri="{FF2B5EF4-FFF2-40B4-BE49-F238E27FC236}">
                <a16:creationId xmlns:a16="http://schemas.microsoft.com/office/drawing/2014/main" id="{D98BA828-912E-6F81-3A13-90DEBAA9DA64}"/>
              </a:ext>
            </a:extLst>
          </p:cNvPr>
          <p:cNvGraphicFramePr>
            <a:graphicFrameLocks noGrp="1"/>
          </p:cNvGraphicFramePr>
          <p:nvPr>
            <p:extLst>
              <p:ext uri="{D42A27DB-BD31-4B8C-83A1-F6EECF244321}">
                <p14:modId xmlns:p14="http://schemas.microsoft.com/office/powerpoint/2010/main" val="542180279"/>
              </p:ext>
            </p:extLst>
          </p:nvPr>
        </p:nvGraphicFramePr>
        <p:xfrm>
          <a:off x="158195" y="1526527"/>
          <a:ext cx="11906976" cy="5150431"/>
        </p:xfrm>
        <a:graphic>
          <a:graphicData uri="http://schemas.openxmlformats.org/drawingml/2006/table">
            <a:tbl>
              <a:tblPr firstRow="1" bandRow="1">
                <a:tableStyleId>{616DA210-FB5B-4158-B5E0-FEB733F419BA}</a:tableStyleId>
              </a:tblPr>
              <a:tblGrid>
                <a:gridCol w="1488372">
                  <a:extLst>
                    <a:ext uri="{9D8B030D-6E8A-4147-A177-3AD203B41FA5}">
                      <a16:colId xmlns:a16="http://schemas.microsoft.com/office/drawing/2014/main" val="563446099"/>
                    </a:ext>
                  </a:extLst>
                </a:gridCol>
                <a:gridCol w="1605997">
                  <a:extLst>
                    <a:ext uri="{9D8B030D-6E8A-4147-A177-3AD203B41FA5}">
                      <a16:colId xmlns:a16="http://schemas.microsoft.com/office/drawing/2014/main" val="1483691423"/>
                    </a:ext>
                  </a:extLst>
                </a:gridCol>
                <a:gridCol w="1478996">
                  <a:extLst>
                    <a:ext uri="{9D8B030D-6E8A-4147-A177-3AD203B41FA5}">
                      <a16:colId xmlns:a16="http://schemas.microsoft.com/office/drawing/2014/main" val="2295663464"/>
                    </a:ext>
                  </a:extLst>
                </a:gridCol>
                <a:gridCol w="1380123">
                  <a:extLst>
                    <a:ext uri="{9D8B030D-6E8A-4147-A177-3AD203B41FA5}">
                      <a16:colId xmlns:a16="http://schemas.microsoft.com/office/drawing/2014/main" val="275066732"/>
                    </a:ext>
                  </a:extLst>
                </a:gridCol>
                <a:gridCol w="1488372">
                  <a:extLst>
                    <a:ext uri="{9D8B030D-6E8A-4147-A177-3AD203B41FA5}">
                      <a16:colId xmlns:a16="http://schemas.microsoft.com/office/drawing/2014/main" val="4124428345"/>
                    </a:ext>
                  </a:extLst>
                </a:gridCol>
                <a:gridCol w="1488372">
                  <a:extLst>
                    <a:ext uri="{9D8B030D-6E8A-4147-A177-3AD203B41FA5}">
                      <a16:colId xmlns:a16="http://schemas.microsoft.com/office/drawing/2014/main" val="282965329"/>
                    </a:ext>
                  </a:extLst>
                </a:gridCol>
                <a:gridCol w="1488372">
                  <a:extLst>
                    <a:ext uri="{9D8B030D-6E8A-4147-A177-3AD203B41FA5}">
                      <a16:colId xmlns:a16="http://schemas.microsoft.com/office/drawing/2014/main" val="4117380875"/>
                    </a:ext>
                  </a:extLst>
                </a:gridCol>
                <a:gridCol w="1488372">
                  <a:extLst>
                    <a:ext uri="{9D8B030D-6E8A-4147-A177-3AD203B41FA5}">
                      <a16:colId xmlns:a16="http://schemas.microsoft.com/office/drawing/2014/main" val="1991965073"/>
                    </a:ext>
                  </a:extLst>
                </a:gridCol>
              </a:tblGrid>
              <a:tr h="396187">
                <a:tc>
                  <a:txBody>
                    <a:bodyPr/>
                    <a:lstStyle/>
                    <a:p>
                      <a:pPr marL="0" algn="ctr" defTabSz="914400" rtl="0" eaLnBrk="1" fontAlgn="b" latinLnBrk="0" hangingPunct="1">
                        <a:buNone/>
                      </a:pPr>
                      <a:r>
                        <a:rPr lang="en-US" sz="1600" b="1" kern="1200" dirty="0">
                          <a:solidFill>
                            <a:schemeClr val="tx1"/>
                          </a:solidFill>
                          <a:latin typeface="+mn-lt"/>
                          <a:ea typeface="+mn-ea"/>
                          <a:cs typeface="+mn-cs"/>
                        </a:rPr>
                        <a:t>Sale Month</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Units Sold</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Revenue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 Cost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a:t>
                      </a:r>
                    </a:p>
                  </a:txBody>
                  <a:tcPr marL="6350" marR="6350" marT="6350" marB="0" anchor="ctr"/>
                </a:tc>
                <a:extLst>
                  <a:ext uri="{0D108BD9-81ED-4DB2-BD59-A6C34878D82A}">
                    <a16:rowId xmlns:a16="http://schemas.microsoft.com/office/drawing/2014/main" val="4232006560"/>
                  </a:ext>
                </a:extLst>
              </a:tr>
              <a:tr h="396187">
                <a:tc>
                  <a:txBody>
                    <a:bodyPr/>
                    <a:lstStyle/>
                    <a:p>
                      <a:pPr algn="l">
                        <a:buNone/>
                      </a:pPr>
                      <a:r>
                        <a:rPr lang="en-US" dirty="0"/>
                        <a:t>January</a:t>
                      </a:r>
                    </a:p>
                  </a:txBody>
                  <a:tcPr anchor="ctr"/>
                </a:tc>
                <a:tc>
                  <a:txBody>
                    <a:bodyPr/>
                    <a:lstStyle/>
                    <a:p>
                      <a:pPr algn="ctr">
                        <a:buNone/>
                      </a:pPr>
                      <a:r>
                        <a:rPr lang="en-US" dirty="0"/>
                        <a:t>24</a:t>
                      </a:r>
                    </a:p>
                  </a:txBody>
                  <a:tcPr anchor="ctr"/>
                </a:tc>
                <a:tc>
                  <a:txBody>
                    <a:bodyPr/>
                    <a:lstStyle/>
                    <a:p>
                      <a:pPr algn="ctr">
                        <a:buNone/>
                      </a:pPr>
                      <a:r>
                        <a:rPr lang="en-US"/>
                        <a:t>78,968,486</a:t>
                      </a:r>
                    </a:p>
                  </a:txBody>
                  <a:tcPr anchor="ctr"/>
                </a:tc>
                <a:tc>
                  <a:txBody>
                    <a:bodyPr/>
                    <a:lstStyle/>
                    <a:p>
                      <a:pPr algn="ctr">
                        <a:buNone/>
                      </a:pPr>
                      <a:r>
                        <a:rPr lang="en-US"/>
                        <a:t>15,608,486</a:t>
                      </a:r>
                    </a:p>
                  </a:txBody>
                  <a:tcPr anchor="ctr"/>
                </a:tc>
                <a:tc>
                  <a:txBody>
                    <a:bodyPr/>
                    <a:lstStyle/>
                    <a:p>
                      <a:pPr algn="ctr">
                        <a:buNone/>
                      </a:pPr>
                      <a:r>
                        <a:rPr lang="en-US"/>
                        <a:t>789,284</a:t>
                      </a:r>
                    </a:p>
                  </a:txBody>
                  <a:tcPr anchor="ctr"/>
                </a:tc>
                <a:tc>
                  <a:txBody>
                    <a:bodyPr/>
                    <a:lstStyle/>
                    <a:p>
                      <a:pPr algn="ctr">
                        <a:buNone/>
                      </a:pPr>
                      <a:r>
                        <a:rPr lang="en-US"/>
                        <a:t>14,819,202</a:t>
                      </a:r>
                    </a:p>
                  </a:txBody>
                  <a:tcPr anchor="ctr"/>
                </a:tc>
                <a:tc>
                  <a:txBody>
                    <a:bodyPr/>
                    <a:lstStyle/>
                    <a:p>
                      <a:pPr algn="ctr">
                        <a:buNone/>
                      </a:pPr>
                      <a:r>
                        <a:rPr lang="en-US"/>
                        <a:t>19.23 %</a:t>
                      </a:r>
                    </a:p>
                  </a:txBody>
                  <a:tcPr anchor="ctr"/>
                </a:tc>
                <a:tc>
                  <a:txBody>
                    <a:bodyPr/>
                    <a:lstStyle/>
                    <a:p>
                      <a:pPr algn="ctr">
                        <a:buNone/>
                      </a:pPr>
                      <a:r>
                        <a:rPr lang="en-US"/>
                        <a:t>17.95 %</a:t>
                      </a:r>
                    </a:p>
                  </a:txBody>
                  <a:tcPr anchor="ctr"/>
                </a:tc>
                <a:extLst>
                  <a:ext uri="{0D108BD9-81ED-4DB2-BD59-A6C34878D82A}">
                    <a16:rowId xmlns:a16="http://schemas.microsoft.com/office/drawing/2014/main" val="3237329551"/>
                  </a:ext>
                </a:extLst>
              </a:tr>
              <a:tr h="396187">
                <a:tc>
                  <a:txBody>
                    <a:bodyPr/>
                    <a:lstStyle/>
                    <a:p>
                      <a:pPr algn="l">
                        <a:buNone/>
                      </a:pPr>
                      <a:r>
                        <a:rPr lang="en-US"/>
                        <a:t>February</a:t>
                      </a:r>
                    </a:p>
                  </a:txBody>
                  <a:tcPr anchor="ctr"/>
                </a:tc>
                <a:tc>
                  <a:txBody>
                    <a:bodyPr/>
                    <a:lstStyle/>
                    <a:p>
                      <a:pPr algn="ctr">
                        <a:buNone/>
                      </a:pPr>
                      <a:r>
                        <a:rPr lang="en-US"/>
                        <a:t>12</a:t>
                      </a:r>
                    </a:p>
                  </a:txBody>
                  <a:tcPr anchor="ctr"/>
                </a:tc>
                <a:tc>
                  <a:txBody>
                    <a:bodyPr/>
                    <a:lstStyle/>
                    <a:p>
                      <a:pPr algn="ctr">
                        <a:buNone/>
                      </a:pPr>
                      <a:r>
                        <a:rPr lang="en-US"/>
                        <a:t>43,480,350</a:t>
                      </a:r>
                    </a:p>
                  </a:txBody>
                  <a:tcPr anchor="ctr"/>
                </a:tc>
                <a:tc>
                  <a:txBody>
                    <a:bodyPr/>
                    <a:lstStyle/>
                    <a:p>
                      <a:pPr algn="ctr">
                        <a:buNone/>
                      </a:pPr>
                      <a:r>
                        <a:rPr lang="en-US"/>
                        <a:t>8,270,350</a:t>
                      </a:r>
                    </a:p>
                  </a:txBody>
                  <a:tcPr anchor="ctr"/>
                </a:tc>
                <a:tc>
                  <a:txBody>
                    <a:bodyPr/>
                    <a:lstStyle/>
                    <a:p>
                      <a:pPr algn="ctr">
                        <a:buNone/>
                      </a:pPr>
                      <a:r>
                        <a:rPr lang="en-US"/>
                        <a:t>789,284</a:t>
                      </a:r>
                    </a:p>
                  </a:txBody>
                  <a:tcPr anchor="ctr"/>
                </a:tc>
                <a:tc>
                  <a:txBody>
                    <a:bodyPr/>
                    <a:lstStyle/>
                    <a:p>
                      <a:pPr algn="ctr">
                        <a:buNone/>
                      </a:pPr>
                      <a:r>
                        <a:rPr lang="en-US"/>
                        <a:t>7,481,066</a:t>
                      </a:r>
                    </a:p>
                  </a:txBody>
                  <a:tcPr anchor="ctr"/>
                </a:tc>
                <a:tc>
                  <a:txBody>
                    <a:bodyPr/>
                    <a:lstStyle/>
                    <a:p>
                      <a:pPr algn="ctr">
                        <a:buNone/>
                      </a:pPr>
                      <a:r>
                        <a:rPr lang="en-US"/>
                        <a:t>18.6 %</a:t>
                      </a:r>
                    </a:p>
                  </a:txBody>
                  <a:tcPr anchor="ctr"/>
                </a:tc>
                <a:tc>
                  <a:txBody>
                    <a:bodyPr/>
                    <a:lstStyle/>
                    <a:p>
                      <a:pPr algn="ctr">
                        <a:buNone/>
                      </a:pPr>
                      <a:r>
                        <a:rPr lang="en-US"/>
                        <a:t>16.28 %</a:t>
                      </a:r>
                    </a:p>
                  </a:txBody>
                  <a:tcPr anchor="ctr"/>
                </a:tc>
                <a:extLst>
                  <a:ext uri="{0D108BD9-81ED-4DB2-BD59-A6C34878D82A}">
                    <a16:rowId xmlns:a16="http://schemas.microsoft.com/office/drawing/2014/main" val="4213391767"/>
                  </a:ext>
                </a:extLst>
              </a:tr>
              <a:tr h="396187">
                <a:tc>
                  <a:txBody>
                    <a:bodyPr/>
                    <a:lstStyle/>
                    <a:p>
                      <a:pPr algn="l">
                        <a:buNone/>
                      </a:pPr>
                      <a:r>
                        <a:rPr lang="en-US"/>
                        <a:t>March</a:t>
                      </a:r>
                    </a:p>
                  </a:txBody>
                  <a:tcPr anchor="ctr"/>
                </a:tc>
                <a:tc>
                  <a:txBody>
                    <a:bodyPr/>
                    <a:lstStyle/>
                    <a:p>
                      <a:pPr algn="ctr">
                        <a:buNone/>
                      </a:pPr>
                      <a:r>
                        <a:rPr lang="en-US"/>
                        <a:t>17</a:t>
                      </a:r>
                    </a:p>
                  </a:txBody>
                  <a:tcPr anchor="ctr"/>
                </a:tc>
                <a:tc>
                  <a:txBody>
                    <a:bodyPr/>
                    <a:lstStyle/>
                    <a:p>
                      <a:pPr algn="ctr">
                        <a:buNone/>
                      </a:pPr>
                      <a:r>
                        <a:rPr lang="en-US"/>
                        <a:t>26,136,330</a:t>
                      </a:r>
                    </a:p>
                  </a:txBody>
                  <a:tcPr anchor="ctr"/>
                </a:tc>
                <a:tc>
                  <a:txBody>
                    <a:bodyPr/>
                    <a:lstStyle/>
                    <a:p>
                      <a:pPr algn="ctr">
                        <a:buNone/>
                      </a:pPr>
                      <a:r>
                        <a:rPr lang="en-US"/>
                        <a:t>5,746,330</a:t>
                      </a:r>
                    </a:p>
                  </a:txBody>
                  <a:tcPr anchor="ctr"/>
                </a:tc>
                <a:tc>
                  <a:txBody>
                    <a:bodyPr/>
                    <a:lstStyle/>
                    <a:p>
                      <a:pPr algn="ctr">
                        <a:buNone/>
                      </a:pPr>
                      <a:r>
                        <a:rPr lang="en-US"/>
                        <a:t>789,284</a:t>
                      </a:r>
                    </a:p>
                  </a:txBody>
                  <a:tcPr anchor="ctr"/>
                </a:tc>
                <a:tc>
                  <a:txBody>
                    <a:bodyPr/>
                    <a:lstStyle/>
                    <a:p>
                      <a:pPr algn="ctr">
                        <a:buNone/>
                      </a:pPr>
                      <a:r>
                        <a:rPr lang="en-US"/>
                        <a:t>4,957,046</a:t>
                      </a:r>
                    </a:p>
                  </a:txBody>
                  <a:tcPr anchor="ctr"/>
                </a:tc>
                <a:tc>
                  <a:txBody>
                    <a:bodyPr/>
                    <a:lstStyle/>
                    <a:p>
                      <a:pPr algn="ctr">
                        <a:buNone/>
                      </a:pPr>
                      <a:r>
                        <a:rPr lang="en-US"/>
                        <a:t>19.23 %</a:t>
                      </a:r>
                    </a:p>
                  </a:txBody>
                  <a:tcPr anchor="ctr"/>
                </a:tc>
                <a:tc>
                  <a:txBody>
                    <a:bodyPr/>
                    <a:lstStyle/>
                    <a:p>
                      <a:pPr algn="ctr">
                        <a:buNone/>
                      </a:pPr>
                      <a:r>
                        <a:rPr lang="en-US"/>
                        <a:t>15.38 %</a:t>
                      </a:r>
                    </a:p>
                  </a:txBody>
                  <a:tcPr anchor="ctr"/>
                </a:tc>
                <a:extLst>
                  <a:ext uri="{0D108BD9-81ED-4DB2-BD59-A6C34878D82A}">
                    <a16:rowId xmlns:a16="http://schemas.microsoft.com/office/drawing/2014/main" val="4061775816"/>
                  </a:ext>
                </a:extLst>
              </a:tr>
              <a:tr h="396187">
                <a:tc>
                  <a:txBody>
                    <a:bodyPr/>
                    <a:lstStyle/>
                    <a:p>
                      <a:pPr algn="l">
                        <a:buNone/>
                      </a:pPr>
                      <a:r>
                        <a:rPr lang="en-US"/>
                        <a:t>April</a:t>
                      </a:r>
                    </a:p>
                  </a:txBody>
                  <a:tcPr anchor="ctr"/>
                </a:tc>
                <a:tc>
                  <a:txBody>
                    <a:bodyPr/>
                    <a:lstStyle/>
                    <a:p>
                      <a:pPr algn="ctr">
                        <a:buNone/>
                      </a:pPr>
                      <a:r>
                        <a:rPr lang="en-US"/>
                        <a:t>23</a:t>
                      </a:r>
                    </a:p>
                  </a:txBody>
                  <a:tcPr anchor="ctr"/>
                </a:tc>
                <a:tc>
                  <a:txBody>
                    <a:bodyPr/>
                    <a:lstStyle/>
                    <a:p>
                      <a:pPr algn="ctr">
                        <a:buNone/>
                      </a:pPr>
                      <a:r>
                        <a:rPr lang="en-US"/>
                        <a:t>62,811,550</a:t>
                      </a:r>
                    </a:p>
                  </a:txBody>
                  <a:tcPr anchor="ctr"/>
                </a:tc>
                <a:tc>
                  <a:txBody>
                    <a:bodyPr/>
                    <a:lstStyle/>
                    <a:p>
                      <a:pPr algn="ctr">
                        <a:buNone/>
                      </a:pPr>
                      <a:r>
                        <a:rPr lang="en-US"/>
                        <a:t>12,891,550</a:t>
                      </a:r>
                    </a:p>
                  </a:txBody>
                  <a:tcPr anchor="ctr"/>
                </a:tc>
                <a:tc>
                  <a:txBody>
                    <a:bodyPr/>
                    <a:lstStyle/>
                    <a:p>
                      <a:pPr algn="ctr">
                        <a:buNone/>
                      </a:pPr>
                      <a:r>
                        <a:rPr lang="en-US"/>
                        <a:t>789,284</a:t>
                      </a:r>
                    </a:p>
                  </a:txBody>
                  <a:tcPr anchor="ctr"/>
                </a:tc>
                <a:tc>
                  <a:txBody>
                    <a:bodyPr/>
                    <a:lstStyle/>
                    <a:p>
                      <a:pPr algn="ctr">
                        <a:buNone/>
                      </a:pPr>
                      <a:r>
                        <a:rPr lang="en-US"/>
                        <a:t>12,102,265</a:t>
                      </a:r>
                    </a:p>
                  </a:txBody>
                  <a:tcPr anchor="ctr"/>
                </a:tc>
                <a:tc>
                  <a:txBody>
                    <a:bodyPr/>
                    <a:lstStyle/>
                    <a:p>
                      <a:pPr algn="ctr">
                        <a:buNone/>
                      </a:pPr>
                      <a:r>
                        <a:rPr lang="en-US"/>
                        <a:t>19.35 %</a:t>
                      </a:r>
                    </a:p>
                  </a:txBody>
                  <a:tcPr anchor="ctr"/>
                </a:tc>
                <a:tc>
                  <a:txBody>
                    <a:bodyPr/>
                    <a:lstStyle/>
                    <a:p>
                      <a:pPr algn="ctr">
                        <a:buNone/>
                      </a:pPr>
                      <a:r>
                        <a:rPr lang="en-US"/>
                        <a:t>19.35 %</a:t>
                      </a:r>
                    </a:p>
                  </a:txBody>
                  <a:tcPr anchor="ctr"/>
                </a:tc>
                <a:extLst>
                  <a:ext uri="{0D108BD9-81ED-4DB2-BD59-A6C34878D82A}">
                    <a16:rowId xmlns:a16="http://schemas.microsoft.com/office/drawing/2014/main" val="2104863014"/>
                  </a:ext>
                </a:extLst>
              </a:tr>
              <a:tr h="396187">
                <a:tc>
                  <a:txBody>
                    <a:bodyPr/>
                    <a:lstStyle/>
                    <a:p>
                      <a:pPr algn="l">
                        <a:buNone/>
                      </a:pPr>
                      <a:r>
                        <a:rPr lang="en-US"/>
                        <a:t>May</a:t>
                      </a:r>
                    </a:p>
                  </a:txBody>
                  <a:tcPr anchor="ctr"/>
                </a:tc>
                <a:tc>
                  <a:txBody>
                    <a:bodyPr/>
                    <a:lstStyle/>
                    <a:p>
                      <a:pPr algn="ctr">
                        <a:buNone/>
                      </a:pPr>
                      <a:r>
                        <a:rPr lang="en-US"/>
                        <a:t>18</a:t>
                      </a:r>
                    </a:p>
                  </a:txBody>
                  <a:tcPr anchor="ctr"/>
                </a:tc>
                <a:tc>
                  <a:txBody>
                    <a:bodyPr/>
                    <a:lstStyle/>
                    <a:p>
                      <a:pPr algn="ctr">
                        <a:buNone/>
                      </a:pPr>
                      <a:r>
                        <a:rPr lang="en-US"/>
                        <a:t>46,380,304</a:t>
                      </a:r>
                    </a:p>
                  </a:txBody>
                  <a:tcPr anchor="ctr"/>
                </a:tc>
                <a:tc>
                  <a:txBody>
                    <a:bodyPr/>
                    <a:lstStyle/>
                    <a:p>
                      <a:pPr algn="ctr">
                        <a:buNone/>
                      </a:pPr>
                      <a:r>
                        <a:rPr lang="en-US"/>
                        <a:t>9,380,304</a:t>
                      </a:r>
                    </a:p>
                  </a:txBody>
                  <a:tcPr anchor="ctr"/>
                </a:tc>
                <a:tc>
                  <a:txBody>
                    <a:bodyPr/>
                    <a:lstStyle/>
                    <a:p>
                      <a:pPr algn="ctr">
                        <a:buNone/>
                      </a:pPr>
                      <a:r>
                        <a:rPr lang="en-US"/>
                        <a:t>789,284</a:t>
                      </a:r>
                    </a:p>
                  </a:txBody>
                  <a:tcPr anchor="ctr"/>
                </a:tc>
                <a:tc>
                  <a:txBody>
                    <a:bodyPr/>
                    <a:lstStyle/>
                    <a:p>
                      <a:pPr algn="ctr">
                        <a:buNone/>
                      </a:pPr>
                      <a:r>
                        <a:rPr lang="en-US"/>
                        <a:t>8,591,019</a:t>
                      </a:r>
                    </a:p>
                  </a:txBody>
                  <a:tcPr anchor="ctr"/>
                </a:tc>
                <a:tc>
                  <a:txBody>
                    <a:bodyPr/>
                    <a:lstStyle/>
                    <a:p>
                      <a:pPr algn="ctr">
                        <a:buNone/>
                      </a:pPr>
                      <a:r>
                        <a:rPr lang="en-US"/>
                        <a:t>19.57 %</a:t>
                      </a:r>
                    </a:p>
                  </a:txBody>
                  <a:tcPr anchor="ctr"/>
                </a:tc>
                <a:tc>
                  <a:txBody>
                    <a:bodyPr/>
                    <a:lstStyle/>
                    <a:p>
                      <a:pPr algn="ctr">
                        <a:buNone/>
                      </a:pPr>
                      <a:r>
                        <a:rPr lang="en-US"/>
                        <a:t>17.39 %</a:t>
                      </a:r>
                    </a:p>
                  </a:txBody>
                  <a:tcPr anchor="ctr"/>
                </a:tc>
                <a:extLst>
                  <a:ext uri="{0D108BD9-81ED-4DB2-BD59-A6C34878D82A}">
                    <a16:rowId xmlns:a16="http://schemas.microsoft.com/office/drawing/2014/main" val="313506327"/>
                  </a:ext>
                </a:extLst>
              </a:tr>
              <a:tr h="396187">
                <a:tc>
                  <a:txBody>
                    <a:bodyPr/>
                    <a:lstStyle/>
                    <a:p>
                      <a:pPr algn="l">
                        <a:buNone/>
                      </a:pPr>
                      <a:r>
                        <a:rPr lang="en-US"/>
                        <a:t>June</a:t>
                      </a:r>
                    </a:p>
                  </a:txBody>
                  <a:tcPr anchor="ctr"/>
                </a:tc>
                <a:tc>
                  <a:txBody>
                    <a:bodyPr/>
                    <a:lstStyle/>
                    <a:p>
                      <a:pPr algn="ctr">
                        <a:buNone/>
                      </a:pPr>
                      <a:r>
                        <a:rPr lang="en-US"/>
                        <a:t>26</a:t>
                      </a:r>
                    </a:p>
                  </a:txBody>
                  <a:tcPr anchor="ctr"/>
                </a:tc>
                <a:tc>
                  <a:txBody>
                    <a:bodyPr/>
                    <a:lstStyle/>
                    <a:p>
                      <a:pPr algn="ctr">
                        <a:buNone/>
                      </a:pPr>
                      <a:r>
                        <a:rPr lang="en-US"/>
                        <a:t>51,945,034</a:t>
                      </a:r>
                    </a:p>
                  </a:txBody>
                  <a:tcPr anchor="ctr"/>
                </a:tc>
                <a:tc>
                  <a:txBody>
                    <a:bodyPr/>
                    <a:lstStyle/>
                    <a:p>
                      <a:pPr algn="ctr">
                        <a:buNone/>
                      </a:pPr>
                      <a:r>
                        <a:rPr lang="en-US"/>
                        <a:t>10,480,034</a:t>
                      </a:r>
                    </a:p>
                  </a:txBody>
                  <a:tcPr anchor="ctr"/>
                </a:tc>
                <a:tc>
                  <a:txBody>
                    <a:bodyPr/>
                    <a:lstStyle/>
                    <a:p>
                      <a:pPr algn="ctr">
                        <a:buNone/>
                      </a:pPr>
                      <a:r>
                        <a:rPr lang="en-US"/>
                        <a:t>789,284</a:t>
                      </a:r>
                    </a:p>
                  </a:txBody>
                  <a:tcPr anchor="ctr"/>
                </a:tc>
                <a:tc>
                  <a:txBody>
                    <a:bodyPr/>
                    <a:lstStyle/>
                    <a:p>
                      <a:pPr algn="ctr">
                        <a:buNone/>
                      </a:pPr>
                      <a:r>
                        <a:rPr lang="en-US"/>
                        <a:t>9,690,750</a:t>
                      </a:r>
                    </a:p>
                  </a:txBody>
                  <a:tcPr anchor="ctr"/>
                </a:tc>
                <a:tc>
                  <a:txBody>
                    <a:bodyPr/>
                    <a:lstStyle/>
                    <a:p>
                      <a:pPr algn="ctr">
                        <a:buNone/>
                      </a:pPr>
                      <a:r>
                        <a:rPr lang="en-US"/>
                        <a:t>19.61 %</a:t>
                      </a:r>
                    </a:p>
                  </a:txBody>
                  <a:tcPr anchor="ctr"/>
                </a:tc>
                <a:tc>
                  <a:txBody>
                    <a:bodyPr/>
                    <a:lstStyle/>
                    <a:p>
                      <a:pPr algn="ctr">
                        <a:buNone/>
                      </a:pPr>
                      <a:r>
                        <a:rPr lang="en-US"/>
                        <a:t>17.65 %</a:t>
                      </a:r>
                    </a:p>
                  </a:txBody>
                  <a:tcPr anchor="ctr"/>
                </a:tc>
                <a:extLst>
                  <a:ext uri="{0D108BD9-81ED-4DB2-BD59-A6C34878D82A}">
                    <a16:rowId xmlns:a16="http://schemas.microsoft.com/office/drawing/2014/main" val="1655420942"/>
                  </a:ext>
                </a:extLst>
              </a:tr>
              <a:tr h="396187">
                <a:tc>
                  <a:txBody>
                    <a:bodyPr/>
                    <a:lstStyle/>
                    <a:p>
                      <a:pPr algn="l">
                        <a:buNone/>
                      </a:pPr>
                      <a:r>
                        <a:rPr lang="en-US"/>
                        <a:t>July</a:t>
                      </a:r>
                    </a:p>
                  </a:txBody>
                  <a:tcPr anchor="ctr"/>
                </a:tc>
                <a:tc>
                  <a:txBody>
                    <a:bodyPr/>
                    <a:lstStyle/>
                    <a:p>
                      <a:pPr algn="ctr">
                        <a:buNone/>
                      </a:pPr>
                      <a:r>
                        <a:rPr lang="en-US"/>
                        <a:t>15</a:t>
                      </a:r>
                    </a:p>
                  </a:txBody>
                  <a:tcPr anchor="ctr"/>
                </a:tc>
                <a:tc>
                  <a:txBody>
                    <a:bodyPr/>
                    <a:lstStyle/>
                    <a:p>
                      <a:pPr algn="ctr">
                        <a:buNone/>
                      </a:pPr>
                      <a:r>
                        <a:rPr lang="en-US"/>
                        <a:t>40,494,577</a:t>
                      </a:r>
                    </a:p>
                  </a:txBody>
                  <a:tcPr anchor="ctr"/>
                </a:tc>
                <a:tc>
                  <a:txBody>
                    <a:bodyPr/>
                    <a:lstStyle/>
                    <a:p>
                      <a:pPr algn="ctr">
                        <a:buNone/>
                      </a:pPr>
                      <a:r>
                        <a:rPr lang="en-US"/>
                        <a:t>8,129,577</a:t>
                      </a:r>
                    </a:p>
                  </a:txBody>
                  <a:tcPr anchor="ctr"/>
                </a:tc>
                <a:tc>
                  <a:txBody>
                    <a:bodyPr/>
                    <a:lstStyle/>
                    <a:p>
                      <a:pPr algn="ctr">
                        <a:buNone/>
                      </a:pPr>
                      <a:r>
                        <a:rPr lang="en-US"/>
                        <a:t>789,284</a:t>
                      </a:r>
                    </a:p>
                  </a:txBody>
                  <a:tcPr anchor="ctr"/>
                </a:tc>
                <a:tc>
                  <a:txBody>
                    <a:bodyPr/>
                    <a:lstStyle/>
                    <a:p>
                      <a:pPr algn="ctr">
                        <a:buNone/>
                      </a:pPr>
                      <a:r>
                        <a:rPr lang="en-US"/>
                        <a:t>7,340,293</a:t>
                      </a:r>
                    </a:p>
                  </a:txBody>
                  <a:tcPr anchor="ctr"/>
                </a:tc>
                <a:tc>
                  <a:txBody>
                    <a:bodyPr/>
                    <a:lstStyle/>
                    <a:p>
                      <a:pPr algn="ctr">
                        <a:buNone/>
                      </a:pPr>
                      <a:r>
                        <a:rPr lang="en-US"/>
                        <a:t>20 %</a:t>
                      </a:r>
                    </a:p>
                  </a:txBody>
                  <a:tcPr anchor="ctr"/>
                </a:tc>
                <a:tc>
                  <a:txBody>
                    <a:bodyPr/>
                    <a:lstStyle/>
                    <a:p>
                      <a:pPr algn="ctr">
                        <a:buNone/>
                      </a:pPr>
                      <a:r>
                        <a:rPr lang="en-US"/>
                        <a:t>17.5 %</a:t>
                      </a:r>
                    </a:p>
                  </a:txBody>
                  <a:tcPr anchor="ctr"/>
                </a:tc>
                <a:extLst>
                  <a:ext uri="{0D108BD9-81ED-4DB2-BD59-A6C34878D82A}">
                    <a16:rowId xmlns:a16="http://schemas.microsoft.com/office/drawing/2014/main" val="1880118335"/>
                  </a:ext>
                </a:extLst>
              </a:tr>
              <a:tr h="396187">
                <a:tc>
                  <a:txBody>
                    <a:bodyPr/>
                    <a:lstStyle/>
                    <a:p>
                      <a:pPr algn="l">
                        <a:buNone/>
                      </a:pPr>
                      <a:r>
                        <a:rPr lang="en-US"/>
                        <a:t>August</a:t>
                      </a:r>
                    </a:p>
                  </a:txBody>
                  <a:tcPr anchor="ctr"/>
                </a:tc>
                <a:tc>
                  <a:txBody>
                    <a:bodyPr/>
                    <a:lstStyle/>
                    <a:p>
                      <a:pPr algn="ctr">
                        <a:buNone/>
                      </a:pPr>
                      <a:r>
                        <a:rPr lang="en-US"/>
                        <a:t>22</a:t>
                      </a:r>
                    </a:p>
                  </a:txBody>
                  <a:tcPr anchor="ctr"/>
                </a:tc>
                <a:tc>
                  <a:txBody>
                    <a:bodyPr/>
                    <a:lstStyle/>
                    <a:p>
                      <a:pPr algn="ctr">
                        <a:buNone/>
                      </a:pPr>
                      <a:r>
                        <a:rPr lang="en-US"/>
                        <a:t>62,495,206</a:t>
                      </a:r>
                    </a:p>
                  </a:txBody>
                  <a:tcPr anchor="ctr"/>
                </a:tc>
                <a:tc>
                  <a:txBody>
                    <a:bodyPr/>
                    <a:lstStyle/>
                    <a:p>
                      <a:pPr algn="ctr">
                        <a:buNone/>
                      </a:pPr>
                      <a:r>
                        <a:rPr lang="en-US"/>
                        <a:t>12,405,206</a:t>
                      </a:r>
                    </a:p>
                  </a:txBody>
                  <a:tcPr anchor="ctr"/>
                </a:tc>
                <a:tc>
                  <a:txBody>
                    <a:bodyPr/>
                    <a:lstStyle/>
                    <a:p>
                      <a:pPr algn="ctr">
                        <a:buNone/>
                      </a:pPr>
                      <a:r>
                        <a:rPr lang="en-US"/>
                        <a:t>789,284</a:t>
                      </a:r>
                    </a:p>
                  </a:txBody>
                  <a:tcPr anchor="ctr"/>
                </a:tc>
                <a:tc>
                  <a:txBody>
                    <a:bodyPr/>
                    <a:lstStyle/>
                    <a:p>
                      <a:pPr algn="ctr">
                        <a:buNone/>
                      </a:pPr>
                      <a:r>
                        <a:rPr lang="en-US"/>
                        <a:t>11,615,921</a:t>
                      </a:r>
                    </a:p>
                  </a:txBody>
                  <a:tcPr anchor="ctr"/>
                </a:tc>
                <a:tc>
                  <a:txBody>
                    <a:bodyPr/>
                    <a:lstStyle/>
                    <a:p>
                      <a:pPr algn="ctr">
                        <a:buNone/>
                      </a:pPr>
                      <a:r>
                        <a:rPr lang="en-US"/>
                        <a:t>19.35 %</a:t>
                      </a:r>
                    </a:p>
                  </a:txBody>
                  <a:tcPr anchor="ctr"/>
                </a:tc>
                <a:tc>
                  <a:txBody>
                    <a:bodyPr/>
                    <a:lstStyle/>
                    <a:p>
                      <a:pPr algn="ctr">
                        <a:buNone/>
                      </a:pPr>
                      <a:r>
                        <a:rPr lang="en-US"/>
                        <a:t>17.74 %</a:t>
                      </a:r>
                    </a:p>
                  </a:txBody>
                  <a:tcPr anchor="ctr"/>
                </a:tc>
                <a:extLst>
                  <a:ext uri="{0D108BD9-81ED-4DB2-BD59-A6C34878D82A}">
                    <a16:rowId xmlns:a16="http://schemas.microsoft.com/office/drawing/2014/main" val="3773150926"/>
                  </a:ext>
                </a:extLst>
              </a:tr>
              <a:tr h="396187">
                <a:tc>
                  <a:txBody>
                    <a:bodyPr/>
                    <a:lstStyle/>
                    <a:p>
                      <a:pPr algn="l">
                        <a:buNone/>
                      </a:pPr>
                      <a:r>
                        <a:rPr lang="en-US"/>
                        <a:t>September</a:t>
                      </a:r>
                    </a:p>
                  </a:txBody>
                  <a:tcPr anchor="ctr"/>
                </a:tc>
                <a:tc>
                  <a:txBody>
                    <a:bodyPr/>
                    <a:lstStyle/>
                    <a:p>
                      <a:pPr algn="ctr">
                        <a:buNone/>
                      </a:pPr>
                      <a:r>
                        <a:rPr lang="en-US"/>
                        <a:t>22</a:t>
                      </a:r>
                    </a:p>
                  </a:txBody>
                  <a:tcPr anchor="ctr"/>
                </a:tc>
                <a:tc>
                  <a:txBody>
                    <a:bodyPr/>
                    <a:lstStyle/>
                    <a:p>
                      <a:pPr algn="ctr">
                        <a:buNone/>
                      </a:pPr>
                      <a:r>
                        <a:rPr lang="en-US"/>
                        <a:t>49,666,564</a:t>
                      </a:r>
                    </a:p>
                  </a:txBody>
                  <a:tcPr anchor="ctr"/>
                </a:tc>
                <a:tc>
                  <a:txBody>
                    <a:bodyPr/>
                    <a:lstStyle/>
                    <a:p>
                      <a:pPr algn="ctr">
                        <a:buNone/>
                      </a:pPr>
                      <a:r>
                        <a:rPr lang="en-US"/>
                        <a:t>10,171,564</a:t>
                      </a:r>
                    </a:p>
                  </a:txBody>
                  <a:tcPr anchor="ctr"/>
                </a:tc>
                <a:tc>
                  <a:txBody>
                    <a:bodyPr/>
                    <a:lstStyle/>
                    <a:p>
                      <a:pPr algn="ctr">
                        <a:buNone/>
                      </a:pPr>
                      <a:r>
                        <a:rPr lang="en-US"/>
                        <a:t>789,284</a:t>
                      </a:r>
                    </a:p>
                  </a:txBody>
                  <a:tcPr anchor="ctr"/>
                </a:tc>
                <a:tc>
                  <a:txBody>
                    <a:bodyPr/>
                    <a:lstStyle/>
                    <a:p>
                      <a:pPr algn="ctr">
                        <a:buNone/>
                      </a:pPr>
                      <a:r>
                        <a:rPr lang="en-US"/>
                        <a:t>9,382,280</a:t>
                      </a:r>
                    </a:p>
                  </a:txBody>
                  <a:tcPr anchor="ctr"/>
                </a:tc>
                <a:tc>
                  <a:txBody>
                    <a:bodyPr/>
                    <a:lstStyle/>
                    <a:p>
                      <a:pPr algn="ctr">
                        <a:buNone/>
                      </a:pPr>
                      <a:r>
                        <a:rPr lang="en-US"/>
                        <a:t>20.41 %</a:t>
                      </a:r>
                    </a:p>
                  </a:txBody>
                  <a:tcPr anchor="ctr"/>
                </a:tc>
                <a:tc>
                  <a:txBody>
                    <a:bodyPr/>
                    <a:lstStyle/>
                    <a:p>
                      <a:pPr algn="ctr">
                        <a:buNone/>
                      </a:pPr>
                      <a:r>
                        <a:rPr lang="en-US"/>
                        <a:t>18.37 %</a:t>
                      </a:r>
                    </a:p>
                  </a:txBody>
                  <a:tcPr anchor="ctr"/>
                </a:tc>
                <a:extLst>
                  <a:ext uri="{0D108BD9-81ED-4DB2-BD59-A6C34878D82A}">
                    <a16:rowId xmlns:a16="http://schemas.microsoft.com/office/drawing/2014/main" val="984347646"/>
                  </a:ext>
                </a:extLst>
              </a:tr>
              <a:tr h="396187">
                <a:tc>
                  <a:txBody>
                    <a:bodyPr/>
                    <a:lstStyle/>
                    <a:p>
                      <a:pPr algn="l">
                        <a:buNone/>
                      </a:pPr>
                      <a:r>
                        <a:rPr lang="en-US"/>
                        <a:t>October</a:t>
                      </a:r>
                    </a:p>
                  </a:txBody>
                  <a:tcPr anchor="ctr"/>
                </a:tc>
                <a:tc>
                  <a:txBody>
                    <a:bodyPr/>
                    <a:lstStyle/>
                    <a:p>
                      <a:pPr algn="ctr">
                        <a:buNone/>
                      </a:pPr>
                      <a:r>
                        <a:rPr lang="en-US"/>
                        <a:t>31</a:t>
                      </a:r>
                    </a:p>
                  </a:txBody>
                  <a:tcPr anchor="ctr"/>
                </a:tc>
                <a:tc>
                  <a:txBody>
                    <a:bodyPr/>
                    <a:lstStyle/>
                    <a:p>
                      <a:pPr algn="ctr">
                        <a:buNone/>
                      </a:pPr>
                      <a:r>
                        <a:rPr lang="en-US"/>
                        <a:t>102,245,066</a:t>
                      </a:r>
                    </a:p>
                  </a:txBody>
                  <a:tcPr anchor="ctr"/>
                </a:tc>
                <a:tc>
                  <a:txBody>
                    <a:bodyPr/>
                    <a:lstStyle/>
                    <a:p>
                      <a:pPr algn="ctr">
                        <a:buNone/>
                      </a:pPr>
                      <a:r>
                        <a:rPr lang="en-US"/>
                        <a:t>20,060,066</a:t>
                      </a:r>
                    </a:p>
                  </a:txBody>
                  <a:tcPr anchor="ctr"/>
                </a:tc>
                <a:tc>
                  <a:txBody>
                    <a:bodyPr/>
                    <a:lstStyle/>
                    <a:p>
                      <a:pPr algn="ctr">
                        <a:buNone/>
                      </a:pPr>
                      <a:r>
                        <a:rPr lang="en-US"/>
                        <a:t>789,284</a:t>
                      </a:r>
                    </a:p>
                  </a:txBody>
                  <a:tcPr anchor="ctr"/>
                </a:tc>
                <a:tc>
                  <a:txBody>
                    <a:bodyPr/>
                    <a:lstStyle/>
                    <a:p>
                      <a:pPr algn="ctr">
                        <a:buNone/>
                      </a:pPr>
                      <a:r>
                        <a:rPr lang="en-US"/>
                        <a:t>19,270,782</a:t>
                      </a:r>
                    </a:p>
                  </a:txBody>
                  <a:tcPr anchor="ctr"/>
                </a:tc>
                <a:tc>
                  <a:txBody>
                    <a:bodyPr/>
                    <a:lstStyle/>
                    <a:p>
                      <a:pPr algn="ctr">
                        <a:buNone/>
                      </a:pPr>
                      <a:r>
                        <a:rPr lang="en-US"/>
                        <a:t>19.61 %</a:t>
                      </a:r>
                    </a:p>
                  </a:txBody>
                  <a:tcPr anchor="ctr"/>
                </a:tc>
                <a:tc>
                  <a:txBody>
                    <a:bodyPr/>
                    <a:lstStyle/>
                    <a:p>
                      <a:pPr algn="ctr">
                        <a:buNone/>
                      </a:pPr>
                      <a:r>
                        <a:rPr lang="en-US"/>
                        <a:t>18.63 %</a:t>
                      </a:r>
                    </a:p>
                  </a:txBody>
                  <a:tcPr anchor="ctr"/>
                </a:tc>
                <a:extLst>
                  <a:ext uri="{0D108BD9-81ED-4DB2-BD59-A6C34878D82A}">
                    <a16:rowId xmlns:a16="http://schemas.microsoft.com/office/drawing/2014/main" val="2456975059"/>
                  </a:ext>
                </a:extLst>
              </a:tr>
              <a:tr h="396187">
                <a:tc>
                  <a:txBody>
                    <a:bodyPr/>
                    <a:lstStyle/>
                    <a:p>
                      <a:pPr algn="l">
                        <a:buNone/>
                      </a:pPr>
                      <a:r>
                        <a:rPr lang="en-US"/>
                        <a:t>November</a:t>
                      </a:r>
                    </a:p>
                  </a:txBody>
                  <a:tcPr anchor="ctr"/>
                </a:tc>
                <a:tc>
                  <a:txBody>
                    <a:bodyPr/>
                    <a:lstStyle/>
                    <a:p>
                      <a:pPr algn="ctr">
                        <a:buNone/>
                      </a:pPr>
                      <a:r>
                        <a:rPr lang="en-US"/>
                        <a:t>25</a:t>
                      </a:r>
                    </a:p>
                  </a:txBody>
                  <a:tcPr anchor="ctr"/>
                </a:tc>
                <a:tc>
                  <a:txBody>
                    <a:bodyPr/>
                    <a:lstStyle/>
                    <a:p>
                      <a:pPr algn="ctr">
                        <a:buNone/>
                      </a:pPr>
                      <a:r>
                        <a:rPr lang="en-US"/>
                        <a:t>63,699,034</a:t>
                      </a:r>
                    </a:p>
                  </a:txBody>
                  <a:tcPr anchor="ctr"/>
                </a:tc>
                <a:tc>
                  <a:txBody>
                    <a:bodyPr/>
                    <a:lstStyle/>
                    <a:p>
                      <a:pPr algn="ctr">
                        <a:buNone/>
                      </a:pPr>
                      <a:r>
                        <a:rPr lang="en-US"/>
                        <a:t>12,859,034</a:t>
                      </a:r>
                    </a:p>
                  </a:txBody>
                  <a:tcPr anchor="ctr"/>
                </a:tc>
                <a:tc>
                  <a:txBody>
                    <a:bodyPr/>
                    <a:lstStyle/>
                    <a:p>
                      <a:pPr algn="ctr">
                        <a:buNone/>
                      </a:pPr>
                      <a:r>
                        <a:rPr lang="en-US"/>
                        <a:t>789,284</a:t>
                      </a:r>
                    </a:p>
                  </a:txBody>
                  <a:tcPr anchor="ctr"/>
                </a:tc>
                <a:tc>
                  <a:txBody>
                    <a:bodyPr/>
                    <a:lstStyle/>
                    <a:p>
                      <a:pPr algn="ctr">
                        <a:buNone/>
                      </a:pPr>
                      <a:r>
                        <a:rPr lang="en-US"/>
                        <a:t>12,069,749</a:t>
                      </a:r>
                    </a:p>
                  </a:txBody>
                  <a:tcPr anchor="ctr"/>
                </a:tc>
                <a:tc>
                  <a:txBody>
                    <a:bodyPr/>
                    <a:lstStyle/>
                    <a:p>
                      <a:pPr algn="ctr">
                        <a:buNone/>
                      </a:pPr>
                      <a:r>
                        <a:rPr lang="en-US"/>
                        <a:t>19.05 %</a:t>
                      </a:r>
                    </a:p>
                  </a:txBody>
                  <a:tcPr anchor="ctr"/>
                </a:tc>
                <a:tc>
                  <a:txBody>
                    <a:bodyPr/>
                    <a:lstStyle/>
                    <a:p>
                      <a:pPr algn="ctr">
                        <a:buNone/>
                      </a:pPr>
                      <a:r>
                        <a:rPr lang="en-US"/>
                        <a:t>19.05 %</a:t>
                      </a:r>
                    </a:p>
                  </a:txBody>
                  <a:tcPr anchor="ctr"/>
                </a:tc>
                <a:extLst>
                  <a:ext uri="{0D108BD9-81ED-4DB2-BD59-A6C34878D82A}">
                    <a16:rowId xmlns:a16="http://schemas.microsoft.com/office/drawing/2014/main" val="712714810"/>
                  </a:ext>
                </a:extLst>
              </a:tr>
              <a:tr h="396187">
                <a:tc>
                  <a:txBody>
                    <a:bodyPr/>
                    <a:lstStyle/>
                    <a:p>
                      <a:pPr algn="l">
                        <a:buNone/>
                      </a:pPr>
                      <a:r>
                        <a:rPr lang="en-US" dirty="0"/>
                        <a:t>December</a:t>
                      </a:r>
                    </a:p>
                  </a:txBody>
                  <a:tcPr anchor="ctr"/>
                </a:tc>
                <a:tc>
                  <a:txBody>
                    <a:bodyPr/>
                    <a:lstStyle/>
                    <a:p>
                      <a:pPr algn="ctr">
                        <a:buNone/>
                      </a:pPr>
                      <a:r>
                        <a:rPr lang="en-US"/>
                        <a:t>12</a:t>
                      </a:r>
                    </a:p>
                  </a:txBody>
                  <a:tcPr anchor="ctr"/>
                </a:tc>
                <a:tc>
                  <a:txBody>
                    <a:bodyPr/>
                    <a:lstStyle/>
                    <a:p>
                      <a:pPr algn="ctr">
                        <a:buNone/>
                      </a:pPr>
                      <a:r>
                        <a:rPr lang="en-US"/>
                        <a:t>33,136,683</a:t>
                      </a:r>
                    </a:p>
                  </a:txBody>
                  <a:tcPr anchor="ctr"/>
                </a:tc>
                <a:tc>
                  <a:txBody>
                    <a:bodyPr/>
                    <a:lstStyle/>
                    <a:p>
                      <a:pPr algn="ctr">
                        <a:buNone/>
                      </a:pPr>
                      <a:r>
                        <a:rPr lang="en-US"/>
                        <a:t>6,381,683</a:t>
                      </a:r>
                    </a:p>
                  </a:txBody>
                  <a:tcPr anchor="ctr"/>
                </a:tc>
                <a:tc>
                  <a:txBody>
                    <a:bodyPr/>
                    <a:lstStyle/>
                    <a:p>
                      <a:pPr algn="ctr">
                        <a:buNone/>
                      </a:pPr>
                      <a:r>
                        <a:rPr lang="en-US"/>
                        <a:t>789,284</a:t>
                      </a:r>
                    </a:p>
                  </a:txBody>
                  <a:tcPr anchor="ctr"/>
                </a:tc>
                <a:tc>
                  <a:txBody>
                    <a:bodyPr/>
                    <a:lstStyle/>
                    <a:p>
                      <a:pPr algn="ctr">
                        <a:buNone/>
                      </a:pPr>
                      <a:r>
                        <a:rPr lang="en-US"/>
                        <a:t>5,592,399</a:t>
                      </a:r>
                    </a:p>
                  </a:txBody>
                  <a:tcPr anchor="ctr"/>
                </a:tc>
                <a:tc>
                  <a:txBody>
                    <a:bodyPr/>
                    <a:lstStyle/>
                    <a:p>
                      <a:pPr algn="ctr">
                        <a:buNone/>
                      </a:pPr>
                      <a:r>
                        <a:rPr lang="en-US"/>
                        <a:t>18.18 %</a:t>
                      </a:r>
                    </a:p>
                  </a:txBody>
                  <a:tcPr anchor="ctr"/>
                </a:tc>
                <a:tc>
                  <a:txBody>
                    <a:bodyPr/>
                    <a:lstStyle/>
                    <a:p>
                      <a:pPr algn="ctr">
                        <a:buNone/>
                      </a:pPr>
                      <a:r>
                        <a:rPr lang="en-US" dirty="0"/>
                        <a:t>15.15 %</a:t>
                      </a:r>
                    </a:p>
                  </a:txBody>
                  <a:tcPr anchor="ctr"/>
                </a:tc>
                <a:extLst>
                  <a:ext uri="{0D108BD9-81ED-4DB2-BD59-A6C34878D82A}">
                    <a16:rowId xmlns:a16="http://schemas.microsoft.com/office/drawing/2014/main" val="2119831125"/>
                  </a:ext>
                </a:extLst>
              </a:tr>
            </a:tbl>
          </a:graphicData>
        </a:graphic>
      </p:graphicFrame>
    </p:spTree>
    <p:extLst>
      <p:ext uri="{BB962C8B-B14F-4D97-AF65-F5344CB8AC3E}">
        <p14:creationId xmlns:p14="http://schemas.microsoft.com/office/powerpoint/2010/main" val="2686660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A67EE-748F-EA27-5377-F6F424366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EB630-6970-92BB-21E5-F896E3731479}"/>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Net Profit Analysis by Showroom</a:t>
            </a:r>
          </a:p>
        </p:txBody>
      </p:sp>
      <p:sp>
        <p:nvSpPr>
          <p:cNvPr id="5" name="Title 1">
            <a:extLst>
              <a:ext uri="{FF2B5EF4-FFF2-40B4-BE49-F238E27FC236}">
                <a16:creationId xmlns:a16="http://schemas.microsoft.com/office/drawing/2014/main" id="{4059A03A-D7B8-B8D0-0F68-781851C99832}"/>
              </a:ext>
            </a:extLst>
          </p:cNvPr>
          <p:cNvSpPr txBox="1">
            <a:spLocks/>
          </p:cNvSpPr>
          <p:nvPr/>
        </p:nvSpPr>
        <p:spPr>
          <a:xfrm>
            <a:off x="51653" y="726181"/>
            <a:ext cx="4170543"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latin typeface="Comic Sans MS" panose="030F0702030302020204" pitchFamily="66" charset="0"/>
              </a:rPr>
              <a:t>Operating cost of Showroom City-wise:</a:t>
            </a:r>
          </a:p>
        </p:txBody>
      </p:sp>
      <p:sp>
        <p:nvSpPr>
          <p:cNvPr id="4" name="Title 1">
            <a:extLst>
              <a:ext uri="{FF2B5EF4-FFF2-40B4-BE49-F238E27FC236}">
                <a16:creationId xmlns:a16="http://schemas.microsoft.com/office/drawing/2014/main" id="{39976A27-C8AA-AB14-9D9A-7B1A05C5A1A2}"/>
              </a:ext>
            </a:extLst>
          </p:cNvPr>
          <p:cNvSpPr txBox="1">
            <a:spLocks/>
          </p:cNvSpPr>
          <p:nvPr/>
        </p:nvSpPr>
        <p:spPr>
          <a:xfrm>
            <a:off x="51652" y="1110238"/>
            <a:ext cx="4679907"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Monthly Gross and Profit for Delhi Showroom 2024:</a:t>
            </a:r>
          </a:p>
        </p:txBody>
      </p:sp>
      <p:graphicFrame>
        <p:nvGraphicFramePr>
          <p:cNvPr id="7" name="Table 6">
            <a:extLst>
              <a:ext uri="{FF2B5EF4-FFF2-40B4-BE49-F238E27FC236}">
                <a16:creationId xmlns:a16="http://schemas.microsoft.com/office/drawing/2014/main" id="{13A969CF-6D0A-A459-2226-13B1595DFD06}"/>
              </a:ext>
            </a:extLst>
          </p:cNvPr>
          <p:cNvGraphicFramePr>
            <a:graphicFrameLocks noGrp="1"/>
          </p:cNvGraphicFramePr>
          <p:nvPr>
            <p:extLst>
              <p:ext uri="{D42A27DB-BD31-4B8C-83A1-F6EECF244321}">
                <p14:modId xmlns:p14="http://schemas.microsoft.com/office/powerpoint/2010/main" val="895791370"/>
              </p:ext>
            </p:extLst>
          </p:nvPr>
        </p:nvGraphicFramePr>
        <p:xfrm>
          <a:off x="158195" y="1526527"/>
          <a:ext cx="11906976" cy="5150431"/>
        </p:xfrm>
        <a:graphic>
          <a:graphicData uri="http://schemas.openxmlformats.org/drawingml/2006/table">
            <a:tbl>
              <a:tblPr firstRow="1" bandRow="1">
                <a:tableStyleId>{616DA210-FB5B-4158-B5E0-FEB733F419BA}</a:tableStyleId>
              </a:tblPr>
              <a:tblGrid>
                <a:gridCol w="1488372">
                  <a:extLst>
                    <a:ext uri="{9D8B030D-6E8A-4147-A177-3AD203B41FA5}">
                      <a16:colId xmlns:a16="http://schemas.microsoft.com/office/drawing/2014/main" val="563446099"/>
                    </a:ext>
                  </a:extLst>
                </a:gridCol>
                <a:gridCol w="1605997">
                  <a:extLst>
                    <a:ext uri="{9D8B030D-6E8A-4147-A177-3AD203B41FA5}">
                      <a16:colId xmlns:a16="http://schemas.microsoft.com/office/drawing/2014/main" val="1483691423"/>
                    </a:ext>
                  </a:extLst>
                </a:gridCol>
                <a:gridCol w="1478996">
                  <a:extLst>
                    <a:ext uri="{9D8B030D-6E8A-4147-A177-3AD203B41FA5}">
                      <a16:colId xmlns:a16="http://schemas.microsoft.com/office/drawing/2014/main" val="2295663464"/>
                    </a:ext>
                  </a:extLst>
                </a:gridCol>
                <a:gridCol w="1380123">
                  <a:extLst>
                    <a:ext uri="{9D8B030D-6E8A-4147-A177-3AD203B41FA5}">
                      <a16:colId xmlns:a16="http://schemas.microsoft.com/office/drawing/2014/main" val="275066732"/>
                    </a:ext>
                  </a:extLst>
                </a:gridCol>
                <a:gridCol w="1488372">
                  <a:extLst>
                    <a:ext uri="{9D8B030D-6E8A-4147-A177-3AD203B41FA5}">
                      <a16:colId xmlns:a16="http://schemas.microsoft.com/office/drawing/2014/main" val="4124428345"/>
                    </a:ext>
                  </a:extLst>
                </a:gridCol>
                <a:gridCol w="1488372">
                  <a:extLst>
                    <a:ext uri="{9D8B030D-6E8A-4147-A177-3AD203B41FA5}">
                      <a16:colId xmlns:a16="http://schemas.microsoft.com/office/drawing/2014/main" val="282965329"/>
                    </a:ext>
                  </a:extLst>
                </a:gridCol>
                <a:gridCol w="1488372">
                  <a:extLst>
                    <a:ext uri="{9D8B030D-6E8A-4147-A177-3AD203B41FA5}">
                      <a16:colId xmlns:a16="http://schemas.microsoft.com/office/drawing/2014/main" val="4117380875"/>
                    </a:ext>
                  </a:extLst>
                </a:gridCol>
                <a:gridCol w="1488372">
                  <a:extLst>
                    <a:ext uri="{9D8B030D-6E8A-4147-A177-3AD203B41FA5}">
                      <a16:colId xmlns:a16="http://schemas.microsoft.com/office/drawing/2014/main" val="1991965073"/>
                    </a:ext>
                  </a:extLst>
                </a:gridCol>
              </a:tblGrid>
              <a:tr h="396187">
                <a:tc>
                  <a:txBody>
                    <a:bodyPr/>
                    <a:lstStyle/>
                    <a:p>
                      <a:pPr marL="0" algn="ctr" defTabSz="914400" rtl="0" eaLnBrk="1" fontAlgn="b" latinLnBrk="0" hangingPunct="1">
                        <a:buNone/>
                      </a:pPr>
                      <a:r>
                        <a:rPr lang="en-US" sz="1600" b="1" kern="1200" dirty="0">
                          <a:solidFill>
                            <a:schemeClr val="tx1"/>
                          </a:solidFill>
                          <a:latin typeface="+mn-lt"/>
                          <a:ea typeface="+mn-ea"/>
                          <a:cs typeface="+mn-cs"/>
                        </a:rPr>
                        <a:t>Sale Month</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Units Sold</a:t>
                      </a:r>
                    </a:p>
                  </a:txBody>
                  <a:tcPr marL="6350" marR="6350" marT="6350" marB="0" anchor="ctr"/>
                </a:tc>
                <a:tc>
                  <a:txBody>
                    <a:bodyPr/>
                    <a:lstStyle/>
                    <a:p>
                      <a:pPr marL="0" algn="ctr" defTabSz="914400" rtl="0" eaLnBrk="1" fontAlgn="b" latinLnBrk="0" hangingPunct="1">
                        <a:buNone/>
                      </a:pPr>
                      <a:r>
                        <a:rPr lang="en-US" sz="1600" b="1" kern="1200" dirty="0">
                          <a:solidFill>
                            <a:schemeClr val="tx1"/>
                          </a:solidFill>
                          <a:latin typeface="+mn-lt"/>
                          <a:ea typeface="+mn-ea"/>
                          <a:cs typeface="+mn-cs"/>
                        </a:rPr>
                        <a:t> Total Revenue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 Cost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kern="1200" dirty="0">
                          <a:solidFill>
                            <a:schemeClr val="tx1"/>
                          </a:solidFill>
                          <a:latin typeface="+mn-lt"/>
                          <a:ea typeface="+mn-ea"/>
                          <a:cs typeface="+mn-cs"/>
                        </a:rPr>
                        <a:t>Gross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a:t>
                      </a:r>
                    </a:p>
                  </a:txBody>
                  <a:tcPr marL="6350" marR="6350" marT="6350" marB="0" anchor="ctr"/>
                </a:tc>
                <a:extLst>
                  <a:ext uri="{0D108BD9-81ED-4DB2-BD59-A6C34878D82A}">
                    <a16:rowId xmlns:a16="http://schemas.microsoft.com/office/drawing/2014/main" val="4232006560"/>
                  </a:ext>
                </a:extLst>
              </a:tr>
              <a:tr h="396187">
                <a:tc>
                  <a:txBody>
                    <a:bodyPr/>
                    <a:lstStyle/>
                    <a:p>
                      <a:pPr algn="l">
                        <a:buNone/>
                      </a:pPr>
                      <a:r>
                        <a:rPr lang="en-US" dirty="0"/>
                        <a:t>January</a:t>
                      </a:r>
                    </a:p>
                  </a:txBody>
                  <a:tcPr anchor="ctr"/>
                </a:tc>
                <a:tc>
                  <a:txBody>
                    <a:bodyPr/>
                    <a:lstStyle/>
                    <a:p>
                      <a:pPr algn="ctr">
                        <a:buNone/>
                      </a:pPr>
                      <a:r>
                        <a:rPr lang="en-US" dirty="0"/>
                        <a:t>17</a:t>
                      </a:r>
                    </a:p>
                  </a:txBody>
                  <a:tcPr anchor="ctr"/>
                </a:tc>
                <a:tc>
                  <a:txBody>
                    <a:bodyPr/>
                    <a:lstStyle/>
                    <a:p>
                      <a:pPr algn="ctr">
                        <a:buNone/>
                      </a:pPr>
                      <a:r>
                        <a:rPr lang="en-US"/>
                        <a:t>26,631,164</a:t>
                      </a:r>
                    </a:p>
                  </a:txBody>
                  <a:tcPr anchor="ctr"/>
                </a:tc>
                <a:tc>
                  <a:txBody>
                    <a:bodyPr/>
                    <a:lstStyle/>
                    <a:p>
                      <a:pPr algn="ctr">
                        <a:buNone/>
                      </a:pPr>
                      <a:r>
                        <a:rPr lang="en-US"/>
                        <a:t>5,626,164</a:t>
                      </a:r>
                    </a:p>
                  </a:txBody>
                  <a:tcPr anchor="ctr"/>
                </a:tc>
                <a:tc>
                  <a:txBody>
                    <a:bodyPr/>
                    <a:lstStyle/>
                    <a:p>
                      <a:pPr algn="ctr">
                        <a:buNone/>
                      </a:pPr>
                      <a:r>
                        <a:rPr lang="en-US"/>
                        <a:t>789,284</a:t>
                      </a:r>
                    </a:p>
                  </a:txBody>
                  <a:tcPr anchor="ctr"/>
                </a:tc>
                <a:tc>
                  <a:txBody>
                    <a:bodyPr/>
                    <a:lstStyle/>
                    <a:p>
                      <a:pPr algn="ctr">
                        <a:buNone/>
                      </a:pPr>
                      <a:r>
                        <a:rPr lang="en-US"/>
                        <a:t>4,836,879</a:t>
                      </a:r>
                    </a:p>
                  </a:txBody>
                  <a:tcPr anchor="ctr"/>
                </a:tc>
                <a:tc>
                  <a:txBody>
                    <a:bodyPr/>
                    <a:lstStyle/>
                    <a:p>
                      <a:pPr algn="ctr">
                        <a:buNone/>
                      </a:pPr>
                      <a:r>
                        <a:rPr lang="en-US"/>
                        <a:t>19.23 %</a:t>
                      </a:r>
                    </a:p>
                  </a:txBody>
                  <a:tcPr anchor="ctr"/>
                </a:tc>
                <a:tc>
                  <a:txBody>
                    <a:bodyPr/>
                    <a:lstStyle/>
                    <a:p>
                      <a:pPr algn="ctr">
                        <a:buNone/>
                      </a:pPr>
                      <a:r>
                        <a:rPr lang="en-US"/>
                        <a:t>15.38 %</a:t>
                      </a:r>
                    </a:p>
                  </a:txBody>
                  <a:tcPr anchor="ctr"/>
                </a:tc>
                <a:extLst>
                  <a:ext uri="{0D108BD9-81ED-4DB2-BD59-A6C34878D82A}">
                    <a16:rowId xmlns:a16="http://schemas.microsoft.com/office/drawing/2014/main" val="3237329551"/>
                  </a:ext>
                </a:extLst>
              </a:tr>
              <a:tr h="396187">
                <a:tc>
                  <a:txBody>
                    <a:bodyPr/>
                    <a:lstStyle/>
                    <a:p>
                      <a:pPr algn="l">
                        <a:buNone/>
                      </a:pPr>
                      <a:r>
                        <a:rPr lang="en-US"/>
                        <a:t>February</a:t>
                      </a:r>
                    </a:p>
                  </a:txBody>
                  <a:tcPr anchor="ctr"/>
                </a:tc>
                <a:tc>
                  <a:txBody>
                    <a:bodyPr/>
                    <a:lstStyle/>
                    <a:p>
                      <a:pPr algn="ctr">
                        <a:buNone/>
                      </a:pPr>
                      <a:r>
                        <a:rPr lang="en-US"/>
                        <a:t>16</a:t>
                      </a:r>
                    </a:p>
                  </a:txBody>
                  <a:tcPr anchor="ctr"/>
                </a:tc>
                <a:tc>
                  <a:txBody>
                    <a:bodyPr/>
                    <a:lstStyle/>
                    <a:p>
                      <a:pPr algn="ctr">
                        <a:buNone/>
                      </a:pPr>
                      <a:r>
                        <a:rPr lang="en-US"/>
                        <a:t>37,440,266</a:t>
                      </a:r>
                    </a:p>
                  </a:txBody>
                  <a:tcPr anchor="ctr"/>
                </a:tc>
                <a:tc>
                  <a:txBody>
                    <a:bodyPr/>
                    <a:lstStyle/>
                    <a:p>
                      <a:pPr algn="ctr">
                        <a:buNone/>
                      </a:pPr>
                      <a:r>
                        <a:rPr lang="en-US"/>
                        <a:t>7,355,266</a:t>
                      </a:r>
                    </a:p>
                  </a:txBody>
                  <a:tcPr anchor="ctr"/>
                </a:tc>
                <a:tc>
                  <a:txBody>
                    <a:bodyPr/>
                    <a:lstStyle/>
                    <a:p>
                      <a:pPr algn="ctr">
                        <a:buNone/>
                      </a:pPr>
                      <a:r>
                        <a:rPr lang="en-US"/>
                        <a:t>789,284</a:t>
                      </a:r>
                    </a:p>
                  </a:txBody>
                  <a:tcPr anchor="ctr"/>
                </a:tc>
                <a:tc>
                  <a:txBody>
                    <a:bodyPr/>
                    <a:lstStyle/>
                    <a:p>
                      <a:pPr algn="ctr">
                        <a:buNone/>
                      </a:pPr>
                      <a:r>
                        <a:rPr lang="en-US"/>
                        <a:t>6,565,982</a:t>
                      </a:r>
                    </a:p>
                  </a:txBody>
                  <a:tcPr anchor="ctr"/>
                </a:tc>
                <a:tc>
                  <a:txBody>
                    <a:bodyPr/>
                    <a:lstStyle/>
                    <a:p>
                      <a:pPr algn="ctr">
                        <a:buNone/>
                      </a:pPr>
                      <a:r>
                        <a:rPr lang="en-US"/>
                        <a:t>18.92 %</a:t>
                      </a:r>
                    </a:p>
                  </a:txBody>
                  <a:tcPr anchor="ctr"/>
                </a:tc>
                <a:tc>
                  <a:txBody>
                    <a:bodyPr/>
                    <a:lstStyle/>
                    <a:p>
                      <a:pPr algn="ctr">
                        <a:buNone/>
                      </a:pPr>
                      <a:r>
                        <a:rPr lang="en-US"/>
                        <a:t>16.22 %</a:t>
                      </a:r>
                    </a:p>
                  </a:txBody>
                  <a:tcPr anchor="ctr"/>
                </a:tc>
                <a:extLst>
                  <a:ext uri="{0D108BD9-81ED-4DB2-BD59-A6C34878D82A}">
                    <a16:rowId xmlns:a16="http://schemas.microsoft.com/office/drawing/2014/main" val="4213391767"/>
                  </a:ext>
                </a:extLst>
              </a:tr>
              <a:tr h="396187">
                <a:tc>
                  <a:txBody>
                    <a:bodyPr/>
                    <a:lstStyle/>
                    <a:p>
                      <a:pPr algn="l">
                        <a:buNone/>
                      </a:pPr>
                      <a:r>
                        <a:rPr lang="en-US"/>
                        <a:t>March</a:t>
                      </a:r>
                    </a:p>
                  </a:txBody>
                  <a:tcPr anchor="ctr"/>
                </a:tc>
                <a:tc>
                  <a:txBody>
                    <a:bodyPr/>
                    <a:lstStyle/>
                    <a:p>
                      <a:pPr algn="ctr">
                        <a:buNone/>
                      </a:pPr>
                      <a:r>
                        <a:rPr lang="en-US"/>
                        <a:t>14</a:t>
                      </a:r>
                    </a:p>
                  </a:txBody>
                  <a:tcPr anchor="ctr"/>
                </a:tc>
                <a:tc>
                  <a:txBody>
                    <a:bodyPr/>
                    <a:lstStyle/>
                    <a:p>
                      <a:pPr algn="ctr">
                        <a:buNone/>
                      </a:pPr>
                      <a:r>
                        <a:rPr lang="en-US"/>
                        <a:t>35,035,331</a:t>
                      </a:r>
                    </a:p>
                  </a:txBody>
                  <a:tcPr anchor="ctr"/>
                </a:tc>
                <a:tc>
                  <a:txBody>
                    <a:bodyPr/>
                    <a:lstStyle/>
                    <a:p>
                      <a:pPr algn="ctr">
                        <a:buNone/>
                      </a:pPr>
                      <a:r>
                        <a:rPr lang="en-US"/>
                        <a:t>6,970,331</a:t>
                      </a:r>
                    </a:p>
                  </a:txBody>
                  <a:tcPr anchor="ctr"/>
                </a:tc>
                <a:tc>
                  <a:txBody>
                    <a:bodyPr/>
                    <a:lstStyle/>
                    <a:p>
                      <a:pPr algn="ctr">
                        <a:buNone/>
                      </a:pPr>
                      <a:r>
                        <a:rPr lang="en-US"/>
                        <a:t>789,284</a:t>
                      </a:r>
                    </a:p>
                  </a:txBody>
                  <a:tcPr anchor="ctr"/>
                </a:tc>
                <a:tc>
                  <a:txBody>
                    <a:bodyPr/>
                    <a:lstStyle/>
                    <a:p>
                      <a:pPr algn="ctr">
                        <a:buNone/>
                      </a:pPr>
                      <a:r>
                        <a:rPr lang="en-US"/>
                        <a:t>6,181,047</a:t>
                      </a:r>
                    </a:p>
                  </a:txBody>
                  <a:tcPr anchor="ctr"/>
                </a:tc>
                <a:tc>
                  <a:txBody>
                    <a:bodyPr/>
                    <a:lstStyle/>
                    <a:p>
                      <a:pPr algn="ctr">
                        <a:buNone/>
                      </a:pPr>
                      <a:r>
                        <a:rPr lang="en-US"/>
                        <a:t>17.14 %</a:t>
                      </a:r>
                    </a:p>
                  </a:txBody>
                  <a:tcPr anchor="ctr"/>
                </a:tc>
                <a:tc>
                  <a:txBody>
                    <a:bodyPr/>
                    <a:lstStyle/>
                    <a:p>
                      <a:pPr algn="ctr">
                        <a:buNone/>
                      </a:pPr>
                      <a:r>
                        <a:rPr lang="en-US"/>
                        <a:t>17.14 %</a:t>
                      </a:r>
                    </a:p>
                  </a:txBody>
                  <a:tcPr anchor="ctr"/>
                </a:tc>
                <a:extLst>
                  <a:ext uri="{0D108BD9-81ED-4DB2-BD59-A6C34878D82A}">
                    <a16:rowId xmlns:a16="http://schemas.microsoft.com/office/drawing/2014/main" val="4061775816"/>
                  </a:ext>
                </a:extLst>
              </a:tr>
              <a:tr h="396187">
                <a:tc>
                  <a:txBody>
                    <a:bodyPr/>
                    <a:lstStyle/>
                    <a:p>
                      <a:pPr algn="l">
                        <a:buNone/>
                      </a:pPr>
                      <a:r>
                        <a:rPr lang="en-US"/>
                        <a:t>April</a:t>
                      </a:r>
                    </a:p>
                  </a:txBody>
                  <a:tcPr anchor="ctr"/>
                </a:tc>
                <a:tc>
                  <a:txBody>
                    <a:bodyPr/>
                    <a:lstStyle/>
                    <a:p>
                      <a:pPr algn="ctr">
                        <a:buNone/>
                      </a:pPr>
                      <a:r>
                        <a:rPr lang="en-US"/>
                        <a:t>19</a:t>
                      </a:r>
                    </a:p>
                  </a:txBody>
                  <a:tcPr anchor="ctr"/>
                </a:tc>
                <a:tc>
                  <a:txBody>
                    <a:bodyPr/>
                    <a:lstStyle/>
                    <a:p>
                      <a:pPr algn="ctr">
                        <a:buNone/>
                      </a:pPr>
                      <a:r>
                        <a:rPr lang="en-US"/>
                        <a:t>41,355,505</a:t>
                      </a:r>
                    </a:p>
                  </a:txBody>
                  <a:tcPr anchor="ctr"/>
                </a:tc>
                <a:tc>
                  <a:txBody>
                    <a:bodyPr/>
                    <a:lstStyle/>
                    <a:p>
                      <a:pPr algn="ctr">
                        <a:buNone/>
                      </a:pPr>
                      <a:r>
                        <a:rPr lang="en-US"/>
                        <a:t>8,420,505</a:t>
                      </a:r>
                    </a:p>
                  </a:txBody>
                  <a:tcPr anchor="ctr"/>
                </a:tc>
                <a:tc>
                  <a:txBody>
                    <a:bodyPr/>
                    <a:lstStyle/>
                    <a:p>
                      <a:pPr algn="ctr">
                        <a:buNone/>
                      </a:pPr>
                      <a:r>
                        <a:rPr lang="en-US"/>
                        <a:t>789,284</a:t>
                      </a:r>
                    </a:p>
                  </a:txBody>
                  <a:tcPr anchor="ctr"/>
                </a:tc>
                <a:tc>
                  <a:txBody>
                    <a:bodyPr/>
                    <a:lstStyle/>
                    <a:p>
                      <a:pPr algn="ctr">
                        <a:buNone/>
                      </a:pPr>
                      <a:r>
                        <a:rPr lang="en-US"/>
                        <a:t>7,631,221</a:t>
                      </a:r>
                    </a:p>
                  </a:txBody>
                  <a:tcPr anchor="ctr"/>
                </a:tc>
                <a:tc>
                  <a:txBody>
                    <a:bodyPr/>
                    <a:lstStyle/>
                    <a:p>
                      <a:pPr algn="ctr">
                        <a:buNone/>
                      </a:pPr>
                      <a:r>
                        <a:rPr lang="en-US"/>
                        <a:t>19.51 %</a:t>
                      </a:r>
                    </a:p>
                  </a:txBody>
                  <a:tcPr anchor="ctr"/>
                </a:tc>
                <a:tc>
                  <a:txBody>
                    <a:bodyPr/>
                    <a:lstStyle/>
                    <a:p>
                      <a:pPr algn="ctr">
                        <a:buNone/>
                      </a:pPr>
                      <a:r>
                        <a:rPr lang="en-US"/>
                        <a:t>17.07 %</a:t>
                      </a:r>
                    </a:p>
                  </a:txBody>
                  <a:tcPr anchor="ctr"/>
                </a:tc>
                <a:extLst>
                  <a:ext uri="{0D108BD9-81ED-4DB2-BD59-A6C34878D82A}">
                    <a16:rowId xmlns:a16="http://schemas.microsoft.com/office/drawing/2014/main" val="2104863014"/>
                  </a:ext>
                </a:extLst>
              </a:tr>
              <a:tr h="396187">
                <a:tc>
                  <a:txBody>
                    <a:bodyPr/>
                    <a:lstStyle/>
                    <a:p>
                      <a:pPr algn="l">
                        <a:buNone/>
                      </a:pPr>
                      <a:r>
                        <a:rPr lang="en-US"/>
                        <a:t>May</a:t>
                      </a:r>
                    </a:p>
                  </a:txBody>
                  <a:tcPr anchor="ctr"/>
                </a:tc>
                <a:tc>
                  <a:txBody>
                    <a:bodyPr/>
                    <a:lstStyle/>
                    <a:p>
                      <a:pPr algn="ctr">
                        <a:buNone/>
                      </a:pPr>
                      <a:r>
                        <a:rPr lang="en-US"/>
                        <a:t>19</a:t>
                      </a:r>
                    </a:p>
                  </a:txBody>
                  <a:tcPr anchor="ctr"/>
                </a:tc>
                <a:tc>
                  <a:txBody>
                    <a:bodyPr/>
                    <a:lstStyle/>
                    <a:p>
                      <a:pPr algn="ctr">
                        <a:buNone/>
                      </a:pPr>
                      <a:r>
                        <a:rPr lang="en-US"/>
                        <a:t>51,611,311</a:t>
                      </a:r>
                    </a:p>
                  </a:txBody>
                  <a:tcPr anchor="ctr"/>
                </a:tc>
                <a:tc>
                  <a:txBody>
                    <a:bodyPr/>
                    <a:lstStyle/>
                    <a:p>
                      <a:pPr algn="ctr">
                        <a:buNone/>
                      </a:pPr>
                      <a:r>
                        <a:rPr lang="en-US"/>
                        <a:t>10,221,311</a:t>
                      </a:r>
                    </a:p>
                  </a:txBody>
                  <a:tcPr anchor="ctr"/>
                </a:tc>
                <a:tc>
                  <a:txBody>
                    <a:bodyPr/>
                    <a:lstStyle/>
                    <a:p>
                      <a:pPr algn="ctr">
                        <a:buNone/>
                      </a:pPr>
                      <a:r>
                        <a:rPr lang="en-US"/>
                        <a:t>789,284</a:t>
                      </a:r>
                    </a:p>
                  </a:txBody>
                  <a:tcPr anchor="ctr"/>
                </a:tc>
                <a:tc>
                  <a:txBody>
                    <a:bodyPr/>
                    <a:lstStyle/>
                    <a:p>
                      <a:pPr algn="ctr">
                        <a:buNone/>
                      </a:pPr>
                      <a:r>
                        <a:rPr lang="en-US"/>
                        <a:t>9,432,027</a:t>
                      </a:r>
                    </a:p>
                  </a:txBody>
                  <a:tcPr anchor="ctr"/>
                </a:tc>
                <a:tc>
                  <a:txBody>
                    <a:bodyPr/>
                    <a:lstStyle/>
                    <a:p>
                      <a:pPr algn="ctr">
                        <a:buNone/>
                      </a:pPr>
                      <a:r>
                        <a:rPr lang="en-US"/>
                        <a:t>19.61 %</a:t>
                      </a:r>
                    </a:p>
                  </a:txBody>
                  <a:tcPr anchor="ctr"/>
                </a:tc>
                <a:tc>
                  <a:txBody>
                    <a:bodyPr/>
                    <a:lstStyle/>
                    <a:p>
                      <a:pPr algn="ctr">
                        <a:buNone/>
                      </a:pPr>
                      <a:r>
                        <a:rPr lang="en-US"/>
                        <a:t>17.65 %</a:t>
                      </a:r>
                    </a:p>
                  </a:txBody>
                  <a:tcPr anchor="ctr"/>
                </a:tc>
                <a:extLst>
                  <a:ext uri="{0D108BD9-81ED-4DB2-BD59-A6C34878D82A}">
                    <a16:rowId xmlns:a16="http://schemas.microsoft.com/office/drawing/2014/main" val="313506327"/>
                  </a:ext>
                </a:extLst>
              </a:tr>
              <a:tr h="396187">
                <a:tc>
                  <a:txBody>
                    <a:bodyPr/>
                    <a:lstStyle/>
                    <a:p>
                      <a:pPr algn="l">
                        <a:buNone/>
                      </a:pPr>
                      <a:r>
                        <a:rPr lang="en-US"/>
                        <a:t>June</a:t>
                      </a:r>
                    </a:p>
                  </a:txBody>
                  <a:tcPr anchor="ctr"/>
                </a:tc>
                <a:tc>
                  <a:txBody>
                    <a:bodyPr/>
                    <a:lstStyle/>
                    <a:p>
                      <a:pPr algn="ctr">
                        <a:buNone/>
                      </a:pPr>
                      <a:r>
                        <a:rPr lang="en-US"/>
                        <a:t>20</a:t>
                      </a:r>
                    </a:p>
                  </a:txBody>
                  <a:tcPr anchor="ctr"/>
                </a:tc>
                <a:tc>
                  <a:txBody>
                    <a:bodyPr/>
                    <a:lstStyle/>
                    <a:p>
                      <a:pPr algn="ctr">
                        <a:buNone/>
                      </a:pPr>
                      <a:r>
                        <a:rPr lang="en-US"/>
                        <a:t>52,662,168</a:t>
                      </a:r>
                    </a:p>
                  </a:txBody>
                  <a:tcPr anchor="ctr"/>
                </a:tc>
                <a:tc>
                  <a:txBody>
                    <a:bodyPr/>
                    <a:lstStyle/>
                    <a:p>
                      <a:pPr algn="ctr">
                        <a:buNone/>
                      </a:pPr>
                      <a:r>
                        <a:rPr lang="en-US"/>
                        <a:t>10,752,168</a:t>
                      </a:r>
                    </a:p>
                  </a:txBody>
                  <a:tcPr anchor="ctr"/>
                </a:tc>
                <a:tc>
                  <a:txBody>
                    <a:bodyPr/>
                    <a:lstStyle/>
                    <a:p>
                      <a:pPr algn="ctr">
                        <a:buNone/>
                      </a:pPr>
                      <a:r>
                        <a:rPr lang="en-US"/>
                        <a:t>789,284</a:t>
                      </a:r>
                    </a:p>
                  </a:txBody>
                  <a:tcPr anchor="ctr"/>
                </a:tc>
                <a:tc>
                  <a:txBody>
                    <a:bodyPr/>
                    <a:lstStyle/>
                    <a:p>
                      <a:pPr algn="ctr">
                        <a:buNone/>
                      </a:pPr>
                      <a:r>
                        <a:rPr lang="en-US"/>
                        <a:t>9,962,884</a:t>
                      </a:r>
                    </a:p>
                  </a:txBody>
                  <a:tcPr anchor="ctr"/>
                </a:tc>
                <a:tc>
                  <a:txBody>
                    <a:bodyPr/>
                    <a:lstStyle/>
                    <a:p>
                      <a:pPr algn="ctr">
                        <a:buNone/>
                      </a:pPr>
                      <a:r>
                        <a:rPr lang="en-US"/>
                        <a:t>19.23 %</a:t>
                      </a:r>
                    </a:p>
                  </a:txBody>
                  <a:tcPr anchor="ctr"/>
                </a:tc>
                <a:tc>
                  <a:txBody>
                    <a:bodyPr/>
                    <a:lstStyle/>
                    <a:p>
                      <a:pPr algn="ctr">
                        <a:buNone/>
                      </a:pPr>
                      <a:r>
                        <a:rPr lang="en-US"/>
                        <a:t>17.31 %</a:t>
                      </a:r>
                    </a:p>
                  </a:txBody>
                  <a:tcPr anchor="ctr"/>
                </a:tc>
                <a:extLst>
                  <a:ext uri="{0D108BD9-81ED-4DB2-BD59-A6C34878D82A}">
                    <a16:rowId xmlns:a16="http://schemas.microsoft.com/office/drawing/2014/main" val="1655420942"/>
                  </a:ext>
                </a:extLst>
              </a:tr>
              <a:tr h="396187">
                <a:tc>
                  <a:txBody>
                    <a:bodyPr/>
                    <a:lstStyle/>
                    <a:p>
                      <a:pPr algn="l">
                        <a:buNone/>
                      </a:pPr>
                      <a:r>
                        <a:rPr lang="en-US"/>
                        <a:t>July</a:t>
                      </a:r>
                    </a:p>
                  </a:txBody>
                  <a:tcPr anchor="ctr"/>
                </a:tc>
                <a:tc>
                  <a:txBody>
                    <a:bodyPr/>
                    <a:lstStyle/>
                    <a:p>
                      <a:pPr algn="ctr">
                        <a:buNone/>
                      </a:pPr>
                      <a:r>
                        <a:rPr lang="en-US"/>
                        <a:t>18</a:t>
                      </a:r>
                    </a:p>
                  </a:txBody>
                  <a:tcPr anchor="ctr"/>
                </a:tc>
                <a:tc>
                  <a:txBody>
                    <a:bodyPr/>
                    <a:lstStyle/>
                    <a:p>
                      <a:pPr algn="ctr">
                        <a:buNone/>
                      </a:pPr>
                      <a:r>
                        <a:rPr lang="en-US"/>
                        <a:t>70,909,897</a:t>
                      </a:r>
                    </a:p>
                  </a:txBody>
                  <a:tcPr anchor="ctr"/>
                </a:tc>
                <a:tc>
                  <a:txBody>
                    <a:bodyPr/>
                    <a:lstStyle/>
                    <a:p>
                      <a:pPr algn="ctr">
                        <a:buNone/>
                      </a:pPr>
                      <a:r>
                        <a:rPr lang="en-US"/>
                        <a:t>13,739,897</a:t>
                      </a:r>
                    </a:p>
                  </a:txBody>
                  <a:tcPr anchor="ctr"/>
                </a:tc>
                <a:tc>
                  <a:txBody>
                    <a:bodyPr/>
                    <a:lstStyle/>
                    <a:p>
                      <a:pPr algn="ctr">
                        <a:buNone/>
                      </a:pPr>
                      <a:r>
                        <a:rPr lang="en-US"/>
                        <a:t>789,284</a:t>
                      </a:r>
                    </a:p>
                  </a:txBody>
                  <a:tcPr anchor="ctr"/>
                </a:tc>
                <a:tc>
                  <a:txBody>
                    <a:bodyPr/>
                    <a:lstStyle/>
                    <a:p>
                      <a:pPr algn="ctr">
                        <a:buNone/>
                      </a:pPr>
                      <a:r>
                        <a:rPr lang="en-US"/>
                        <a:t>12,950,613</a:t>
                      </a:r>
                    </a:p>
                  </a:txBody>
                  <a:tcPr anchor="ctr"/>
                </a:tc>
                <a:tc>
                  <a:txBody>
                    <a:bodyPr/>
                    <a:lstStyle/>
                    <a:p>
                      <a:pPr algn="ctr">
                        <a:buNone/>
                      </a:pPr>
                      <a:r>
                        <a:rPr lang="en-US"/>
                        <a:t>18.57 %</a:t>
                      </a:r>
                    </a:p>
                  </a:txBody>
                  <a:tcPr anchor="ctr"/>
                </a:tc>
                <a:tc>
                  <a:txBody>
                    <a:bodyPr/>
                    <a:lstStyle/>
                    <a:p>
                      <a:pPr algn="ctr">
                        <a:buNone/>
                      </a:pPr>
                      <a:r>
                        <a:rPr lang="en-US"/>
                        <a:t>17.14 %</a:t>
                      </a:r>
                    </a:p>
                  </a:txBody>
                  <a:tcPr anchor="ctr"/>
                </a:tc>
                <a:extLst>
                  <a:ext uri="{0D108BD9-81ED-4DB2-BD59-A6C34878D82A}">
                    <a16:rowId xmlns:a16="http://schemas.microsoft.com/office/drawing/2014/main" val="1880118335"/>
                  </a:ext>
                </a:extLst>
              </a:tr>
              <a:tr h="396187">
                <a:tc>
                  <a:txBody>
                    <a:bodyPr/>
                    <a:lstStyle/>
                    <a:p>
                      <a:pPr algn="l">
                        <a:buNone/>
                      </a:pPr>
                      <a:r>
                        <a:rPr lang="en-US"/>
                        <a:t>August</a:t>
                      </a:r>
                    </a:p>
                  </a:txBody>
                  <a:tcPr anchor="ctr"/>
                </a:tc>
                <a:tc>
                  <a:txBody>
                    <a:bodyPr/>
                    <a:lstStyle/>
                    <a:p>
                      <a:pPr algn="ctr">
                        <a:buNone/>
                      </a:pPr>
                      <a:r>
                        <a:rPr lang="en-US"/>
                        <a:t>22</a:t>
                      </a:r>
                    </a:p>
                  </a:txBody>
                  <a:tcPr anchor="ctr"/>
                </a:tc>
                <a:tc>
                  <a:txBody>
                    <a:bodyPr/>
                    <a:lstStyle/>
                    <a:p>
                      <a:pPr algn="ctr">
                        <a:buNone/>
                      </a:pPr>
                      <a:r>
                        <a:rPr lang="en-US"/>
                        <a:t>53,001,464</a:t>
                      </a:r>
                    </a:p>
                  </a:txBody>
                  <a:tcPr anchor="ctr"/>
                </a:tc>
                <a:tc>
                  <a:txBody>
                    <a:bodyPr/>
                    <a:lstStyle/>
                    <a:p>
                      <a:pPr algn="ctr">
                        <a:buNone/>
                      </a:pPr>
                      <a:r>
                        <a:rPr lang="en-US"/>
                        <a:t>10,591,464</a:t>
                      </a:r>
                    </a:p>
                  </a:txBody>
                  <a:tcPr anchor="ctr"/>
                </a:tc>
                <a:tc>
                  <a:txBody>
                    <a:bodyPr/>
                    <a:lstStyle/>
                    <a:p>
                      <a:pPr algn="ctr">
                        <a:buNone/>
                      </a:pPr>
                      <a:r>
                        <a:rPr lang="en-US"/>
                        <a:t>789,284</a:t>
                      </a:r>
                    </a:p>
                  </a:txBody>
                  <a:tcPr anchor="ctr"/>
                </a:tc>
                <a:tc>
                  <a:txBody>
                    <a:bodyPr/>
                    <a:lstStyle/>
                    <a:p>
                      <a:pPr algn="ctr">
                        <a:buNone/>
                      </a:pPr>
                      <a:r>
                        <a:rPr lang="en-US"/>
                        <a:t>9,802,179</a:t>
                      </a:r>
                    </a:p>
                  </a:txBody>
                  <a:tcPr anchor="ctr"/>
                </a:tc>
                <a:tc>
                  <a:txBody>
                    <a:bodyPr/>
                    <a:lstStyle/>
                    <a:p>
                      <a:pPr algn="ctr">
                        <a:buNone/>
                      </a:pPr>
                      <a:r>
                        <a:rPr lang="en-US"/>
                        <a:t>18.87 %</a:t>
                      </a:r>
                    </a:p>
                  </a:txBody>
                  <a:tcPr anchor="ctr"/>
                </a:tc>
                <a:tc>
                  <a:txBody>
                    <a:bodyPr/>
                    <a:lstStyle/>
                    <a:p>
                      <a:pPr algn="ctr">
                        <a:buNone/>
                      </a:pPr>
                      <a:r>
                        <a:rPr lang="en-US"/>
                        <a:t>16.98 %</a:t>
                      </a:r>
                    </a:p>
                  </a:txBody>
                  <a:tcPr anchor="ctr"/>
                </a:tc>
                <a:extLst>
                  <a:ext uri="{0D108BD9-81ED-4DB2-BD59-A6C34878D82A}">
                    <a16:rowId xmlns:a16="http://schemas.microsoft.com/office/drawing/2014/main" val="3773150926"/>
                  </a:ext>
                </a:extLst>
              </a:tr>
              <a:tr h="396187">
                <a:tc>
                  <a:txBody>
                    <a:bodyPr/>
                    <a:lstStyle/>
                    <a:p>
                      <a:pPr algn="l">
                        <a:buNone/>
                      </a:pPr>
                      <a:r>
                        <a:rPr lang="en-US"/>
                        <a:t>September</a:t>
                      </a:r>
                    </a:p>
                  </a:txBody>
                  <a:tcPr anchor="ctr"/>
                </a:tc>
                <a:tc>
                  <a:txBody>
                    <a:bodyPr/>
                    <a:lstStyle/>
                    <a:p>
                      <a:pPr algn="ctr">
                        <a:buNone/>
                      </a:pPr>
                      <a:r>
                        <a:rPr lang="en-US"/>
                        <a:t>15</a:t>
                      </a:r>
                    </a:p>
                  </a:txBody>
                  <a:tcPr anchor="ctr"/>
                </a:tc>
                <a:tc>
                  <a:txBody>
                    <a:bodyPr/>
                    <a:lstStyle/>
                    <a:p>
                      <a:pPr algn="ctr">
                        <a:buNone/>
                      </a:pPr>
                      <a:r>
                        <a:rPr lang="en-US"/>
                        <a:t>51,913,607</a:t>
                      </a:r>
                    </a:p>
                  </a:txBody>
                  <a:tcPr anchor="ctr"/>
                </a:tc>
                <a:tc>
                  <a:txBody>
                    <a:bodyPr/>
                    <a:lstStyle/>
                    <a:p>
                      <a:pPr algn="ctr">
                        <a:buNone/>
                      </a:pPr>
                      <a:r>
                        <a:rPr lang="en-US"/>
                        <a:t>10,208,607</a:t>
                      </a:r>
                    </a:p>
                  </a:txBody>
                  <a:tcPr anchor="ctr"/>
                </a:tc>
                <a:tc>
                  <a:txBody>
                    <a:bodyPr/>
                    <a:lstStyle/>
                    <a:p>
                      <a:pPr algn="ctr">
                        <a:buNone/>
                      </a:pPr>
                      <a:r>
                        <a:rPr lang="en-US"/>
                        <a:t>789,284</a:t>
                      </a:r>
                    </a:p>
                  </a:txBody>
                  <a:tcPr anchor="ctr"/>
                </a:tc>
                <a:tc>
                  <a:txBody>
                    <a:bodyPr/>
                    <a:lstStyle/>
                    <a:p>
                      <a:pPr algn="ctr">
                        <a:buNone/>
                      </a:pPr>
                      <a:r>
                        <a:rPr lang="en-US"/>
                        <a:t>9,419,323</a:t>
                      </a:r>
                    </a:p>
                  </a:txBody>
                  <a:tcPr anchor="ctr"/>
                </a:tc>
                <a:tc>
                  <a:txBody>
                    <a:bodyPr/>
                    <a:lstStyle/>
                    <a:p>
                      <a:pPr algn="ctr">
                        <a:buNone/>
                      </a:pPr>
                      <a:r>
                        <a:rPr lang="en-US"/>
                        <a:t>19.61 %</a:t>
                      </a:r>
                    </a:p>
                  </a:txBody>
                  <a:tcPr anchor="ctr"/>
                </a:tc>
                <a:tc>
                  <a:txBody>
                    <a:bodyPr/>
                    <a:lstStyle/>
                    <a:p>
                      <a:pPr algn="ctr">
                        <a:buNone/>
                      </a:pPr>
                      <a:r>
                        <a:rPr lang="en-US"/>
                        <a:t>17.65 %</a:t>
                      </a:r>
                    </a:p>
                  </a:txBody>
                  <a:tcPr anchor="ctr"/>
                </a:tc>
                <a:extLst>
                  <a:ext uri="{0D108BD9-81ED-4DB2-BD59-A6C34878D82A}">
                    <a16:rowId xmlns:a16="http://schemas.microsoft.com/office/drawing/2014/main" val="984347646"/>
                  </a:ext>
                </a:extLst>
              </a:tr>
              <a:tr h="396187">
                <a:tc>
                  <a:txBody>
                    <a:bodyPr/>
                    <a:lstStyle/>
                    <a:p>
                      <a:pPr algn="l">
                        <a:buNone/>
                      </a:pPr>
                      <a:r>
                        <a:rPr lang="en-US"/>
                        <a:t>October</a:t>
                      </a:r>
                    </a:p>
                  </a:txBody>
                  <a:tcPr anchor="ctr"/>
                </a:tc>
                <a:tc>
                  <a:txBody>
                    <a:bodyPr/>
                    <a:lstStyle/>
                    <a:p>
                      <a:pPr algn="ctr">
                        <a:buNone/>
                      </a:pPr>
                      <a:r>
                        <a:rPr lang="en-US"/>
                        <a:t>23</a:t>
                      </a:r>
                    </a:p>
                  </a:txBody>
                  <a:tcPr anchor="ctr"/>
                </a:tc>
                <a:tc>
                  <a:txBody>
                    <a:bodyPr/>
                    <a:lstStyle/>
                    <a:p>
                      <a:pPr algn="ctr">
                        <a:buNone/>
                      </a:pPr>
                      <a:r>
                        <a:rPr lang="en-US"/>
                        <a:t>49,243,476</a:t>
                      </a:r>
                    </a:p>
                  </a:txBody>
                  <a:tcPr anchor="ctr"/>
                </a:tc>
                <a:tc>
                  <a:txBody>
                    <a:bodyPr/>
                    <a:lstStyle/>
                    <a:p>
                      <a:pPr algn="ctr">
                        <a:buNone/>
                      </a:pPr>
                      <a:r>
                        <a:rPr lang="en-US"/>
                        <a:t>10,103,476</a:t>
                      </a:r>
                    </a:p>
                  </a:txBody>
                  <a:tcPr anchor="ctr"/>
                </a:tc>
                <a:tc>
                  <a:txBody>
                    <a:bodyPr/>
                    <a:lstStyle/>
                    <a:p>
                      <a:pPr algn="ctr">
                        <a:buNone/>
                      </a:pPr>
                      <a:r>
                        <a:rPr lang="en-US"/>
                        <a:t>789,284</a:t>
                      </a:r>
                    </a:p>
                  </a:txBody>
                  <a:tcPr anchor="ctr"/>
                </a:tc>
                <a:tc>
                  <a:txBody>
                    <a:bodyPr/>
                    <a:lstStyle/>
                    <a:p>
                      <a:pPr algn="ctr">
                        <a:buNone/>
                      </a:pPr>
                      <a:r>
                        <a:rPr lang="en-US"/>
                        <a:t>9,314,192</a:t>
                      </a:r>
                    </a:p>
                  </a:txBody>
                  <a:tcPr anchor="ctr"/>
                </a:tc>
                <a:tc>
                  <a:txBody>
                    <a:bodyPr/>
                    <a:lstStyle/>
                    <a:p>
                      <a:pPr algn="ctr">
                        <a:buNone/>
                      </a:pPr>
                      <a:r>
                        <a:rPr lang="en-US"/>
                        <a:t>20.41 %</a:t>
                      </a:r>
                    </a:p>
                  </a:txBody>
                  <a:tcPr anchor="ctr"/>
                </a:tc>
                <a:tc>
                  <a:txBody>
                    <a:bodyPr/>
                    <a:lstStyle/>
                    <a:p>
                      <a:pPr algn="ctr">
                        <a:buNone/>
                      </a:pPr>
                      <a:r>
                        <a:rPr lang="en-US"/>
                        <a:t>18.37 %</a:t>
                      </a:r>
                    </a:p>
                  </a:txBody>
                  <a:tcPr anchor="ctr"/>
                </a:tc>
                <a:extLst>
                  <a:ext uri="{0D108BD9-81ED-4DB2-BD59-A6C34878D82A}">
                    <a16:rowId xmlns:a16="http://schemas.microsoft.com/office/drawing/2014/main" val="2456975059"/>
                  </a:ext>
                </a:extLst>
              </a:tr>
              <a:tr h="396187">
                <a:tc>
                  <a:txBody>
                    <a:bodyPr/>
                    <a:lstStyle/>
                    <a:p>
                      <a:pPr algn="l">
                        <a:buNone/>
                      </a:pPr>
                      <a:r>
                        <a:rPr lang="en-US"/>
                        <a:t>November</a:t>
                      </a:r>
                    </a:p>
                  </a:txBody>
                  <a:tcPr anchor="ctr"/>
                </a:tc>
                <a:tc>
                  <a:txBody>
                    <a:bodyPr/>
                    <a:lstStyle/>
                    <a:p>
                      <a:pPr algn="ctr">
                        <a:buNone/>
                      </a:pPr>
                      <a:r>
                        <a:rPr lang="en-US"/>
                        <a:t>19</a:t>
                      </a:r>
                    </a:p>
                  </a:txBody>
                  <a:tcPr anchor="ctr"/>
                </a:tc>
                <a:tc>
                  <a:txBody>
                    <a:bodyPr/>
                    <a:lstStyle/>
                    <a:p>
                      <a:pPr algn="ctr">
                        <a:buNone/>
                      </a:pPr>
                      <a:r>
                        <a:rPr lang="en-US"/>
                        <a:t>55,249,663</a:t>
                      </a:r>
                    </a:p>
                  </a:txBody>
                  <a:tcPr anchor="ctr"/>
                </a:tc>
                <a:tc>
                  <a:txBody>
                    <a:bodyPr/>
                    <a:lstStyle/>
                    <a:p>
                      <a:pPr algn="ctr">
                        <a:buNone/>
                      </a:pPr>
                      <a:r>
                        <a:rPr lang="en-US"/>
                        <a:t>11,289,663</a:t>
                      </a:r>
                    </a:p>
                  </a:txBody>
                  <a:tcPr anchor="ctr"/>
                </a:tc>
                <a:tc>
                  <a:txBody>
                    <a:bodyPr/>
                    <a:lstStyle/>
                    <a:p>
                      <a:pPr algn="ctr">
                        <a:buNone/>
                      </a:pPr>
                      <a:r>
                        <a:rPr lang="en-US"/>
                        <a:t>789,284</a:t>
                      </a:r>
                    </a:p>
                  </a:txBody>
                  <a:tcPr anchor="ctr"/>
                </a:tc>
                <a:tc>
                  <a:txBody>
                    <a:bodyPr/>
                    <a:lstStyle/>
                    <a:p>
                      <a:pPr algn="ctr">
                        <a:buNone/>
                      </a:pPr>
                      <a:r>
                        <a:rPr lang="en-US"/>
                        <a:t>10,500,379</a:t>
                      </a:r>
                    </a:p>
                  </a:txBody>
                  <a:tcPr anchor="ctr"/>
                </a:tc>
                <a:tc>
                  <a:txBody>
                    <a:bodyPr/>
                    <a:lstStyle/>
                    <a:p>
                      <a:pPr algn="ctr">
                        <a:buNone/>
                      </a:pPr>
                      <a:r>
                        <a:rPr lang="en-US"/>
                        <a:t>20 %</a:t>
                      </a:r>
                    </a:p>
                  </a:txBody>
                  <a:tcPr anchor="ctr"/>
                </a:tc>
                <a:tc>
                  <a:txBody>
                    <a:bodyPr/>
                    <a:lstStyle/>
                    <a:p>
                      <a:pPr algn="ctr">
                        <a:buNone/>
                      </a:pPr>
                      <a:r>
                        <a:rPr lang="en-US"/>
                        <a:t>18.18 %</a:t>
                      </a:r>
                    </a:p>
                  </a:txBody>
                  <a:tcPr anchor="ctr"/>
                </a:tc>
                <a:extLst>
                  <a:ext uri="{0D108BD9-81ED-4DB2-BD59-A6C34878D82A}">
                    <a16:rowId xmlns:a16="http://schemas.microsoft.com/office/drawing/2014/main" val="712714810"/>
                  </a:ext>
                </a:extLst>
              </a:tr>
              <a:tr h="396187">
                <a:tc>
                  <a:txBody>
                    <a:bodyPr/>
                    <a:lstStyle/>
                    <a:p>
                      <a:pPr algn="l">
                        <a:buNone/>
                      </a:pPr>
                      <a:r>
                        <a:rPr lang="en-US" dirty="0"/>
                        <a:t>December</a:t>
                      </a:r>
                    </a:p>
                  </a:txBody>
                  <a:tcPr anchor="ctr"/>
                </a:tc>
                <a:tc>
                  <a:txBody>
                    <a:bodyPr/>
                    <a:lstStyle/>
                    <a:p>
                      <a:pPr algn="ctr">
                        <a:buNone/>
                      </a:pPr>
                      <a:r>
                        <a:rPr lang="en-US"/>
                        <a:t>14</a:t>
                      </a:r>
                    </a:p>
                  </a:txBody>
                  <a:tcPr anchor="ctr"/>
                </a:tc>
                <a:tc>
                  <a:txBody>
                    <a:bodyPr/>
                    <a:lstStyle/>
                    <a:p>
                      <a:pPr algn="ctr">
                        <a:buNone/>
                      </a:pPr>
                      <a:r>
                        <a:rPr lang="en-US"/>
                        <a:t>28,745,061</a:t>
                      </a:r>
                    </a:p>
                  </a:txBody>
                  <a:tcPr anchor="ctr"/>
                </a:tc>
                <a:tc>
                  <a:txBody>
                    <a:bodyPr/>
                    <a:lstStyle/>
                    <a:p>
                      <a:pPr algn="ctr">
                        <a:buNone/>
                      </a:pPr>
                      <a:r>
                        <a:rPr lang="en-US"/>
                        <a:t>5,995,061</a:t>
                      </a:r>
                    </a:p>
                  </a:txBody>
                  <a:tcPr anchor="ctr"/>
                </a:tc>
                <a:tc>
                  <a:txBody>
                    <a:bodyPr/>
                    <a:lstStyle/>
                    <a:p>
                      <a:pPr algn="ctr">
                        <a:buNone/>
                      </a:pPr>
                      <a:r>
                        <a:rPr lang="en-US"/>
                        <a:t>789,284</a:t>
                      </a:r>
                    </a:p>
                  </a:txBody>
                  <a:tcPr anchor="ctr"/>
                </a:tc>
                <a:tc>
                  <a:txBody>
                    <a:bodyPr/>
                    <a:lstStyle/>
                    <a:p>
                      <a:pPr algn="ctr">
                        <a:buNone/>
                      </a:pPr>
                      <a:r>
                        <a:rPr lang="en-US"/>
                        <a:t>5,205,776</a:t>
                      </a:r>
                    </a:p>
                  </a:txBody>
                  <a:tcPr anchor="ctr"/>
                </a:tc>
                <a:tc>
                  <a:txBody>
                    <a:bodyPr/>
                    <a:lstStyle/>
                    <a:p>
                      <a:pPr algn="ctr">
                        <a:buNone/>
                      </a:pPr>
                      <a:r>
                        <a:rPr lang="en-US"/>
                        <a:t>17.86 %</a:t>
                      </a:r>
                    </a:p>
                  </a:txBody>
                  <a:tcPr anchor="ctr"/>
                </a:tc>
                <a:tc>
                  <a:txBody>
                    <a:bodyPr/>
                    <a:lstStyle/>
                    <a:p>
                      <a:pPr algn="ctr">
                        <a:buNone/>
                      </a:pPr>
                      <a:r>
                        <a:rPr lang="en-US" dirty="0"/>
                        <a:t>17.86 %</a:t>
                      </a:r>
                    </a:p>
                  </a:txBody>
                  <a:tcPr anchor="ctr"/>
                </a:tc>
                <a:extLst>
                  <a:ext uri="{0D108BD9-81ED-4DB2-BD59-A6C34878D82A}">
                    <a16:rowId xmlns:a16="http://schemas.microsoft.com/office/drawing/2014/main" val="2119831125"/>
                  </a:ext>
                </a:extLst>
              </a:tr>
            </a:tbl>
          </a:graphicData>
        </a:graphic>
      </p:graphicFrame>
    </p:spTree>
    <p:extLst>
      <p:ext uri="{BB962C8B-B14F-4D97-AF65-F5344CB8AC3E}">
        <p14:creationId xmlns:p14="http://schemas.microsoft.com/office/powerpoint/2010/main" val="1454662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3D755-AB47-4049-950E-11BA73EE6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18249-AD4E-9996-4645-01AA2509AF79}"/>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Net Profit Analysis by Showroom</a:t>
            </a:r>
          </a:p>
        </p:txBody>
      </p:sp>
      <p:sp>
        <p:nvSpPr>
          <p:cNvPr id="4" name="Title 1">
            <a:extLst>
              <a:ext uri="{FF2B5EF4-FFF2-40B4-BE49-F238E27FC236}">
                <a16:creationId xmlns:a16="http://schemas.microsoft.com/office/drawing/2014/main" id="{6127FD20-2242-9414-B6CB-9F81841BF594}"/>
              </a:ext>
            </a:extLst>
          </p:cNvPr>
          <p:cNvSpPr txBox="1">
            <a:spLocks/>
          </p:cNvSpPr>
          <p:nvPr/>
        </p:nvSpPr>
        <p:spPr>
          <a:xfrm>
            <a:off x="51652" y="545637"/>
            <a:ext cx="6417110"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Yearly Gross and net Profit for Mumbai and Delhi Showroom 2023 and &amp; 2024:</a:t>
            </a:r>
          </a:p>
        </p:txBody>
      </p:sp>
      <p:graphicFrame>
        <p:nvGraphicFramePr>
          <p:cNvPr id="6" name="Table 5">
            <a:extLst>
              <a:ext uri="{FF2B5EF4-FFF2-40B4-BE49-F238E27FC236}">
                <a16:creationId xmlns:a16="http://schemas.microsoft.com/office/drawing/2014/main" id="{B358C337-E6C8-9CAF-CBAE-C3330DC0B3F5}"/>
              </a:ext>
            </a:extLst>
          </p:cNvPr>
          <p:cNvGraphicFramePr>
            <a:graphicFrameLocks noGrp="1"/>
          </p:cNvGraphicFramePr>
          <p:nvPr>
            <p:extLst>
              <p:ext uri="{D42A27DB-BD31-4B8C-83A1-F6EECF244321}">
                <p14:modId xmlns:p14="http://schemas.microsoft.com/office/powerpoint/2010/main" val="1614575609"/>
              </p:ext>
            </p:extLst>
          </p:nvPr>
        </p:nvGraphicFramePr>
        <p:xfrm>
          <a:off x="51652" y="1382449"/>
          <a:ext cx="12013519" cy="741680"/>
        </p:xfrm>
        <a:graphic>
          <a:graphicData uri="http://schemas.openxmlformats.org/drawingml/2006/table">
            <a:tbl>
              <a:tblPr firstRow="1" bandRow="1">
                <a:tableStyleId>{616DA210-FB5B-4158-B5E0-FEB733F419BA}</a:tableStyleId>
              </a:tblPr>
              <a:tblGrid>
                <a:gridCol w="1716217">
                  <a:extLst>
                    <a:ext uri="{9D8B030D-6E8A-4147-A177-3AD203B41FA5}">
                      <a16:colId xmlns:a16="http://schemas.microsoft.com/office/drawing/2014/main" val="3177353522"/>
                    </a:ext>
                  </a:extLst>
                </a:gridCol>
                <a:gridCol w="1716217">
                  <a:extLst>
                    <a:ext uri="{9D8B030D-6E8A-4147-A177-3AD203B41FA5}">
                      <a16:colId xmlns:a16="http://schemas.microsoft.com/office/drawing/2014/main" val="3963927764"/>
                    </a:ext>
                  </a:extLst>
                </a:gridCol>
                <a:gridCol w="1716217">
                  <a:extLst>
                    <a:ext uri="{9D8B030D-6E8A-4147-A177-3AD203B41FA5}">
                      <a16:colId xmlns:a16="http://schemas.microsoft.com/office/drawing/2014/main" val="199912861"/>
                    </a:ext>
                  </a:extLst>
                </a:gridCol>
                <a:gridCol w="1716217">
                  <a:extLst>
                    <a:ext uri="{9D8B030D-6E8A-4147-A177-3AD203B41FA5}">
                      <a16:colId xmlns:a16="http://schemas.microsoft.com/office/drawing/2014/main" val="2991986014"/>
                    </a:ext>
                  </a:extLst>
                </a:gridCol>
                <a:gridCol w="1454229">
                  <a:extLst>
                    <a:ext uri="{9D8B030D-6E8A-4147-A177-3AD203B41FA5}">
                      <a16:colId xmlns:a16="http://schemas.microsoft.com/office/drawing/2014/main" val="1251076517"/>
                    </a:ext>
                  </a:extLst>
                </a:gridCol>
                <a:gridCol w="1978205">
                  <a:extLst>
                    <a:ext uri="{9D8B030D-6E8A-4147-A177-3AD203B41FA5}">
                      <a16:colId xmlns:a16="http://schemas.microsoft.com/office/drawing/2014/main" val="280935985"/>
                    </a:ext>
                  </a:extLst>
                </a:gridCol>
                <a:gridCol w="1716217">
                  <a:extLst>
                    <a:ext uri="{9D8B030D-6E8A-4147-A177-3AD203B41FA5}">
                      <a16:colId xmlns:a16="http://schemas.microsoft.com/office/drawing/2014/main" val="1151674473"/>
                    </a:ext>
                  </a:extLst>
                </a:gridCol>
              </a:tblGrid>
              <a:tr h="370840">
                <a:tc>
                  <a:txBody>
                    <a:bodyPr/>
                    <a:lstStyle/>
                    <a:p>
                      <a:pPr marL="0" algn="ctr" defTabSz="914400" rtl="0" eaLnBrk="1" fontAlgn="b" latinLnBrk="0" hangingPunct="1">
                        <a:buNone/>
                      </a:pPr>
                      <a:r>
                        <a:rPr lang="en-US" sz="1600" b="1" kern="1200" dirty="0">
                          <a:solidFill>
                            <a:schemeClr val="tx1"/>
                          </a:solidFill>
                          <a:latin typeface="+mn-lt"/>
                          <a:ea typeface="+mn-ea"/>
                          <a:cs typeface="+mn-cs"/>
                        </a:rPr>
                        <a:t>Total Units Sold</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T</a:t>
                      </a:r>
                      <a:r>
                        <a:rPr lang="en-US" sz="1600" b="1" kern="1200" dirty="0">
                          <a:solidFill>
                            <a:schemeClr val="tx1"/>
                          </a:solidFill>
                          <a:latin typeface="+mn-lt"/>
                          <a:ea typeface="+mn-ea"/>
                          <a:cs typeface="+mn-cs"/>
                        </a:rPr>
                        <a:t>otal</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R</a:t>
                      </a:r>
                      <a:r>
                        <a:rPr lang="en-US" sz="1600" b="1" kern="1200" dirty="0">
                          <a:solidFill>
                            <a:schemeClr val="tx1"/>
                          </a:solidFill>
                          <a:latin typeface="+mn-lt"/>
                          <a:ea typeface="+mn-ea"/>
                          <a:cs typeface="+mn-cs"/>
                        </a:rPr>
                        <a:t>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C</a:t>
                      </a:r>
                      <a:r>
                        <a:rPr lang="en-US" sz="1600" b="1" kern="1200" dirty="0">
                          <a:solidFill>
                            <a:schemeClr val="tx1"/>
                          </a:solidFill>
                          <a:latin typeface="+mn-lt"/>
                          <a:ea typeface="+mn-ea"/>
                          <a:cs typeface="+mn-cs"/>
                        </a:rPr>
                        <a:t>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M</a:t>
                      </a:r>
                      <a:r>
                        <a:rPr lang="en-US" sz="1600" b="1" kern="1200" dirty="0">
                          <a:solidFill>
                            <a:schemeClr val="tx1"/>
                          </a:solidFill>
                          <a:latin typeface="+mn-lt"/>
                          <a:ea typeface="+mn-ea"/>
                          <a:cs typeface="+mn-cs"/>
                        </a:rPr>
                        <a:t>argin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Margin %</a:t>
                      </a:r>
                    </a:p>
                  </a:txBody>
                  <a:tcPr marL="6350" marR="6350" marT="6350" marB="0" anchor="ctr"/>
                </a:tc>
                <a:extLst>
                  <a:ext uri="{0D108BD9-81ED-4DB2-BD59-A6C34878D82A}">
                    <a16:rowId xmlns:a16="http://schemas.microsoft.com/office/drawing/2014/main" val="1194721964"/>
                  </a:ext>
                </a:extLst>
              </a:tr>
              <a:tr h="370840">
                <a:tc>
                  <a:txBody>
                    <a:bodyPr/>
                    <a:lstStyle/>
                    <a:p>
                      <a:pPr algn="ctr">
                        <a:buNone/>
                      </a:pPr>
                      <a:r>
                        <a:rPr lang="en-US"/>
                        <a:t>275</a:t>
                      </a:r>
                    </a:p>
                  </a:txBody>
                  <a:tcPr anchor="ctr"/>
                </a:tc>
                <a:tc>
                  <a:txBody>
                    <a:bodyPr/>
                    <a:lstStyle/>
                    <a:p>
                      <a:pPr algn="ctr">
                        <a:buNone/>
                      </a:pPr>
                      <a:r>
                        <a:rPr lang="en-US"/>
                        <a:t>73,11,60,128</a:t>
                      </a:r>
                    </a:p>
                  </a:txBody>
                  <a:tcPr anchor="ctr"/>
                </a:tc>
                <a:tc>
                  <a:txBody>
                    <a:bodyPr/>
                    <a:lstStyle/>
                    <a:p>
                      <a:pPr algn="ctr">
                        <a:buNone/>
                      </a:pPr>
                      <a:r>
                        <a:rPr lang="en-US"/>
                        <a:t>14,57,00,128</a:t>
                      </a:r>
                    </a:p>
                  </a:txBody>
                  <a:tcPr anchor="ctr"/>
                </a:tc>
                <a:tc>
                  <a:txBody>
                    <a:bodyPr/>
                    <a:lstStyle/>
                    <a:p>
                      <a:pPr algn="ctr">
                        <a:buNone/>
                      </a:pPr>
                      <a:r>
                        <a:rPr lang="en-US"/>
                        <a:t>1,26,69,249</a:t>
                      </a:r>
                    </a:p>
                  </a:txBody>
                  <a:tcPr anchor="ctr"/>
                </a:tc>
                <a:tc>
                  <a:txBody>
                    <a:bodyPr/>
                    <a:lstStyle/>
                    <a:p>
                      <a:pPr algn="ctr">
                        <a:buNone/>
                      </a:pPr>
                      <a:r>
                        <a:rPr lang="en-US"/>
                        <a:t>13,30,30,880</a:t>
                      </a:r>
                    </a:p>
                  </a:txBody>
                  <a:tcPr anchor="ctr"/>
                </a:tc>
                <a:tc>
                  <a:txBody>
                    <a:bodyPr/>
                    <a:lstStyle/>
                    <a:p>
                      <a:pPr algn="ctr">
                        <a:buNone/>
                      </a:pPr>
                      <a:r>
                        <a:rPr lang="en-US"/>
                        <a:t>19.93 %</a:t>
                      </a:r>
                    </a:p>
                  </a:txBody>
                  <a:tcPr anchor="ctr"/>
                </a:tc>
                <a:tc>
                  <a:txBody>
                    <a:bodyPr/>
                    <a:lstStyle/>
                    <a:p>
                      <a:pPr algn="ctr">
                        <a:buNone/>
                      </a:pPr>
                      <a:r>
                        <a:rPr lang="en-US" dirty="0"/>
                        <a:t>18.19 %</a:t>
                      </a:r>
                    </a:p>
                  </a:txBody>
                  <a:tcPr anchor="ctr"/>
                </a:tc>
                <a:extLst>
                  <a:ext uri="{0D108BD9-81ED-4DB2-BD59-A6C34878D82A}">
                    <a16:rowId xmlns:a16="http://schemas.microsoft.com/office/drawing/2014/main" val="292130690"/>
                  </a:ext>
                </a:extLst>
              </a:tr>
            </a:tbl>
          </a:graphicData>
        </a:graphic>
      </p:graphicFrame>
      <p:sp>
        <p:nvSpPr>
          <p:cNvPr id="7" name="Title 1">
            <a:extLst>
              <a:ext uri="{FF2B5EF4-FFF2-40B4-BE49-F238E27FC236}">
                <a16:creationId xmlns:a16="http://schemas.microsoft.com/office/drawing/2014/main" id="{4A9D09B3-5F91-D3DE-8210-473C1EE44DB9}"/>
              </a:ext>
            </a:extLst>
          </p:cNvPr>
          <p:cNvSpPr txBox="1">
            <a:spLocks/>
          </p:cNvSpPr>
          <p:nvPr/>
        </p:nvSpPr>
        <p:spPr>
          <a:xfrm>
            <a:off x="51651" y="1008772"/>
            <a:ext cx="1653581" cy="34321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2023 Mumbai:</a:t>
            </a:r>
          </a:p>
        </p:txBody>
      </p:sp>
      <p:graphicFrame>
        <p:nvGraphicFramePr>
          <p:cNvPr id="8" name="Table 7">
            <a:extLst>
              <a:ext uri="{FF2B5EF4-FFF2-40B4-BE49-F238E27FC236}">
                <a16:creationId xmlns:a16="http://schemas.microsoft.com/office/drawing/2014/main" id="{F676543C-2F73-9B08-AA0F-3C7DF3FCBFD0}"/>
              </a:ext>
            </a:extLst>
          </p:cNvPr>
          <p:cNvGraphicFramePr>
            <a:graphicFrameLocks noGrp="1"/>
          </p:cNvGraphicFramePr>
          <p:nvPr>
            <p:extLst>
              <p:ext uri="{D42A27DB-BD31-4B8C-83A1-F6EECF244321}">
                <p14:modId xmlns:p14="http://schemas.microsoft.com/office/powerpoint/2010/main" val="769079431"/>
              </p:ext>
            </p:extLst>
          </p:nvPr>
        </p:nvGraphicFramePr>
        <p:xfrm>
          <a:off x="51652" y="2627220"/>
          <a:ext cx="12013519" cy="741680"/>
        </p:xfrm>
        <a:graphic>
          <a:graphicData uri="http://schemas.openxmlformats.org/drawingml/2006/table">
            <a:tbl>
              <a:tblPr firstRow="1" bandRow="1">
                <a:tableStyleId>{616DA210-FB5B-4158-B5E0-FEB733F419BA}</a:tableStyleId>
              </a:tblPr>
              <a:tblGrid>
                <a:gridCol w="1716217">
                  <a:extLst>
                    <a:ext uri="{9D8B030D-6E8A-4147-A177-3AD203B41FA5}">
                      <a16:colId xmlns:a16="http://schemas.microsoft.com/office/drawing/2014/main" val="3177353522"/>
                    </a:ext>
                  </a:extLst>
                </a:gridCol>
                <a:gridCol w="1716217">
                  <a:extLst>
                    <a:ext uri="{9D8B030D-6E8A-4147-A177-3AD203B41FA5}">
                      <a16:colId xmlns:a16="http://schemas.microsoft.com/office/drawing/2014/main" val="3963927764"/>
                    </a:ext>
                  </a:extLst>
                </a:gridCol>
                <a:gridCol w="1716217">
                  <a:extLst>
                    <a:ext uri="{9D8B030D-6E8A-4147-A177-3AD203B41FA5}">
                      <a16:colId xmlns:a16="http://schemas.microsoft.com/office/drawing/2014/main" val="199912861"/>
                    </a:ext>
                  </a:extLst>
                </a:gridCol>
                <a:gridCol w="1716217">
                  <a:extLst>
                    <a:ext uri="{9D8B030D-6E8A-4147-A177-3AD203B41FA5}">
                      <a16:colId xmlns:a16="http://schemas.microsoft.com/office/drawing/2014/main" val="2991986014"/>
                    </a:ext>
                  </a:extLst>
                </a:gridCol>
                <a:gridCol w="1454229">
                  <a:extLst>
                    <a:ext uri="{9D8B030D-6E8A-4147-A177-3AD203B41FA5}">
                      <a16:colId xmlns:a16="http://schemas.microsoft.com/office/drawing/2014/main" val="1251076517"/>
                    </a:ext>
                  </a:extLst>
                </a:gridCol>
                <a:gridCol w="1978205">
                  <a:extLst>
                    <a:ext uri="{9D8B030D-6E8A-4147-A177-3AD203B41FA5}">
                      <a16:colId xmlns:a16="http://schemas.microsoft.com/office/drawing/2014/main" val="280935985"/>
                    </a:ext>
                  </a:extLst>
                </a:gridCol>
                <a:gridCol w="1716217">
                  <a:extLst>
                    <a:ext uri="{9D8B030D-6E8A-4147-A177-3AD203B41FA5}">
                      <a16:colId xmlns:a16="http://schemas.microsoft.com/office/drawing/2014/main" val="1151674473"/>
                    </a:ext>
                  </a:extLst>
                </a:gridCol>
              </a:tblGrid>
              <a:tr h="370840">
                <a:tc>
                  <a:txBody>
                    <a:bodyPr/>
                    <a:lstStyle/>
                    <a:p>
                      <a:pPr marL="0" algn="ctr" defTabSz="914400" rtl="0" eaLnBrk="1" fontAlgn="b" latinLnBrk="0" hangingPunct="1">
                        <a:buNone/>
                      </a:pPr>
                      <a:r>
                        <a:rPr lang="en-US" sz="1600" b="1" kern="1200" dirty="0">
                          <a:solidFill>
                            <a:schemeClr val="tx1"/>
                          </a:solidFill>
                          <a:latin typeface="+mn-lt"/>
                          <a:ea typeface="+mn-ea"/>
                          <a:cs typeface="+mn-cs"/>
                        </a:rPr>
                        <a:t>Total Units Sold</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T</a:t>
                      </a:r>
                      <a:r>
                        <a:rPr lang="en-US" sz="1600" b="1" kern="1200" dirty="0">
                          <a:solidFill>
                            <a:schemeClr val="tx1"/>
                          </a:solidFill>
                          <a:latin typeface="+mn-lt"/>
                          <a:ea typeface="+mn-ea"/>
                          <a:cs typeface="+mn-cs"/>
                        </a:rPr>
                        <a:t>otal</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R</a:t>
                      </a:r>
                      <a:r>
                        <a:rPr lang="en-US" sz="1600" b="1" kern="1200" dirty="0">
                          <a:solidFill>
                            <a:schemeClr val="tx1"/>
                          </a:solidFill>
                          <a:latin typeface="+mn-lt"/>
                          <a:ea typeface="+mn-ea"/>
                          <a:cs typeface="+mn-cs"/>
                        </a:rPr>
                        <a:t>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C</a:t>
                      </a:r>
                      <a:r>
                        <a:rPr lang="en-US" sz="1600" b="1" kern="1200" dirty="0">
                          <a:solidFill>
                            <a:schemeClr val="tx1"/>
                          </a:solidFill>
                          <a:latin typeface="+mn-lt"/>
                          <a:ea typeface="+mn-ea"/>
                          <a:cs typeface="+mn-cs"/>
                        </a:rPr>
                        <a:t>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M</a:t>
                      </a:r>
                      <a:r>
                        <a:rPr lang="en-US" sz="1600" b="1" kern="1200" dirty="0">
                          <a:solidFill>
                            <a:schemeClr val="tx1"/>
                          </a:solidFill>
                          <a:latin typeface="+mn-lt"/>
                          <a:ea typeface="+mn-ea"/>
                          <a:cs typeface="+mn-cs"/>
                        </a:rPr>
                        <a:t>argin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Margin %</a:t>
                      </a:r>
                    </a:p>
                  </a:txBody>
                  <a:tcPr marL="6350" marR="6350" marT="6350" marB="0" anchor="ctr"/>
                </a:tc>
                <a:extLst>
                  <a:ext uri="{0D108BD9-81ED-4DB2-BD59-A6C34878D82A}">
                    <a16:rowId xmlns:a16="http://schemas.microsoft.com/office/drawing/2014/main" val="1194721964"/>
                  </a:ext>
                </a:extLst>
              </a:tr>
              <a:tr h="370840">
                <a:tc>
                  <a:txBody>
                    <a:bodyPr/>
                    <a:lstStyle/>
                    <a:p>
                      <a:pPr algn="ctr">
                        <a:buNone/>
                      </a:pPr>
                      <a:r>
                        <a:rPr lang="en-US"/>
                        <a:t>256</a:t>
                      </a:r>
                    </a:p>
                  </a:txBody>
                  <a:tcPr anchor="ctr"/>
                </a:tc>
                <a:tc>
                  <a:txBody>
                    <a:bodyPr/>
                    <a:lstStyle/>
                    <a:p>
                      <a:pPr algn="ctr">
                        <a:buNone/>
                      </a:pPr>
                      <a:r>
                        <a:rPr lang="en-US"/>
                        <a:t>61,04,82,853</a:t>
                      </a:r>
                    </a:p>
                  </a:txBody>
                  <a:tcPr anchor="ctr"/>
                </a:tc>
                <a:tc>
                  <a:txBody>
                    <a:bodyPr/>
                    <a:lstStyle/>
                    <a:p>
                      <a:pPr algn="ctr">
                        <a:buNone/>
                      </a:pPr>
                      <a:r>
                        <a:rPr lang="en-US"/>
                        <a:t>12,44,52,853</a:t>
                      </a:r>
                    </a:p>
                  </a:txBody>
                  <a:tcPr anchor="ctr"/>
                </a:tc>
                <a:tc>
                  <a:txBody>
                    <a:bodyPr/>
                    <a:lstStyle/>
                    <a:p>
                      <a:pPr algn="ctr">
                        <a:buNone/>
                      </a:pPr>
                      <a:r>
                        <a:rPr lang="en-US" dirty="0"/>
                        <a:t>1,26,69,249</a:t>
                      </a:r>
                    </a:p>
                  </a:txBody>
                  <a:tcPr anchor="ctr"/>
                </a:tc>
                <a:tc>
                  <a:txBody>
                    <a:bodyPr/>
                    <a:lstStyle/>
                    <a:p>
                      <a:pPr algn="ctr">
                        <a:buNone/>
                      </a:pPr>
                      <a:r>
                        <a:rPr lang="en-US"/>
                        <a:t>11,17,83,605</a:t>
                      </a:r>
                    </a:p>
                  </a:txBody>
                  <a:tcPr anchor="ctr"/>
                </a:tc>
                <a:tc>
                  <a:txBody>
                    <a:bodyPr/>
                    <a:lstStyle/>
                    <a:p>
                      <a:pPr algn="ctr">
                        <a:buNone/>
                      </a:pPr>
                      <a:r>
                        <a:rPr lang="en-US"/>
                        <a:t>20.39 %</a:t>
                      </a:r>
                    </a:p>
                  </a:txBody>
                  <a:tcPr anchor="ctr"/>
                </a:tc>
                <a:tc>
                  <a:txBody>
                    <a:bodyPr/>
                    <a:lstStyle/>
                    <a:p>
                      <a:pPr algn="ctr">
                        <a:buNone/>
                      </a:pPr>
                      <a:r>
                        <a:rPr lang="en-US" dirty="0"/>
                        <a:t>18.31 %</a:t>
                      </a:r>
                    </a:p>
                  </a:txBody>
                  <a:tcPr anchor="ctr"/>
                </a:tc>
                <a:extLst>
                  <a:ext uri="{0D108BD9-81ED-4DB2-BD59-A6C34878D82A}">
                    <a16:rowId xmlns:a16="http://schemas.microsoft.com/office/drawing/2014/main" val="292130690"/>
                  </a:ext>
                </a:extLst>
              </a:tr>
            </a:tbl>
          </a:graphicData>
        </a:graphic>
      </p:graphicFrame>
      <p:sp>
        <p:nvSpPr>
          <p:cNvPr id="9" name="Title 1">
            <a:extLst>
              <a:ext uri="{FF2B5EF4-FFF2-40B4-BE49-F238E27FC236}">
                <a16:creationId xmlns:a16="http://schemas.microsoft.com/office/drawing/2014/main" id="{2F4CA664-8D27-C24F-B724-22F9C0FB5226}"/>
              </a:ext>
            </a:extLst>
          </p:cNvPr>
          <p:cNvSpPr txBox="1">
            <a:spLocks/>
          </p:cNvSpPr>
          <p:nvPr/>
        </p:nvSpPr>
        <p:spPr>
          <a:xfrm>
            <a:off x="51652" y="2253543"/>
            <a:ext cx="1740078" cy="343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2024 Mumbai:</a:t>
            </a:r>
          </a:p>
        </p:txBody>
      </p:sp>
      <p:graphicFrame>
        <p:nvGraphicFramePr>
          <p:cNvPr id="10" name="Table 9">
            <a:extLst>
              <a:ext uri="{FF2B5EF4-FFF2-40B4-BE49-F238E27FC236}">
                <a16:creationId xmlns:a16="http://schemas.microsoft.com/office/drawing/2014/main" id="{D4FA3D56-0702-E8E6-EA19-2F4EE4AEFDEC}"/>
              </a:ext>
            </a:extLst>
          </p:cNvPr>
          <p:cNvGraphicFramePr>
            <a:graphicFrameLocks noGrp="1"/>
          </p:cNvGraphicFramePr>
          <p:nvPr>
            <p:extLst>
              <p:ext uri="{D42A27DB-BD31-4B8C-83A1-F6EECF244321}">
                <p14:modId xmlns:p14="http://schemas.microsoft.com/office/powerpoint/2010/main" val="330798271"/>
              </p:ext>
            </p:extLst>
          </p:nvPr>
        </p:nvGraphicFramePr>
        <p:xfrm>
          <a:off x="51652" y="3859265"/>
          <a:ext cx="12013519" cy="741680"/>
        </p:xfrm>
        <a:graphic>
          <a:graphicData uri="http://schemas.openxmlformats.org/drawingml/2006/table">
            <a:tbl>
              <a:tblPr firstRow="1" bandRow="1">
                <a:tableStyleId>{616DA210-FB5B-4158-B5E0-FEB733F419BA}</a:tableStyleId>
              </a:tblPr>
              <a:tblGrid>
                <a:gridCol w="1716217">
                  <a:extLst>
                    <a:ext uri="{9D8B030D-6E8A-4147-A177-3AD203B41FA5}">
                      <a16:colId xmlns:a16="http://schemas.microsoft.com/office/drawing/2014/main" val="3177353522"/>
                    </a:ext>
                  </a:extLst>
                </a:gridCol>
                <a:gridCol w="1716217">
                  <a:extLst>
                    <a:ext uri="{9D8B030D-6E8A-4147-A177-3AD203B41FA5}">
                      <a16:colId xmlns:a16="http://schemas.microsoft.com/office/drawing/2014/main" val="3963927764"/>
                    </a:ext>
                  </a:extLst>
                </a:gridCol>
                <a:gridCol w="1716217">
                  <a:extLst>
                    <a:ext uri="{9D8B030D-6E8A-4147-A177-3AD203B41FA5}">
                      <a16:colId xmlns:a16="http://schemas.microsoft.com/office/drawing/2014/main" val="199912861"/>
                    </a:ext>
                  </a:extLst>
                </a:gridCol>
                <a:gridCol w="1716217">
                  <a:extLst>
                    <a:ext uri="{9D8B030D-6E8A-4147-A177-3AD203B41FA5}">
                      <a16:colId xmlns:a16="http://schemas.microsoft.com/office/drawing/2014/main" val="2991986014"/>
                    </a:ext>
                  </a:extLst>
                </a:gridCol>
                <a:gridCol w="1454229">
                  <a:extLst>
                    <a:ext uri="{9D8B030D-6E8A-4147-A177-3AD203B41FA5}">
                      <a16:colId xmlns:a16="http://schemas.microsoft.com/office/drawing/2014/main" val="1251076517"/>
                    </a:ext>
                  </a:extLst>
                </a:gridCol>
                <a:gridCol w="1978205">
                  <a:extLst>
                    <a:ext uri="{9D8B030D-6E8A-4147-A177-3AD203B41FA5}">
                      <a16:colId xmlns:a16="http://schemas.microsoft.com/office/drawing/2014/main" val="280935985"/>
                    </a:ext>
                  </a:extLst>
                </a:gridCol>
                <a:gridCol w="1716217">
                  <a:extLst>
                    <a:ext uri="{9D8B030D-6E8A-4147-A177-3AD203B41FA5}">
                      <a16:colId xmlns:a16="http://schemas.microsoft.com/office/drawing/2014/main" val="1151674473"/>
                    </a:ext>
                  </a:extLst>
                </a:gridCol>
              </a:tblGrid>
              <a:tr h="370840">
                <a:tc>
                  <a:txBody>
                    <a:bodyPr/>
                    <a:lstStyle/>
                    <a:p>
                      <a:pPr marL="0" algn="ctr" defTabSz="914400" rtl="0" eaLnBrk="1" fontAlgn="b" latinLnBrk="0" hangingPunct="1">
                        <a:buNone/>
                      </a:pPr>
                      <a:r>
                        <a:rPr lang="en-US" sz="1600" b="1" kern="1200" dirty="0">
                          <a:solidFill>
                            <a:schemeClr val="tx1"/>
                          </a:solidFill>
                          <a:latin typeface="+mn-lt"/>
                          <a:ea typeface="+mn-ea"/>
                          <a:cs typeface="+mn-cs"/>
                        </a:rPr>
                        <a:t>Total Units Sold</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T</a:t>
                      </a:r>
                      <a:r>
                        <a:rPr lang="en-US" sz="1600" b="1" kern="1200" dirty="0">
                          <a:solidFill>
                            <a:schemeClr val="tx1"/>
                          </a:solidFill>
                          <a:latin typeface="+mn-lt"/>
                          <a:ea typeface="+mn-ea"/>
                          <a:cs typeface="+mn-cs"/>
                        </a:rPr>
                        <a:t>otal</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R</a:t>
                      </a:r>
                      <a:r>
                        <a:rPr lang="en-US" sz="1600" b="1" kern="1200" dirty="0">
                          <a:solidFill>
                            <a:schemeClr val="tx1"/>
                          </a:solidFill>
                          <a:latin typeface="+mn-lt"/>
                          <a:ea typeface="+mn-ea"/>
                          <a:cs typeface="+mn-cs"/>
                        </a:rPr>
                        <a:t>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C</a:t>
                      </a:r>
                      <a:r>
                        <a:rPr lang="en-US" sz="1600" b="1" kern="1200" dirty="0">
                          <a:solidFill>
                            <a:schemeClr val="tx1"/>
                          </a:solidFill>
                          <a:latin typeface="+mn-lt"/>
                          <a:ea typeface="+mn-ea"/>
                          <a:cs typeface="+mn-cs"/>
                        </a:rPr>
                        <a:t>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M</a:t>
                      </a:r>
                      <a:r>
                        <a:rPr lang="en-US" sz="1600" b="1" kern="1200" dirty="0">
                          <a:solidFill>
                            <a:schemeClr val="tx1"/>
                          </a:solidFill>
                          <a:latin typeface="+mn-lt"/>
                          <a:ea typeface="+mn-ea"/>
                          <a:cs typeface="+mn-cs"/>
                        </a:rPr>
                        <a:t>argin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Margin %</a:t>
                      </a:r>
                    </a:p>
                  </a:txBody>
                  <a:tcPr marL="6350" marR="6350" marT="6350" marB="0" anchor="ctr"/>
                </a:tc>
                <a:extLst>
                  <a:ext uri="{0D108BD9-81ED-4DB2-BD59-A6C34878D82A}">
                    <a16:rowId xmlns:a16="http://schemas.microsoft.com/office/drawing/2014/main" val="1194721964"/>
                  </a:ext>
                </a:extLst>
              </a:tr>
              <a:tr h="370840">
                <a:tc>
                  <a:txBody>
                    <a:bodyPr/>
                    <a:lstStyle/>
                    <a:p>
                      <a:pPr algn="ctr">
                        <a:buNone/>
                      </a:pPr>
                      <a:r>
                        <a:rPr lang="en-US"/>
                        <a:t>247</a:t>
                      </a:r>
                    </a:p>
                  </a:txBody>
                  <a:tcPr anchor="ctr"/>
                </a:tc>
                <a:tc>
                  <a:txBody>
                    <a:bodyPr/>
                    <a:lstStyle/>
                    <a:p>
                      <a:pPr algn="ctr">
                        <a:buNone/>
                      </a:pPr>
                      <a:r>
                        <a:rPr lang="en-US"/>
                        <a:t>66,14,59,184</a:t>
                      </a:r>
                    </a:p>
                  </a:txBody>
                  <a:tcPr anchor="ctr"/>
                </a:tc>
                <a:tc>
                  <a:txBody>
                    <a:bodyPr/>
                    <a:lstStyle/>
                    <a:p>
                      <a:pPr algn="ctr">
                        <a:buNone/>
                      </a:pPr>
                      <a:r>
                        <a:rPr lang="en-US"/>
                        <a:t>13,23,84,184</a:t>
                      </a:r>
                    </a:p>
                  </a:txBody>
                  <a:tcPr anchor="ctr"/>
                </a:tc>
                <a:tc>
                  <a:txBody>
                    <a:bodyPr/>
                    <a:lstStyle/>
                    <a:p>
                      <a:pPr algn="ctr">
                        <a:buNone/>
                      </a:pPr>
                      <a:r>
                        <a:rPr lang="en-US"/>
                        <a:t>94,71,412</a:t>
                      </a:r>
                    </a:p>
                  </a:txBody>
                  <a:tcPr anchor="ctr"/>
                </a:tc>
                <a:tc>
                  <a:txBody>
                    <a:bodyPr/>
                    <a:lstStyle/>
                    <a:p>
                      <a:pPr algn="ctr">
                        <a:buNone/>
                      </a:pPr>
                      <a:r>
                        <a:rPr lang="en-US"/>
                        <a:t>12,29,12,772</a:t>
                      </a:r>
                    </a:p>
                  </a:txBody>
                  <a:tcPr anchor="ctr"/>
                </a:tc>
                <a:tc>
                  <a:txBody>
                    <a:bodyPr/>
                    <a:lstStyle/>
                    <a:p>
                      <a:pPr algn="ctr">
                        <a:buNone/>
                      </a:pPr>
                      <a:r>
                        <a:rPr lang="en-US"/>
                        <a:t>20.01 %</a:t>
                      </a:r>
                    </a:p>
                  </a:txBody>
                  <a:tcPr anchor="ctr"/>
                </a:tc>
                <a:tc>
                  <a:txBody>
                    <a:bodyPr/>
                    <a:lstStyle/>
                    <a:p>
                      <a:pPr algn="ctr">
                        <a:buNone/>
                      </a:pPr>
                      <a:r>
                        <a:rPr lang="en-US" dirty="0"/>
                        <a:t>18.58 %</a:t>
                      </a:r>
                    </a:p>
                  </a:txBody>
                  <a:tcPr anchor="ctr"/>
                </a:tc>
                <a:extLst>
                  <a:ext uri="{0D108BD9-81ED-4DB2-BD59-A6C34878D82A}">
                    <a16:rowId xmlns:a16="http://schemas.microsoft.com/office/drawing/2014/main" val="292130690"/>
                  </a:ext>
                </a:extLst>
              </a:tr>
            </a:tbl>
          </a:graphicData>
        </a:graphic>
      </p:graphicFrame>
      <p:sp>
        <p:nvSpPr>
          <p:cNvPr id="11" name="Title 1">
            <a:extLst>
              <a:ext uri="{FF2B5EF4-FFF2-40B4-BE49-F238E27FC236}">
                <a16:creationId xmlns:a16="http://schemas.microsoft.com/office/drawing/2014/main" id="{4EDC4111-6830-24CF-6DB8-D9006B07CE7F}"/>
              </a:ext>
            </a:extLst>
          </p:cNvPr>
          <p:cNvSpPr txBox="1">
            <a:spLocks/>
          </p:cNvSpPr>
          <p:nvPr/>
        </p:nvSpPr>
        <p:spPr>
          <a:xfrm>
            <a:off x="51651" y="3485588"/>
            <a:ext cx="1653581" cy="343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2023 Delhi:</a:t>
            </a:r>
          </a:p>
        </p:txBody>
      </p:sp>
      <p:graphicFrame>
        <p:nvGraphicFramePr>
          <p:cNvPr id="12" name="Table 11">
            <a:extLst>
              <a:ext uri="{FF2B5EF4-FFF2-40B4-BE49-F238E27FC236}">
                <a16:creationId xmlns:a16="http://schemas.microsoft.com/office/drawing/2014/main" id="{D6F507B7-C3F0-A6B4-45E4-F921E23D2644}"/>
              </a:ext>
            </a:extLst>
          </p:cNvPr>
          <p:cNvGraphicFramePr>
            <a:graphicFrameLocks noGrp="1"/>
          </p:cNvGraphicFramePr>
          <p:nvPr>
            <p:extLst>
              <p:ext uri="{D42A27DB-BD31-4B8C-83A1-F6EECF244321}">
                <p14:modId xmlns:p14="http://schemas.microsoft.com/office/powerpoint/2010/main" val="4157312377"/>
              </p:ext>
            </p:extLst>
          </p:nvPr>
        </p:nvGraphicFramePr>
        <p:xfrm>
          <a:off x="51652" y="5104036"/>
          <a:ext cx="12013519" cy="741680"/>
        </p:xfrm>
        <a:graphic>
          <a:graphicData uri="http://schemas.openxmlformats.org/drawingml/2006/table">
            <a:tbl>
              <a:tblPr firstRow="1" bandRow="1">
                <a:tableStyleId>{616DA210-FB5B-4158-B5E0-FEB733F419BA}</a:tableStyleId>
              </a:tblPr>
              <a:tblGrid>
                <a:gridCol w="1716217">
                  <a:extLst>
                    <a:ext uri="{9D8B030D-6E8A-4147-A177-3AD203B41FA5}">
                      <a16:colId xmlns:a16="http://schemas.microsoft.com/office/drawing/2014/main" val="3177353522"/>
                    </a:ext>
                  </a:extLst>
                </a:gridCol>
                <a:gridCol w="1716217">
                  <a:extLst>
                    <a:ext uri="{9D8B030D-6E8A-4147-A177-3AD203B41FA5}">
                      <a16:colId xmlns:a16="http://schemas.microsoft.com/office/drawing/2014/main" val="3963927764"/>
                    </a:ext>
                  </a:extLst>
                </a:gridCol>
                <a:gridCol w="1716217">
                  <a:extLst>
                    <a:ext uri="{9D8B030D-6E8A-4147-A177-3AD203B41FA5}">
                      <a16:colId xmlns:a16="http://schemas.microsoft.com/office/drawing/2014/main" val="199912861"/>
                    </a:ext>
                  </a:extLst>
                </a:gridCol>
                <a:gridCol w="1716217">
                  <a:extLst>
                    <a:ext uri="{9D8B030D-6E8A-4147-A177-3AD203B41FA5}">
                      <a16:colId xmlns:a16="http://schemas.microsoft.com/office/drawing/2014/main" val="2991986014"/>
                    </a:ext>
                  </a:extLst>
                </a:gridCol>
                <a:gridCol w="1454229">
                  <a:extLst>
                    <a:ext uri="{9D8B030D-6E8A-4147-A177-3AD203B41FA5}">
                      <a16:colId xmlns:a16="http://schemas.microsoft.com/office/drawing/2014/main" val="1251076517"/>
                    </a:ext>
                  </a:extLst>
                </a:gridCol>
                <a:gridCol w="1978205">
                  <a:extLst>
                    <a:ext uri="{9D8B030D-6E8A-4147-A177-3AD203B41FA5}">
                      <a16:colId xmlns:a16="http://schemas.microsoft.com/office/drawing/2014/main" val="280935985"/>
                    </a:ext>
                  </a:extLst>
                </a:gridCol>
                <a:gridCol w="1716217">
                  <a:extLst>
                    <a:ext uri="{9D8B030D-6E8A-4147-A177-3AD203B41FA5}">
                      <a16:colId xmlns:a16="http://schemas.microsoft.com/office/drawing/2014/main" val="1151674473"/>
                    </a:ext>
                  </a:extLst>
                </a:gridCol>
              </a:tblGrid>
              <a:tr h="370840">
                <a:tc>
                  <a:txBody>
                    <a:bodyPr/>
                    <a:lstStyle/>
                    <a:p>
                      <a:pPr marL="0" algn="ctr" defTabSz="914400" rtl="0" eaLnBrk="1" fontAlgn="b" latinLnBrk="0" hangingPunct="1">
                        <a:buNone/>
                      </a:pPr>
                      <a:r>
                        <a:rPr lang="en-US" sz="1600" b="1" kern="1200" dirty="0">
                          <a:solidFill>
                            <a:schemeClr val="tx1"/>
                          </a:solidFill>
                          <a:latin typeface="+mn-lt"/>
                          <a:ea typeface="+mn-ea"/>
                          <a:cs typeface="+mn-cs"/>
                        </a:rPr>
                        <a:t>Total Units Sold</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T</a:t>
                      </a:r>
                      <a:r>
                        <a:rPr lang="en-US" sz="1600" b="1" kern="1200" dirty="0">
                          <a:solidFill>
                            <a:schemeClr val="tx1"/>
                          </a:solidFill>
                          <a:latin typeface="+mn-lt"/>
                          <a:ea typeface="+mn-ea"/>
                          <a:cs typeface="+mn-cs"/>
                        </a:rPr>
                        <a:t>otal</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R</a:t>
                      </a:r>
                      <a:r>
                        <a:rPr lang="en-US" sz="1600" b="1" kern="1200" dirty="0">
                          <a:solidFill>
                            <a:schemeClr val="tx1"/>
                          </a:solidFill>
                          <a:latin typeface="+mn-lt"/>
                          <a:ea typeface="+mn-ea"/>
                          <a:cs typeface="+mn-cs"/>
                        </a:rPr>
                        <a:t>evenue</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O</a:t>
                      </a:r>
                      <a:r>
                        <a:rPr lang="en-US" sz="1600" b="1" kern="1200" dirty="0">
                          <a:solidFill>
                            <a:schemeClr val="tx1"/>
                          </a:solidFill>
                          <a:latin typeface="+mn-lt"/>
                          <a:ea typeface="+mn-ea"/>
                          <a:cs typeface="+mn-cs"/>
                        </a:rPr>
                        <a:t>perating</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C</a:t>
                      </a:r>
                      <a:r>
                        <a:rPr lang="en-US" sz="1600" b="1" kern="1200" dirty="0">
                          <a:solidFill>
                            <a:schemeClr val="tx1"/>
                          </a:solidFill>
                          <a:latin typeface="+mn-lt"/>
                          <a:ea typeface="+mn-ea"/>
                          <a:cs typeface="+mn-cs"/>
                        </a:rPr>
                        <a:t>ost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G</a:t>
                      </a:r>
                      <a:r>
                        <a:rPr lang="en-US" sz="1600" b="1" kern="1200" dirty="0">
                          <a:solidFill>
                            <a:schemeClr val="tx1"/>
                          </a:solidFill>
                          <a:latin typeface="+mn-lt"/>
                          <a:ea typeface="+mn-ea"/>
                          <a:cs typeface="+mn-cs"/>
                        </a:rPr>
                        <a:t>ross</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P</a:t>
                      </a:r>
                      <a:r>
                        <a:rPr lang="en-US" sz="1600" b="1" kern="1200" dirty="0">
                          <a:solidFill>
                            <a:schemeClr val="tx1"/>
                          </a:solidFill>
                          <a:latin typeface="+mn-lt"/>
                          <a:ea typeface="+mn-ea"/>
                          <a:cs typeface="+mn-cs"/>
                        </a:rPr>
                        <a:t>rofit</a:t>
                      </a:r>
                      <a:r>
                        <a:rPr lang="en-US" sz="1100" b="0" i="0" u="none" strike="noStrike" kern="1200" dirty="0">
                          <a:solidFill>
                            <a:srgbClr val="000000"/>
                          </a:solidFill>
                          <a:effectLst/>
                          <a:latin typeface="Calibri" panose="020F0502020204030204" pitchFamily="34" charset="0"/>
                          <a:ea typeface="+mn-ea"/>
                          <a:cs typeface="+mn-cs"/>
                        </a:rPr>
                        <a:t> </a:t>
                      </a:r>
                      <a:r>
                        <a:rPr lang="en-US" sz="1600" b="1" i="0" u="none" strike="noStrike" kern="1200" dirty="0">
                          <a:solidFill>
                            <a:schemeClr val="tx1"/>
                          </a:solidFill>
                          <a:effectLst/>
                          <a:latin typeface="+mn-lt"/>
                          <a:ea typeface="+mn-ea"/>
                          <a:cs typeface="+mn-cs"/>
                        </a:rPr>
                        <a:t>M</a:t>
                      </a:r>
                      <a:r>
                        <a:rPr lang="en-US" sz="1600" b="1" kern="1200" dirty="0">
                          <a:solidFill>
                            <a:schemeClr val="tx1"/>
                          </a:solidFill>
                          <a:latin typeface="+mn-lt"/>
                          <a:ea typeface="+mn-ea"/>
                          <a:cs typeface="+mn-cs"/>
                        </a:rPr>
                        <a:t>argin %</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 </a:t>
                      </a:r>
                      <a:r>
                        <a:rPr lang="en-US" sz="1600" b="1" i="0" u="none" strike="noStrike" kern="1200" dirty="0">
                          <a:solidFill>
                            <a:schemeClr val="tx1"/>
                          </a:solidFill>
                          <a:effectLst/>
                          <a:latin typeface="+mn-lt"/>
                          <a:ea typeface="+mn-ea"/>
                          <a:cs typeface="+mn-cs"/>
                        </a:rPr>
                        <a:t>N</a:t>
                      </a:r>
                      <a:r>
                        <a:rPr lang="en-US" sz="1600" b="1" kern="1200" dirty="0">
                          <a:solidFill>
                            <a:schemeClr val="tx1"/>
                          </a:solidFill>
                          <a:latin typeface="+mn-lt"/>
                          <a:ea typeface="+mn-ea"/>
                          <a:cs typeface="+mn-cs"/>
                        </a:rPr>
                        <a:t>et Profit Margin %</a:t>
                      </a:r>
                    </a:p>
                  </a:txBody>
                  <a:tcPr marL="6350" marR="6350" marT="6350" marB="0" anchor="ctr"/>
                </a:tc>
                <a:extLst>
                  <a:ext uri="{0D108BD9-81ED-4DB2-BD59-A6C34878D82A}">
                    <a16:rowId xmlns:a16="http://schemas.microsoft.com/office/drawing/2014/main" val="1194721964"/>
                  </a:ext>
                </a:extLst>
              </a:tr>
              <a:tr h="370840">
                <a:tc>
                  <a:txBody>
                    <a:bodyPr/>
                    <a:lstStyle/>
                    <a:p>
                      <a:pPr algn="ctr">
                        <a:buNone/>
                      </a:pPr>
                      <a:r>
                        <a:rPr lang="en-US" dirty="0"/>
                        <a:t>216</a:t>
                      </a:r>
                    </a:p>
                  </a:txBody>
                  <a:tcPr anchor="ctr"/>
                </a:tc>
                <a:tc>
                  <a:txBody>
                    <a:bodyPr/>
                    <a:lstStyle/>
                    <a:p>
                      <a:pPr algn="ctr">
                        <a:buNone/>
                      </a:pPr>
                      <a:r>
                        <a:rPr lang="en-US"/>
                        <a:t>55,37,98,912</a:t>
                      </a:r>
                    </a:p>
                  </a:txBody>
                  <a:tcPr anchor="ctr"/>
                </a:tc>
                <a:tc>
                  <a:txBody>
                    <a:bodyPr/>
                    <a:lstStyle/>
                    <a:p>
                      <a:pPr algn="ctr">
                        <a:buNone/>
                      </a:pPr>
                      <a:r>
                        <a:rPr lang="en-US"/>
                        <a:t>11,12,73,912</a:t>
                      </a:r>
                    </a:p>
                  </a:txBody>
                  <a:tcPr anchor="ctr"/>
                </a:tc>
                <a:tc>
                  <a:txBody>
                    <a:bodyPr/>
                    <a:lstStyle/>
                    <a:p>
                      <a:pPr algn="ctr">
                        <a:buNone/>
                      </a:pPr>
                      <a:r>
                        <a:rPr lang="en-US" dirty="0"/>
                        <a:t>94,71,412</a:t>
                      </a:r>
                    </a:p>
                  </a:txBody>
                  <a:tcPr anchor="ctr"/>
                </a:tc>
                <a:tc>
                  <a:txBody>
                    <a:bodyPr/>
                    <a:lstStyle/>
                    <a:p>
                      <a:pPr algn="ctr">
                        <a:buNone/>
                      </a:pPr>
                      <a:r>
                        <a:rPr lang="en-US"/>
                        <a:t>10,18,02,501</a:t>
                      </a:r>
                    </a:p>
                  </a:txBody>
                  <a:tcPr anchor="ctr"/>
                </a:tc>
                <a:tc>
                  <a:txBody>
                    <a:bodyPr/>
                    <a:lstStyle/>
                    <a:p>
                      <a:pPr algn="ctr">
                        <a:buNone/>
                      </a:pPr>
                      <a:r>
                        <a:rPr lang="en-US"/>
                        <a:t>20.09 %</a:t>
                      </a:r>
                    </a:p>
                  </a:txBody>
                  <a:tcPr anchor="ctr"/>
                </a:tc>
                <a:tc>
                  <a:txBody>
                    <a:bodyPr/>
                    <a:lstStyle/>
                    <a:p>
                      <a:pPr algn="ctr">
                        <a:buNone/>
                      </a:pPr>
                      <a:r>
                        <a:rPr lang="en-US" dirty="0"/>
                        <a:t>18.38 %</a:t>
                      </a:r>
                    </a:p>
                  </a:txBody>
                  <a:tcPr anchor="ctr"/>
                </a:tc>
                <a:extLst>
                  <a:ext uri="{0D108BD9-81ED-4DB2-BD59-A6C34878D82A}">
                    <a16:rowId xmlns:a16="http://schemas.microsoft.com/office/drawing/2014/main" val="292130690"/>
                  </a:ext>
                </a:extLst>
              </a:tr>
            </a:tbl>
          </a:graphicData>
        </a:graphic>
      </p:graphicFrame>
      <p:sp>
        <p:nvSpPr>
          <p:cNvPr id="13" name="Title 1">
            <a:extLst>
              <a:ext uri="{FF2B5EF4-FFF2-40B4-BE49-F238E27FC236}">
                <a16:creationId xmlns:a16="http://schemas.microsoft.com/office/drawing/2014/main" id="{2A0113F0-2260-7341-76AF-02E4C05BFF33}"/>
              </a:ext>
            </a:extLst>
          </p:cNvPr>
          <p:cNvSpPr txBox="1">
            <a:spLocks/>
          </p:cNvSpPr>
          <p:nvPr/>
        </p:nvSpPr>
        <p:spPr>
          <a:xfrm>
            <a:off x="51652" y="4730359"/>
            <a:ext cx="1740078" cy="343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2024 Delhi:</a:t>
            </a:r>
          </a:p>
        </p:txBody>
      </p:sp>
      <p:sp>
        <p:nvSpPr>
          <p:cNvPr id="14" name="Title 1">
            <a:extLst>
              <a:ext uri="{FF2B5EF4-FFF2-40B4-BE49-F238E27FC236}">
                <a16:creationId xmlns:a16="http://schemas.microsoft.com/office/drawing/2014/main" id="{4679F1FF-E8FC-EC9F-E24C-FAAE22699BF6}"/>
              </a:ext>
            </a:extLst>
          </p:cNvPr>
          <p:cNvSpPr txBox="1">
            <a:spLocks/>
          </p:cNvSpPr>
          <p:nvPr/>
        </p:nvSpPr>
        <p:spPr>
          <a:xfrm>
            <a:off x="51651" y="5944220"/>
            <a:ext cx="12013517" cy="741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Delhi’s profitability advantage is not purely cost driven it is supported by stronger margin efficiency while lower operating costs further enhance the net profits of Delhi showroom.</a:t>
            </a:r>
          </a:p>
        </p:txBody>
      </p:sp>
    </p:spTree>
    <p:extLst>
      <p:ext uri="{BB962C8B-B14F-4D97-AF65-F5344CB8AC3E}">
        <p14:creationId xmlns:p14="http://schemas.microsoft.com/office/powerpoint/2010/main" val="3839009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610D-487E-2EC2-6482-75AC3AB19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4433F-D490-DFB8-3FF9-73520D5788FE}"/>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Net Profit Analysis by Showroom and Car Segment</a:t>
            </a:r>
          </a:p>
        </p:txBody>
      </p:sp>
      <p:sp>
        <p:nvSpPr>
          <p:cNvPr id="4" name="Title 1">
            <a:extLst>
              <a:ext uri="{FF2B5EF4-FFF2-40B4-BE49-F238E27FC236}">
                <a16:creationId xmlns:a16="http://schemas.microsoft.com/office/drawing/2014/main" id="{D4F11B7F-9755-B9B1-4460-A794E80B3265}"/>
              </a:ext>
            </a:extLst>
          </p:cNvPr>
          <p:cNvSpPr txBox="1">
            <a:spLocks/>
          </p:cNvSpPr>
          <p:nvPr/>
        </p:nvSpPr>
        <p:spPr>
          <a:xfrm>
            <a:off x="51652" y="545637"/>
            <a:ext cx="6417110"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Yearly Net Profit Margin % for Mumbai and Delhi Showroom 2023 and &amp; 2024:</a:t>
            </a:r>
          </a:p>
        </p:txBody>
      </p:sp>
      <p:sp>
        <p:nvSpPr>
          <p:cNvPr id="7" name="Title 1">
            <a:extLst>
              <a:ext uri="{FF2B5EF4-FFF2-40B4-BE49-F238E27FC236}">
                <a16:creationId xmlns:a16="http://schemas.microsoft.com/office/drawing/2014/main" id="{160A686B-7652-2232-3315-593A23D2D2D1}"/>
              </a:ext>
            </a:extLst>
          </p:cNvPr>
          <p:cNvSpPr txBox="1">
            <a:spLocks/>
          </p:cNvSpPr>
          <p:nvPr/>
        </p:nvSpPr>
        <p:spPr>
          <a:xfrm>
            <a:off x="51651" y="1008772"/>
            <a:ext cx="1653581" cy="34321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2023 Mumbai:</a:t>
            </a:r>
          </a:p>
        </p:txBody>
      </p:sp>
      <p:graphicFrame>
        <p:nvGraphicFramePr>
          <p:cNvPr id="15" name="Table 14">
            <a:extLst>
              <a:ext uri="{FF2B5EF4-FFF2-40B4-BE49-F238E27FC236}">
                <a16:creationId xmlns:a16="http://schemas.microsoft.com/office/drawing/2014/main" id="{B99712D8-6277-C225-7A8C-5D7AE1017DD5}"/>
              </a:ext>
            </a:extLst>
          </p:cNvPr>
          <p:cNvGraphicFramePr>
            <a:graphicFrameLocks noGrp="1"/>
          </p:cNvGraphicFramePr>
          <p:nvPr>
            <p:extLst>
              <p:ext uri="{D42A27DB-BD31-4B8C-83A1-F6EECF244321}">
                <p14:modId xmlns:p14="http://schemas.microsoft.com/office/powerpoint/2010/main" val="237374995"/>
              </p:ext>
            </p:extLst>
          </p:nvPr>
        </p:nvGraphicFramePr>
        <p:xfrm>
          <a:off x="51651" y="1398161"/>
          <a:ext cx="11921466" cy="1854200"/>
        </p:xfrm>
        <a:graphic>
          <a:graphicData uri="http://schemas.openxmlformats.org/drawingml/2006/table">
            <a:tbl>
              <a:tblPr firstRow="1" bandRow="1">
                <a:tableStyleId>{00A15C55-8517-42AA-B614-E9B94910E393}</a:tableStyleId>
              </a:tblPr>
              <a:tblGrid>
                <a:gridCol w="1986911">
                  <a:extLst>
                    <a:ext uri="{9D8B030D-6E8A-4147-A177-3AD203B41FA5}">
                      <a16:colId xmlns:a16="http://schemas.microsoft.com/office/drawing/2014/main" val="4135554226"/>
                    </a:ext>
                  </a:extLst>
                </a:gridCol>
                <a:gridCol w="1986911">
                  <a:extLst>
                    <a:ext uri="{9D8B030D-6E8A-4147-A177-3AD203B41FA5}">
                      <a16:colId xmlns:a16="http://schemas.microsoft.com/office/drawing/2014/main" val="2617746219"/>
                    </a:ext>
                  </a:extLst>
                </a:gridCol>
                <a:gridCol w="1986911">
                  <a:extLst>
                    <a:ext uri="{9D8B030D-6E8A-4147-A177-3AD203B41FA5}">
                      <a16:colId xmlns:a16="http://schemas.microsoft.com/office/drawing/2014/main" val="4091420525"/>
                    </a:ext>
                  </a:extLst>
                </a:gridCol>
                <a:gridCol w="1986911">
                  <a:extLst>
                    <a:ext uri="{9D8B030D-6E8A-4147-A177-3AD203B41FA5}">
                      <a16:colId xmlns:a16="http://schemas.microsoft.com/office/drawing/2014/main" val="2705740483"/>
                    </a:ext>
                  </a:extLst>
                </a:gridCol>
                <a:gridCol w="1986911">
                  <a:extLst>
                    <a:ext uri="{9D8B030D-6E8A-4147-A177-3AD203B41FA5}">
                      <a16:colId xmlns:a16="http://schemas.microsoft.com/office/drawing/2014/main" val="1464686739"/>
                    </a:ext>
                  </a:extLst>
                </a:gridCol>
                <a:gridCol w="1986911">
                  <a:extLst>
                    <a:ext uri="{9D8B030D-6E8A-4147-A177-3AD203B41FA5}">
                      <a16:colId xmlns:a16="http://schemas.microsoft.com/office/drawing/2014/main" val="925657620"/>
                    </a:ext>
                  </a:extLst>
                </a:gridCol>
              </a:tblGrid>
              <a:tr h="370840">
                <a:tc>
                  <a:txBody>
                    <a:bodyPr/>
                    <a:lstStyle/>
                    <a:p>
                      <a:pPr algn="ctr" fontAlgn="b">
                        <a:buNone/>
                      </a:pPr>
                      <a:r>
                        <a:rPr lang="en-US" sz="1600" b="1" u="none" strike="noStrike" dirty="0">
                          <a:solidFill>
                            <a:srgbClr val="000000"/>
                          </a:solidFill>
                          <a:effectLst/>
                        </a:rPr>
                        <a:t> Segment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Units</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Revenue</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Allocated Cost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Net Profit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Net Margin %</a:t>
                      </a:r>
                      <a:endParaRPr lang="en-US" sz="16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53557313"/>
                  </a:ext>
                </a:extLst>
              </a:tr>
              <a:tr h="370840">
                <a:tc>
                  <a:txBody>
                    <a:bodyPr/>
                    <a:lstStyle/>
                    <a:p>
                      <a:pPr algn="l">
                        <a:buNone/>
                      </a:pPr>
                      <a:r>
                        <a:rPr lang="en-US" dirty="0"/>
                        <a:t>Hatchback</a:t>
                      </a:r>
                    </a:p>
                  </a:txBody>
                  <a:tcPr anchor="ctr"/>
                </a:tc>
                <a:tc>
                  <a:txBody>
                    <a:bodyPr/>
                    <a:lstStyle/>
                    <a:p>
                      <a:pPr algn="ctr">
                        <a:buNone/>
                      </a:pPr>
                      <a:r>
                        <a:rPr lang="en-US"/>
                        <a:t>59</a:t>
                      </a:r>
                    </a:p>
                  </a:txBody>
                  <a:tcPr anchor="ctr"/>
                </a:tc>
                <a:tc>
                  <a:txBody>
                    <a:bodyPr/>
                    <a:lstStyle/>
                    <a:p>
                      <a:pPr algn="ctr">
                        <a:buNone/>
                      </a:pPr>
                      <a:r>
                        <a:rPr lang="en-US"/>
                        <a:t>3,92,37,572</a:t>
                      </a:r>
                    </a:p>
                  </a:txBody>
                  <a:tcPr anchor="ctr"/>
                </a:tc>
                <a:tc>
                  <a:txBody>
                    <a:bodyPr/>
                    <a:lstStyle/>
                    <a:p>
                      <a:pPr algn="ctr">
                        <a:buNone/>
                      </a:pPr>
                      <a:r>
                        <a:rPr lang="en-US" dirty="0"/>
                        <a:t>27,18,130</a:t>
                      </a:r>
                    </a:p>
                  </a:txBody>
                  <a:tcPr anchor="ctr"/>
                </a:tc>
                <a:tc>
                  <a:txBody>
                    <a:bodyPr/>
                    <a:lstStyle/>
                    <a:p>
                      <a:pPr algn="ctr">
                        <a:buNone/>
                      </a:pPr>
                      <a:r>
                        <a:rPr lang="en-US"/>
                        <a:t>65,14,442</a:t>
                      </a:r>
                    </a:p>
                  </a:txBody>
                  <a:tcPr anchor="ctr"/>
                </a:tc>
                <a:tc>
                  <a:txBody>
                    <a:bodyPr/>
                    <a:lstStyle/>
                    <a:p>
                      <a:pPr algn="ctr">
                        <a:buNone/>
                      </a:pPr>
                      <a:r>
                        <a:rPr lang="en-US" dirty="0"/>
                        <a:t>16.60 %</a:t>
                      </a:r>
                    </a:p>
                  </a:txBody>
                  <a:tcPr anchor="ctr"/>
                </a:tc>
                <a:extLst>
                  <a:ext uri="{0D108BD9-81ED-4DB2-BD59-A6C34878D82A}">
                    <a16:rowId xmlns:a16="http://schemas.microsoft.com/office/drawing/2014/main" val="331238190"/>
                  </a:ext>
                </a:extLst>
              </a:tr>
              <a:tr h="370840">
                <a:tc>
                  <a:txBody>
                    <a:bodyPr/>
                    <a:lstStyle/>
                    <a:p>
                      <a:pPr algn="l">
                        <a:buNone/>
                      </a:pPr>
                      <a:r>
                        <a:rPr lang="en-US" dirty="0"/>
                        <a:t>Luxury</a:t>
                      </a:r>
                    </a:p>
                  </a:txBody>
                  <a:tcPr anchor="ctr"/>
                </a:tc>
                <a:tc>
                  <a:txBody>
                    <a:bodyPr/>
                    <a:lstStyle/>
                    <a:p>
                      <a:pPr algn="ctr">
                        <a:buNone/>
                      </a:pPr>
                      <a:r>
                        <a:rPr lang="en-US"/>
                        <a:t>34</a:t>
                      </a:r>
                    </a:p>
                  </a:txBody>
                  <a:tcPr anchor="ctr"/>
                </a:tc>
                <a:tc>
                  <a:txBody>
                    <a:bodyPr/>
                    <a:lstStyle/>
                    <a:p>
                      <a:pPr algn="ctr">
                        <a:buNone/>
                      </a:pPr>
                      <a:r>
                        <a:rPr lang="en-US"/>
                        <a:t>31,04,77,347</a:t>
                      </a:r>
                    </a:p>
                  </a:txBody>
                  <a:tcPr anchor="ctr"/>
                </a:tc>
                <a:tc>
                  <a:txBody>
                    <a:bodyPr/>
                    <a:lstStyle/>
                    <a:p>
                      <a:pPr algn="ctr">
                        <a:buNone/>
                      </a:pPr>
                      <a:r>
                        <a:rPr lang="en-US"/>
                        <a:t>15,66,380</a:t>
                      </a:r>
                    </a:p>
                  </a:txBody>
                  <a:tcPr anchor="ctr"/>
                </a:tc>
                <a:tc>
                  <a:txBody>
                    <a:bodyPr/>
                    <a:lstStyle/>
                    <a:p>
                      <a:pPr algn="ctr">
                        <a:buNone/>
                      </a:pPr>
                      <a:r>
                        <a:rPr lang="en-US"/>
                        <a:t>5,50,60,967</a:t>
                      </a:r>
                    </a:p>
                  </a:txBody>
                  <a:tcPr anchor="ctr"/>
                </a:tc>
                <a:tc>
                  <a:txBody>
                    <a:bodyPr/>
                    <a:lstStyle/>
                    <a:p>
                      <a:pPr algn="ctr">
                        <a:buNone/>
                      </a:pPr>
                      <a:r>
                        <a:rPr lang="en-US" dirty="0"/>
                        <a:t>17.73 %</a:t>
                      </a:r>
                    </a:p>
                  </a:txBody>
                  <a:tcPr anchor="ctr"/>
                </a:tc>
                <a:extLst>
                  <a:ext uri="{0D108BD9-81ED-4DB2-BD59-A6C34878D82A}">
                    <a16:rowId xmlns:a16="http://schemas.microsoft.com/office/drawing/2014/main" val="453292965"/>
                  </a:ext>
                </a:extLst>
              </a:tr>
              <a:tr h="370840">
                <a:tc>
                  <a:txBody>
                    <a:bodyPr/>
                    <a:lstStyle/>
                    <a:p>
                      <a:pPr algn="l">
                        <a:buNone/>
                      </a:pPr>
                      <a:r>
                        <a:rPr lang="en-US" dirty="0"/>
                        <a:t>Sedan</a:t>
                      </a:r>
                    </a:p>
                  </a:txBody>
                  <a:tcPr anchor="ctr"/>
                </a:tc>
                <a:tc>
                  <a:txBody>
                    <a:bodyPr/>
                    <a:lstStyle/>
                    <a:p>
                      <a:pPr algn="ctr">
                        <a:buNone/>
                      </a:pPr>
                      <a:r>
                        <a:rPr lang="en-US"/>
                        <a:t>57</a:t>
                      </a:r>
                    </a:p>
                  </a:txBody>
                  <a:tcPr anchor="ctr"/>
                </a:tc>
                <a:tc>
                  <a:txBody>
                    <a:bodyPr/>
                    <a:lstStyle/>
                    <a:p>
                      <a:pPr algn="ctr">
                        <a:buNone/>
                      </a:pPr>
                      <a:r>
                        <a:rPr lang="en-US"/>
                        <a:t>9,39,38,502</a:t>
                      </a:r>
                    </a:p>
                  </a:txBody>
                  <a:tcPr anchor="ctr"/>
                </a:tc>
                <a:tc>
                  <a:txBody>
                    <a:bodyPr/>
                    <a:lstStyle/>
                    <a:p>
                      <a:pPr algn="ctr">
                        <a:buNone/>
                      </a:pPr>
                      <a:r>
                        <a:rPr lang="en-US"/>
                        <a:t>26,25,990</a:t>
                      </a:r>
                    </a:p>
                  </a:txBody>
                  <a:tcPr anchor="ctr"/>
                </a:tc>
                <a:tc>
                  <a:txBody>
                    <a:bodyPr/>
                    <a:lstStyle/>
                    <a:p>
                      <a:pPr algn="ctr">
                        <a:buNone/>
                      </a:pPr>
                      <a:r>
                        <a:rPr lang="en-US"/>
                        <a:t>1,72,27,512</a:t>
                      </a:r>
                    </a:p>
                  </a:txBody>
                  <a:tcPr anchor="ctr"/>
                </a:tc>
                <a:tc>
                  <a:txBody>
                    <a:bodyPr/>
                    <a:lstStyle/>
                    <a:p>
                      <a:pPr algn="ctr">
                        <a:buNone/>
                      </a:pPr>
                      <a:r>
                        <a:rPr lang="en-US" dirty="0"/>
                        <a:t>18.34 %</a:t>
                      </a:r>
                    </a:p>
                  </a:txBody>
                  <a:tcPr anchor="ctr"/>
                </a:tc>
                <a:extLst>
                  <a:ext uri="{0D108BD9-81ED-4DB2-BD59-A6C34878D82A}">
                    <a16:rowId xmlns:a16="http://schemas.microsoft.com/office/drawing/2014/main" val="3042950707"/>
                  </a:ext>
                </a:extLst>
              </a:tr>
              <a:tr h="370840">
                <a:tc>
                  <a:txBody>
                    <a:bodyPr/>
                    <a:lstStyle/>
                    <a:p>
                      <a:pPr algn="l">
                        <a:buNone/>
                      </a:pPr>
                      <a:r>
                        <a:rPr lang="en-US" dirty="0"/>
                        <a:t>SUV</a:t>
                      </a:r>
                    </a:p>
                  </a:txBody>
                  <a:tcPr anchor="ctr"/>
                </a:tc>
                <a:tc>
                  <a:txBody>
                    <a:bodyPr/>
                    <a:lstStyle/>
                    <a:p>
                      <a:pPr algn="ctr">
                        <a:buNone/>
                      </a:pPr>
                      <a:r>
                        <a:rPr lang="en-US"/>
                        <a:t>125</a:t>
                      </a:r>
                    </a:p>
                  </a:txBody>
                  <a:tcPr anchor="ctr"/>
                </a:tc>
                <a:tc>
                  <a:txBody>
                    <a:bodyPr/>
                    <a:lstStyle/>
                    <a:p>
                      <a:pPr algn="ctr">
                        <a:buNone/>
                      </a:pPr>
                      <a:r>
                        <a:rPr lang="en-US"/>
                        <a:t>28,75,06,709</a:t>
                      </a:r>
                    </a:p>
                  </a:txBody>
                  <a:tcPr anchor="ctr"/>
                </a:tc>
                <a:tc>
                  <a:txBody>
                    <a:bodyPr/>
                    <a:lstStyle/>
                    <a:p>
                      <a:pPr algn="ctr">
                        <a:buNone/>
                      </a:pPr>
                      <a:r>
                        <a:rPr lang="en-US"/>
                        <a:t>57,58,749</a:t>
                      </a:r>
                    </a:p>
                  </a:txBody>
                  <a:tcPr anchor="ctr"/>
                </a:tc>
                <a:tc>
                  <a:txBody>
                    <a:bodyPr/>
                    <a:lstStyle/>
                    <a:p>
                      <a:pPr algn="ctr">
                        <a:buNone/>
                      </a:pPr>
                      <a:r>
                        <a:rPr lang="en-US"/>
                        <a:t>5,42,27,959</a:t>
                      </a:r>
                    </a:p>
                  </a:txBody>
                  <a:tcPr anchor="ctr"/>
                </a:tc>
                <a:tc>
                  <a:txBody>
                    <a:bodyPr/>
                    <a:lstStyle/>
                    <a:p>
                      <a:pPr algn="ctr">
                        <a:buNone/>
                      </a:pPr>
                      <a:r>
                        <a:rPr lang="en-US" dirty="0"/>
                        <a:t>18.86 %</a:t>
                      </a:r>
                    </a:p>
                  </a:txBody>
                  <a:tcPr anchor="ctr"/>
                </a:tc>
                <a:extLst>
                  <a:ext uri="{0D108BD9-81ED-4DB2-BD59-A6C34878D82A}">
                    <a16:rowId xmlns:a16="http://schemas.microsoft.com/office/drawing/2014/main" val="1710489907"/>
                  </a:ext>
                </a:extLst>
              </a:tr>
            </a:tbl>
          </a:graphicData>
        </a:graphic>
      </p:graphicFrame>
      <p:sp>
        <p:nvSpPr>
          <p:cNvPr id="16" name="Title 1">
            <a:extLst>
              <a:ext uri="{FF2B5EF4-FFF2-40B4-BE49-F238E27FC236}">
                <a16:creationId xmlns:a16="http://schemas.microsoft.com/office/drawing/2014/main" id="{3C7D605F-1B12-2703-9E10-AA8CD7898017}"/>
              </a:ext>
            </a:extLst>
          </p:cNvPr>
          <p:cNvSpPr txBox="1">
            <a:spLocks/>
          </p:cNvSpPr>
          <p:nvPr/>
        </p:nvSpPr>
        <p:spPr>
          <a:xfrm>
            <a:off x="51651" y="3373767"/>
            <a:ext cx="1653581" cy="343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2023 Delhi:</a:t>
            </a:r>
          </a:p>
        </p:txBody>
      </p:sp>
      <p:graphicFrame>
        <p:nvGraphicFramePr>
          <p:cNvPr id="17" name="Table 16">
            <a:extLst>
              <a:ext uri="{FF2B5EF4-FFF2-40B4-BE49-F238E27FC236}">
                <a16:creationId xmlns:a16="http://schemas.microsoft.com/office/drawing/2014/main" id="{2E40100E-D9FB-F841-5DF3-CA2678536E0F}"/>
              </a:ext>
            </a:extLst>
          </p:cNvPr>
          <p:cNvGraphicFramePr>
            <a:graphicFrameLocks noGrp="1"/>
          </p:cNvGraphicFramePr>
          <p:nvPr>
            <p:extLst>
              <p:ext uri="{D42A27DB-BD31-4B8C-83A1-F6EECF244321}">
                <p14:modId xmlns:p14="http://schemas.microsoft.com/office/powerpoint/2010/main" val="975329459"/>
              </p:ext>
            </p:extLst>
          </p:nvPr>
        </p:nvGraphicFramePr>
        <p:xfrm>
          <a:off x="51651" y="3763156"/>
          <a:ext cx="11921466" cy="1854200"/>
        </p:xfrm>
        <a:graphic>
          <a:graphicData uri="http://schemas.openxmlformats.org/drawingml/2006/table">
            <a:tbl>
              <a:tblPr firstRow="1" bandRow="1">
                <a:tableStyleId>{00A15C55-8517-42AA-B614-E9B94910E393}</a:tableStyleId>
              </a:tblPr>
              <a:tblGrid>
                <a:gridCol w="1986911">
                  <a:extLst>
                    <a:ext uri="{9D8B030D-6E8A-4147-A177-3AD203B41FA5}">
                      <a16:colId xmlns:a16="http://schemas.microsoft.com/office/drawing/2014/main" val="4135554226"/>
                    </a:ext>
                  </a:extLst>
                </a:gridCol>
                <a:gridCol w="1986911">
                  <a:extLst>
                    <a:ext uri="{9D8B030D-6E8A-4147-A177-3AD203B41FA5}">
                      <a16:colId xmlns:a16="http://schemas.microsoft.com/office/drawing/2014/main" val="2617746219"/>
                    </a:ext>
                  </a:extLst>
                </a:gridCol>
                <a:gridCol w="1986911">
                  <a:extLst>
                    <a:ext uri="{9D8B030D-6E8A-4147-A177-3AD203B41FA5}">
                      <a16:colId xmlns:a16="http://schemas.microsoft.com/office/drawing/2014/main" val="4091420525"/>
                    </a:ext>
                  </a:extLst>
                </a:gridCol>
                <a:gridCol w="1986911">
                  <a:extLst>
                    <a:ext uri="{9D8B030D-6E8A-4147-A177-3AD203B41FA5}">
                      <a16:colId xmlns:a16="http://schemas.microsoft.com/office/drawing/2014/main" val="2705740483"/>
                    </a:ext>
                  </a:extLst>
                </a:gridCol>
                <a:gridCol w="1986911">
                  <a:extLst>
                    <a:ext uri="{9D8B030D-6E8A-4147-A177-3AD203B41FA5}">
                      <a16:colId xmlns:a16="http://schemas.microsoft.com/office/drawing/2014/main" val="1464686739"/>
                    </a:ext>
                  </a:extLst>
                </a:gridCol>
                <a:gridCol w="1986911">
                  <a:extLst>
                    <a:ext uri="{9D8B030D-6E8A-4147-A177-3AD203B41FA5}">
                      <a16:colId xmlns:a16="http://schemas.microsoft.com/office/drawing/2014/main" val="925657620"/>
                    </a:ext>
                  </a:extLst>
                </a:gridCol>
              </a:tblGrid>
              <a:tr h="370840">
                <a:tc>
                  <a:txBody>
                    <a:bodyPr/>
                    <a:lstStyle/>
                    <a:p>
                      <a:pPr algn="ctr" fontAlgn="b">
                        <a:buNone/>
                      </a:pPr>
                      <a:r>
                        <a:rPr lang="en-US" sz="1600" b="1" u="none" strike="noStrike" dirty="0">
                          <a:solidFill>
                            <a:srgbClr val="000000"/>
                          </a:solidFill>
                          <a:effectLst/>
                        </a:rPr>
                        <a:t> Segment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Units</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Revenue</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Allocated Cost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Net Profit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Net Margin %</a:t>
                      </a:r>
                      <a:endParaRPr lang="en-US" sz="16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53557313"/>
                  </a:ext>
                </a:extLst>
              </a:tr>
              <a:tr h="370840">
                <a:tc>
                  <a:txBody>
                    <a:bodyPr/>
                    <a:lstStyle/>
                    <a:p>
                      <a:pPr algn="l">
                        <a:buNone/>
                      </a:pPr>
                      <a:r>
                        <a:rPr lang="en-US" dirty="0"/>
                        <a:t>Hatchback</a:t>
                      </a:r>
                    </a:p>
                  </a:txBody>
                  <a:tcPr anchor="ctr"/>
                </a:tc>
                <a:tc>
                  <a:txBody>
                    <a:bodyPr/>
                    <a:lstStyle/>
                    <a:p>
                      <a:pPr algn="ctr">
                        <a:buNone/>
                      </a:pPr>
                      <a:r>
                        <a:rPr lang="en-US"/>
                        <a:t>47</a:t>
                      </a:r>
                    </a:p>
                  </a:txBody>
                  <a:tcPr anchor="ctr"/>
                </a:tc>
                <a:tc>
                  <a:txBody>
                    <a:bodyPr/>
                    <a:lstStyle/>
                    <a:p>
                      <a:pPr algn="ctr">
                        <a:buNone/>
                      </a:pPr>
                      <a:r>
                        <a:rPr lang="en-US"/>
                        <a:t>3,26,33,248</a:t>
                      </a:r>
                    </a:p>
                  </a:txBody>
                  <a:tcPr anchor="ctr"/>
                </a:tc>
                <a:tc>
                  <a:txBody>
                    <a:bodyPr/>
                    <a:lstStyle/>
                    <a:p>
                      <a:pPr algn="ctr">
                        <a:buNone/>
                      </a:pPr>
                      <a:r>
                        <a:rPr lang="en-US"/>
                        <a:t>18,02,252</a:t>
                      </a:r>
                    </a:p>
                  </a:txBody>
                  <a:tcPr anchor="ctr"/>
                </a:tc>
                <a:tc>
                  <a:txBody>
                    <a:bodyPr/>
                    <a:lstStyle/>
                    <a:p>
                      <a:pPr algn="ctr">
                        <a:buNone/>
                      </a:pPr>
                      <a:r>
                        <a:rPr lang="en-US"/>
                        <a:t>58,25,996</a:t>
                      </a:r>
                    </a:p>
                  </a:txBody>
                  <a:tcPr anchor="ctr"/>
                </a:tc>
                <a:tc>
                  <a:txBody>
                    <a:bodyPr/>
                    <a:lstStyle/>
                    <a:p>
                      <a:pPr algn="ctr">
                        <a:buNone/>
                      </a:pPr>
                      <a:r>
                        <a:rPr lang="en-US"/>
                        <a:t>17.85 %</a:t>
                      </a:r>
                    </a:p>
                  </a:txBody>
                  <a:tcPr anchor="ctr"/>
                </a:tc>
                <a:extLst>
                  <a:ext uri="{0D108BD9-81ED-4DB2-BD59-A6C34878D82A}">
                    <a16:rowId xmlns:a16="http://schemas.microsoft.com/office/drawing/2014/main" val="331238190"/>
                  </a:ext>
                </a:extLst>
              </a:tr>
              <a:tr h="370840">
                <a:tc>
                  <a:txBody>
                    <a:bodyPr/>
                    <a:lstStyle/>
                    <a:p>
                      <a:pPr algn="l">
                        <a:buNone/>
                      </a:pPr>
                      <a:r>
                        <a:rPr lang="en-US" dirty="0"/>
                        <a:t>Luxury</a:t>
                      </a:r>
                    </a:p>
                  </a:txBody>
                  <a:tcPr anchor="ctr"/>
                </a:tc>
                <a:tc>
                  <a:txBody>
                    <a:bodyPr/>
                    <a:lstStyle/>
                    <a:p>
                      <a:pPr algn="ctr">
                        <a:buNone/>
                      </a:pPr>
                      <a:r>
                        <a:rPr lang="en-US"/>
                        <a:t>30</a:t>
                      </a:r>
                    </a:p>
                  </a:txBody>
                  <a:tcPr anchor="ctr"/>
                </a:tc>
                <a:tc>
                  <a:txBody>
                    <a:bodyPr/>
                    <a:lstStyle/>
                    <a:p>
                      <a:pPr algn="ctr">
                        <a:buNone/>
                      </a:pPr>
                      <a:r>
                        <a:rPr lang="en-US"/>
                        <a:t>29,28,18,733</a:t>
                      </a:r>
                    </a:p>
                  </a:txBody>
                  <a:tcPr anchor="ctr"/>
                </a:tc>
                <a:tc>
                  <a:txBody>
                    <a:bodyPr/>
                    <a:lstStyle/>
                    <a:p>
                      <a:pPr algn="ctr">
                        <a:buNone/>
                      </a:pPr>
                      <a:r>
                        <a:rPr lang="en-US"/>
                        <a:t>11,50,374</a:t>
                      </a:r>
                    </a:p>
                  </a:txBody>
                  <a:tcPr anchor="ctr"/>
                </a:tc>
                <a:tc>
                  <a:txBody>
                    <a:bodyPr/>
                    <a:lstStyle/>
                    <a:p>
                      <a:pPr algn="ctr">
                        <a:buNone/>
                      </a:pPr>
                      <a:r>
                        <a:rPr lang="en-US"/>
                        <a:t>5,22,58,359</a:t>
                      </a:r>
                    </a:p>
                  </a:txBody>
                  <a:tcPr anchor="ctr"/>
                </a:tc>
                <a:tc>
                  <a:txBody>
                    <a:bodyPr/>
                    <a:lstStyle/>
                    <a:p>
                      <a:pPr algn="ctr">
                        <a:buNone/>
                      </a:pPr>
                      <a:r>
                        <a:rPr lang="en-US"/>
                        <a:t>17.85 %</a:t>
                      </a:r>
                    </a:p>
                  </a:txBody>
                  <a:tcPr anchor="ctr"/>
                </a:tc>
                <a:extLst>
                  <a:ext uri="{0D108BD9-81ED-4DB2-BD59-A6C34878D82A}">
                    <a16:rowId xmlns:a16="http://schemas.microsoft.com/office/drawing/2014/main" val="453292965"/>
                  </a:ext>
                </a:extLst>
              </a:tr>
              <a:tr h="370840">
                <a:tc>
                  <a:txBody>
                    <a:bodyPr/>
                    <a:lstStyle/>
                    <a:p>
                      <a:pPr algn="l">
                        <a:buNone/>
                      </a:pPr>
                      <a:r>
                        <a:rPr lang="en-US" dirty="0"/>
                        <a:t>Sedan</a:t>
                      </a:r>
                    </a:p>
                  </a:txBody>
                  <a:tcPr anchor="ctr"/>
                </a:tc>
                <a:tc>
                  <a:txBody>
                    <a:bodyPr/>
                    <a:lstStyle/>
                    <a:p>
                      <a:pPr algn="ctr">
                        <a:buNone/>
                      </a:pPr>
                      <a:r>
                        <a:rPr lang="en-US"/>
                        <a:t>57</a:t>
                      </a:r>
                    </a:p>
                  </a:txBody>
                  <a:tcPr anchor="ctr"/>
                </a:tc>
                <a:tc>
                  <a:txBody>
                    <a:bodyPr/>
                    <a:lstStyle/>
                    <a:p>
                      <a:pPr algn="ctr">
                        <a:buNone/>
                      </a:pPr>
                      <a:r>
                        <a:rPr lang="en-US"/>
                        <a:t>9,97,34,825</a:t>
                      </a:r>
                    </a:p>
                  </a:txBody>
                  <a:tcPr anchor="ctr"/>
                </a:tc>
                <a:tc>
                  <a:txBody>
                    <a:bodyPr/>
                    <a:lstStyle/>
                    <a:p>
                      <a:pPr algn="ctr">
                        <a:buNone/>
                      </a:pPr>
                      <a:r>
                        <a:rPr lang="en-US"/>
                        <a:t>21,85,710</a:t>
                      </a:r>
                    </a:p>
                  </a:txBody>
                  <a:tcPr anchor="ctr"/>
                </a:tc>
                <a:tc>
                  <a:txBody>
                    <a:bodyPr/>
                    <a:lstStyle/>
                    <a:p>
                      <a:pPr algn="ctr">
                        <a:buNone/>
                      </a:pPr>
                      <a:r>
                        <a:rPr lang="en-US"/>
                        <a:t>1,86,99,115</a:t>
                      </a:r>
                    </a:p>
                  </a:txBody>
                  <a:tcPr anchor="ctr"/>
                </a:tc>
                <a:tc>
                  <a:txBody>
                    <a:bodyPr/>
                    <a:lstStyle/>
                    <a:p>
                      <a:pPr algn="ctr">
                        <a:buNone/>
                      </a:pPr>
                      <a:r>
                        <a:rPr lang="en-US"/>
                        <a:t>18.75 %</a:t>
                      </a:r>
                    </a:p>
                  </a:txBody>
                  <a:tcPr anchor="ctr"/>
                </a:tc>
                <a:extLst>
                  <a:ext uri="{0D108BD9-81ED-4DB2-BD59-A6C34878D82A}">
                    <a16:rowId xmlns:a16="http://schemas.microsoft.com/office/drawing/2014/main" val="3042950707"/>
                  </a:ext>
                </a:extLst>
              </a:tr>
              <a:tr h="370840">
                <a:tc>
                  <a:txBody>
                    <a:bodyPr/>
                    <a:lstStyle/>
                    <a:p>
                      <a:pPr algn="l">
                        <a:buNone/>
                      </a:pPr>
                      <a:r>
                        <a:rPr lang="en-US" dirty="0"/>
                        <a:t>SUV</a:t>
                      </a:r>
                    </a:p>
                  </a:txBody>
                  <a:tcPr anchor="ctr"/>
                </a:tc>
                <a:tc>
                  <a:txBody>
                    <a:bodyPr/>
                    <a:lstStyle/>
                    <a:p>
                      <a:pPr algn="ctr">
                        <a:buNone/>
                      </a:pPr>
                      <a:r>
                        <a:rPr lang="en-US"/>
                        <a:t>113</a:t>
                      </a:r>
                    </a:p>
                  </a:txBody>
                  <a:tcPr anchor="ctr"/>
                </a:tc>
                <a:tc>
                  <a:txBody>
                    <a:bodyPr/>
                    <a:lstStyle/>
                    <a:p>
                      <a:pPr algn="ctr">
                        <a:buNone/>
                      </a:pPr>
                      <a:r>
                        <a:rPr lang="en-US"/>
                        <a:t>23,62,72,377</a:t>
                      </a:r>
                    </a:p>
                  </a:txBody>
                  <a:tcPr anchor="ctr"/>
                </a:tc>
                <a:tc>
                  <a:txBody>
                    <a:bodyPr/>
                    <a:lstStyle/>
                    <a:p>
                      <a:pPr algn="ctr">
                        <a:buNone/>
                      </a:pPr>
                      <a:r>
                        <a:rPr lang="en-US"/>
                        <a:t>43,33,075</a:t>
                      </a:r>
                    </a:p>
                  </a:txBody>
                  <a:tcPr anchor="ctr"/>
                </a:tc>
                <a:tc>
                  <a:txBody>
                    <a:bodyPr/>
                    <a:lstStyle/>
                    <a:p>
                      <a:pPr algn="ctr">
                        <a:buNone/>
                      </a:pPr>
                      <a:r>
                        <a:rPr lang="en-US"/>
                        <a:t>4,61,29,302</a:t>
                      </a:r>
                    </a:p>
                  </a:txBody>
                  <a:tcPr anchor="ctr"/>
                </a:tc>
                <a:tc>
                  <a:txBody>
                    <a:bodyPr/>
                    <a:lstStyle/>
                    <a:p>
                      <a:pPr algn="ctr">
                        <a:buNone/>
                      </a:pPr>
                      <a:r>
                        <a:rPr lang="en-US" dirty="0"/>
                        <a:t>19.52 %</a:t>
                      </a:r>
                    </a:p>
                  </a:txBody>
                  <a:tcPr anchor="ctr"/>
                </a:tc>
                <a:extLst>
                  <a:ext uri="{0D108BD9-81ED-4DB2-BD59-A6C34878D82A}">
                    <a16:rowId xmlns:a16="http://schemas.microsoft.com/office/drawing/2014/main" val="1710489907"/>
                  </a:ext>
                </a:extLst>
              </a:tr>
            </a:tbl>
          </a:graphicData>
        </a:graphic>
      </p:graphicFrame>
      <p:sp>
        <p:nvSpPr>
          <p:cNvPr id="18" name="Title 1">
            <a:extLst>
              <a:ext uri="{FF2B5EF4-FFF2-40B4-BE49-F238E27FC236}">
                <a16:creationId xmlns:a16="http://schemas.microsoft.com/office/drawing/2014/main" id="{80ED8936-4521-DB89-C35F-5CA04A701DAF}"/>
              </a:ext>
            </a:extLst>
          </p:cNvPr>
          <p:cNvSpPr txBox="1">
            <a:spLocks/>
          </p:cNvSpPr>
          <p:nvPr/>
        </p:nvSpPr>
        <p:spPr>
          <a:xfrm>
            <a:off x="51651" y="5663529"/>
            <a:ext cx="12013517" cy="741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Delhi is more profitable than Mumbai because it has higher margins per vehicle and lower operating costs, leading to better profit efficiency in 2023 with a yearly operating cost of 94,71,412.  </a:t>
            </a:r>
          </a:p>
        </p:txBody>
      </p:sp>
    </p:spTree>
    <p:extLst>
      <p:ext uri="{BB962C8B-B14F-4D97-AF65-F5344CB8AC3E}">
        <p14:creationId xmlns:p14="http://schemas.microsoft.com/office/powerpoint/2010/main" val="2472939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3F023-389A-55C8-48B6-BF2059F0B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AD27F-ADD4-9A7A-881C-1324DAA8E4D5}"/>
              </a:ext>
            </a:extLst>
          </p:cNvPr>
          <p:cNvSpPr>
            <a:spLocks noGrp="1"/>
          </p:cNvSpPr>
          <p:nvPr>
            <p:ph type="title"/>
          </p:nvPr>
        </p:nvSpPr>
        <p:spPr>
          <a:xfrm>
            <a:off x="51652" y="125787"/>
            <a:ext cx="12013517" cy="432674"/>
          </a:xfrm>
        </p:spPr>
        <p:txBody>
          <a:bodyPr>
            <a:normAutofit/>
          </a:bodyPr>
          <a:lstStyle/>
          <a:p>
            <a:pPr algn="ctr"/>
            <a:r>
              <a:rPr lang="en-US" sz="2400" dirty="0">
                <a:latin typeface="Comic Sans MS" panose="030F0702030302020204" pitchFamily="66" charset="0"/>
              </a:rPr>
              <a:t>Net Profit Analysis by Showroom and Car Segment</a:t>
            </a:r>
          </a:p>
        </p:txBody>
      </p:sp>
      <p:sp>
        <p:nvSpPr>
          <p:cNvPr id="4" name="Title 1">
            <a:extLst>
              <a:ext uri="{FF2B5EF4-FFF2-40B4-BE49-F238E27FC236}">
                <a16:creationId xmlns:a16="http://schemas.microsoft.com/office/drawing/2014/main" id="{0C5784DB-B7DD-3142-B803-EE0408FDF590}"/>
              </a:ext>
            </a:extLst>
          </p:cNvPr>
          <p:cNvSpPr txBox="1">
            <a:spLocks/>
          </p:cNvSpPr>
          <p:nvPr/>
        </p:nvSpPr>
        <p:spPr>
          <a:xfrm>
            <a:off x="51652" y="545637"/>
            <a:ext cx="6417110" cy="432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Yearly Net Profit Margin % for Mumbai and Delhi Showroom 2023 and &amp; 2024:</a:t>
            </a:r>
          </a:p>
        </p:txBody>
      </p:sp>
      <p:sp>
        <p:nvSpPr>
          <p:cNvPr id="7" name="Title 1">
            <a:extLst>
              <a:ext uri="{FF2B5EF4-FFF2-40B4-BE49-F238E27FC236}">
                <a16:creationId xmlns:a16="http://schemas.microsoft.com/office/drawing/2014/main" id="{2B4020F3-196C-C5FC-73EC-55D00874A943}"/>
              </a:ext>
            </a:extLst>
          </p:cNvPr>
          <p:cNvSpPr txBox="1">
            <a:spLocks/>
          </p:cNvSpPr>
          <p:nvPr/>
        </p:nvSpPr>
        <p:spPr>
          <a:xfrm>
            <a:off x="51651" y="1008772"/>
            <a:ext cx="1653581" cy="34321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2024 Mumbai:</a:t>
            </a:r>
          </a:p>
        </p:txBody>
      </p:sp>
      <p:graphicFrame>
        <p:nvGraphicFramePr>
          <p:cNvPr id="15" name="Table 14">
            <a:extLst>
              <a:ext uri="{FF2B5EF4-FFF2-40B4-BE49-F238E27FC236}">
                <a16:creationId xmlns:a16="http://schemas.microsoft.com/office/drawing/2014/main" id="{B1BACEDB-075C-507C-00D4-F68E89DD8CC4}"/>
              </a:ext>
            </a:extLst>
          </p:cNvPr>
          <p:cNvGraphicFramePr>
            <a:graphicFrameLocks noGrp="1"/>
          </p:cNvGraphicFramePr>
          <p:nvPr>
            <p:extLst>
              <p:ext uri="{D42A27DB-BD31-4B8C-83A1-F6EECF244321}">
                <p14:modId xmlns:p14="http://schemas.microsoft.com/office/powerpoint/2010/main" val="1166158573"/>
              </p:ext>
            </p:extLst>
          </p:nvPr>
        </p:nvGraphicFramePr>
        <p:xfrm>
          <a:off x="51651" y="1398161"/>
          <a:ext cx="11921466" cy="1854200"/>
        </p:xfrm>
        <a:graphic>
          <a:graphicData uri="http://schemas.openxmlformats.org/drawingml/2006/table">
            <a:tbl>
              <a:tblPr firstRow="1" bandRow="1">
                <a:tableStyleId>{00A15C55-8517-42AA-B614-E9B94910E393}</a:tableStyleId>
              </a:tblPr>
              <a:tblGrid>
                <a:gridCol w="1986911">
                  <a:extLst>
                    <a:ext uri="{9D8B030D-6E8A-4147-A177-3AD203B41FA5}">
                      <a16:colId xmlns:a16="http://schemas.microsoft.com/office/drawing/2014/main" val="4135554226"/>
                    </a:ext>
                  </a:extLst>
                </a:gridCol>
                <a:gridCol w="1986911">
                  <a:extLst>
                    <a:ext uri="{9D8B030D-6E8A-4147-A177-3AD203B41FA5}">
                      <a16:colId xmlns:a16="http://schemas.microsoft.com/office/drawing/2014/main" val="2617746219"/>
                    </a:ext>
                  </a:extLst>
                </a:gridCol>
                <a:gridCol w="1986911">
                  <a:extLst>
                    <a:ext uri="{9D8B030D-6E8A-4147-A177-3AD203B41FA5}">
                      <a16:colId xmlns:a16="http://schemas.microsoft.com/office/drawing/2014/main" val="4091420525"/>
                    </a:ext>
                  </a:extLst>
                </a:gridCol>
                <a:gridCol w="1986911">
                  <a:extLst>
                    <a:ext uri="{9D8B030D-6E8A-4147-A177-3AD203B41FA5}">
                      <a16:colId xmlns:a16="http://schemas.microsoft.com/office/drawing/2014/main" val="2705740483"/>
                    </a:ext>
                  </a:extLst>
                </a:gridCol>
                <a:gridCol w="1986911">
                  <a:extLst>
                    <a:ext uri="{9D8B030D-6E8A-4147-A177-3AD203B41FA5}">
                      <a16:colId xmlns:a16="http://schemas.microsoft.com/office/drawing/2014/main" val="1464686739"/>
                    </a:ext>
                  </a:extLst>
                </a:gridCol>
                <a:gridCol w="1986911">
                  <a:extLst>
                    <a:ext uri="{9D8B030D-6E8A-4147-A177-3AD203B41FA5}">
                      <a16:colId xmlns:a16="http://schemas.microsoft.com/office/drawing/2014/main" val="925657620"/>
                    </a:ext>
                  </a:extLst>
                </a:gridCol>
              </a:tblGrid>
              <a:tr h="370840">
                <a:tc>
                  <a:txBody>
                    <a:bodyPr/>
                    <a:lstStyle/>
                    <a:p>
                      <a:pPr algn="ctr" fontAlgn="b">
                        <a:buNone/>
                      </a:pPr>
                      <a:r>
                        <a:rPr lang="en-US" sz="1600" b="1" u="none" strike="noStrike" dirty="0">
                          <a:solidFill>
                            <a:srgbClr val="000000"/>
                          </a:solidFill>
                          <a:effectLst/>
                        </a:rPr>
                        <a:t> Segment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Units</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Revenue</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Allocated Cost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Net Profit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Net Margin %</a:t>
                      </a:r>
                      <a:endParaRPr lang="en-US" sz="16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53557313"/>
                  </a:ext>
                </a:extLst>
              </a:tr>
              <a:tr h="370840">
                <a:tc>
                  <a:txBody>
                    <a:bodyPr/>
                    <a:lstStyle/>
                    <a:p>
                      <a:pPr>
                        <a:buNone/>
                      </a:pPr>
                      <a:r>
                        <a:rPr lang="en-US"/>
                        <a:t>Hatchback</a:t>
                      </a:r>
                    </a:p>
                  </a:txBody>
                  <a:tcPr anchor="ctr"/>
                </a:tc>
                <a:tc>
                  <a:txBody>
                    <a:bodyPr/>
                    <a:lstStyle/>
                    <a:p>
                      <a:pPr algn="ctr">
                        <a:buNone/>
                      </a:pPr>
                      <a:r>
                        <a:rPr lang="en-US" dirty="0"/>
                        <a:t>51</a:t>
                      </a:r>
                    </a:p>
                  </a:txBody>
                  <a:tcPr anchor="ctr"/>
                </a:tc>
                <a:tc>
                  <a:txBody>
                    <a:bodyPr/>
                    <a:lstStyle/>
                    <a:p>
                      <a:pPr algn="ctr">
                        <a:buNone/>
                      </a:pPr>
                      <a:r>
                        <a:rPr lang="en-US"/>
                        <a:t>3,65,18,508</a:t>
                      </a:r>
                    </a:p>
                  </a:txBody>
                  <a:tcPr anchor="ctr"/>
                </a:tc>
                <a:tc>
                  <a:txBody>
                    <a:bodyPr/>
                    <a:lstStyle/>
                    <a:p>
                      <a:pPr algn="ctr">
                        <a:buNone/>
                      </a:pPr>
                      <a:r>
                        <a:rPr lang="en-US"/>
                        <a:t>25,23,952</a:t>
                      </a:r>
                    </a:p>
                  </a:txBody>
                  <a:tcPr anchor="ctr"/>
                </a:tc>
                <a:tc>
                  <a:txBody>
                    <a:bodyPr/>
                    <a:lstStyle/>
                    <a:p>
                      <a:pPr algn="ctr">
                        <a:buNone/>
                      </a:pPr>
                      <a:r>
                        <a:rPr lang="en-US"/>
                        <a:t>60,14,556</a:t>
                      </a:r>
                    </a:p>
                  </a:txBody>
                  <a:tcPr anchor="ctr"/>
                </a:tc>
                <a:tc>
                  <a:txBody>
                    <a:bodyPr/>
                    <a:lstStyle/>
                    <a:p>
                      <a:pPr algn="ctr">
                        <a:buNone/>
                      </a:pPr>
                      <a:r>
                        <a:rPr lang="en-US"/>
                        <a:t>16.47 %</a:t>
                      </a:r>
                    </a:p>
                  </a:txBody>
                  <a:tcPr anchor="ctr"/>
                </a:tc>
                <a:extLst>
                  <a:ext uri="{0D108BD9-81ED-4DB2-BD59-A6C34878D82A}">
                    <a16:rowId xmlns:a16="http://schemas.microsoft.com/office/drawing/2014/main" val="331238190"/>
                  </a:ext>
                </a:extLst>
              </a:tr>
              <a:tr h="370840">
                <a:tc>
                  <a:txBody>
                    <a:bodyPr/>
                    <a:lstStyle/>
                    <a:p>
                      <a:pPr>
                        <a:buNone/>
                      </a:pPr>
                      <a:r>
                        <a:rPr lang="en-US"/>
                        <a:t>Luxury</a:t>
                      </a:r>
                    </a:p>
                  </a:txBody>
                  <a:tcPr anchor="ctr"/>
                </a:tc>
                <a:tc>
                  <a:txBody>
                    <a:bodyPr/>
                    <a:lstStyle/>
                    <a:p>
                      <a:pPr algn="ctr">
                        <a:buNone/>
                      </a:pPr>
                      <a:r>
                        <a:rPr lang="en-US"/>
                        <a:t>27</a:t>
                      </a:r>
                    </a:p>
                  </a:txBody>
                  <a:tcPr anchor="ctr"/>
                </a:tc>
                <a:tc>
                  <a:txBody>
                    <a:bodyPr/>
                    <a:lstStyle/>
                    <a:p>
                      <a:pPr algn="ctr">
                        <a:buNone/>
                      </a:pPr>
                      <a:r>
                        <a:rPr lang="en-US" dirty="0"/>
                        <a:t>23,71,09,103</a:t>
                      </a:r>
                    </a:p>
                  </a:txBody>
                  <a:tcPr anchor="ctr"/>
                </a:tc>
                <a:tc>
                  <a:txBody>
                    <a:bodyPr/>
                    <a:lstStyle/>
                    <a:p>
                      <a:pPr algn="ctr">
                        <a:buNone/>
                      </a:pPr>
                      <a:r>
                        <a:rPr lang="en-US"/>
                        <a:t>13,36,210</a:t>
                      </a:r>
                    </a:p>
                  </a:txBody>
                  <a:tcPr anchor="ctr"/>
                </a:tc>
                <a:tc>
                  <a:txBody>
                    <a:bodyPr/>
                    <a:lstStyle/>
                    <a:p>
                      <a:pPr algn="ctr">
                        <a:buNone/>
                      </a:pPr>
                      <a:r>
                        <a:rPr lang="en-US"/>
                        <a:t>4,31,22,894</a:t>
                      </a:r>
                    </a:p>
                  </a:txBody>
                  <a:tcPr anchor="ctr"/>
                </a:tc>
                <a:tc>
                  <a:txBody>
                    <a:bodyPr/>
                    <a:lstStyle/>
                    <a:p>
                      <a:pPr algn="ctr">
                        <a:buNone/>
                      </a:pPr>
                      <a:r>
                        <a:rPr lang="en-US"/>
                        <a:t>18.19 %</a:t>
                      </a:r>
                    </a:p>
                  </a:txBody>
                  <a:tcPr anchor="ctr"/>
                </a:tc>
                <a:extLst>
                  <a:ext uri="{0D108BD9-81ED-4DB2-BD59-A6C34878D82A}">
                    <a16:rowId xmlns:a16="http://schemas.microsoft.com/office/drawing/2014/main" val="453292965"/>
                  </a:ext>
                </a:extLst>
              </a:tr>
              <a:tr h="370840">
                <a:tc>
                  <a:txBody>
                    <a:bodyPr/>
                    <a:lstStyle/>
                    <a:p>
                      <a:pPr>
                        <a:buNone/>
                      </a:pPr>
                      <a:r>
                        <a:rPr lang="en-US"/>
                        <a:t>Sedan</a:t>
                      </a:r>
                    </a:p>
                  </a:txBody>
                  <a:tcPr anchor="ctr"/>
                </a:tc>
                <a:tc>
                  <a:txBody>
                    <a:bodyPr/>
                    <a:lstStyle/>
                    <a:p>
                      <a:pPr algn="ctr">
                        <a:buNone/>
                      </a:pPr>
                      <a:r>
                        <a:rPr lang="en-US"/>
                        <a:t>57</a:t>
                      </a:r>
                    </a:p>
                  </a:txBody>
                  <a:tcPr anchor="ctr"/>
                </a:tc>
                <a:tc>
                  <a:txBody>
                    <a:bodyPr/>
                    <a:lstStyle/>
                    <a:p>
                      <a:pPr algn="ctr">
                        <a:buNone/>
                      </a:pPr>
                      <a:r>
                        <a:rPr lang="en-US" dirty="0"/>
                        <a:t>9,99,97,761</a:t>
                      </a:r>
                    </a:p>
                  </a:txBody>
                  <a:tcPr anchor="ctr"/>
                </a:tc>
                <a:tc>
                  <a:txBody>
                    <a:bodyPr/>
                    <a:lstStyle/>
                    <a:p>
                      <a:pPr algn="ctr">
                        <a:buNone/>
                      </a:pPr>
                      <a:r>
                        <a:rPr lang="en-US" dirty="0"/>
                        <a:t>28,20,887</a:t>
                      </a:r>
                    </a:p>
                  </a:txBody>
                  <a:tcPr anchor="ctr"/>
                </a:tc>
                <a:tc>
                  <a:txBody>
                    <a:bodyPr/>
                    <a:lstStyle/>
                    <a:p>
                      <a:pPr algn="ctr">
                        <a:buNone/>
                      </a:pPr>
                      <a:r>
                        <a:rPr lang="en-US"/>
                        <a:t>1,81,76,874</a:t>
                      </a:r>
                    </a:p>
                  </a:txBody>
                  <a:tcPr anchor="ctr"/>
                </a:tc>
                <a:tc>
                  <a:txBody>
                    <a:bodyPr/>
                    <a:lstStyle/>
                    <a:p>
                      <a:pPr algn="ctr">
                        <a:buNone/>
                      </a:pPr>
                      <a:r>
                        <a:rPr lang="en-US"/>
                        <a:t>18.18 %</a:t>
                      </a:r>
                    </a:p>
                  </a:txBody>
                  <a:tcPr anchor="ctr"/>
                </a:tc>
                <a:extLst>
                  <a:ext uri="{0D108BD9-81ED-4DB2-BD59-A6C34878D82A}">
                    <a16:rowId xmlns:a16="http://schemas.microsoft.com/office/drawing/2014/main" val="3042950707"/>
                  </a:ext>
                </a:extLst>
              </a:tr>
              <a:tr h="370840">
                <a:tc>
                  <a:txBody>
                    <a:bodyPr/>
                    <a:lstStyle/>
                    <a:p>
                      <a:pPr>
                        <a:buNone/>
                      </a:pPr>
                      <a:r>
                        <a:rPr lang="en-US"/>
                        <a:t>SUV</a:t>
                      </a:r>
                    </a:p>
                  </a:txBody>
                  <a:tcPr anchor="ctr"/>
                </a:tc>
                <a:tc>
                  <a:txBody>
                    <a:bodyPr/>
                    <a:lstStyle/>
                    <a:p>
                      <a:pPr algn="ctr">
                        <a:buNone/>
                      </a:pPr>
                      <a:r>
                        <a:rPr lang="en-US"/>
                        <a:t>121</a:t>
                      </a:r>
                    </a:p>
                  </a:txBody>
                  <a:tcPr anchor="ctr"/>
                </a:tc>
                <a:tc>
                  <a:txBody>
                    <a:bodyPr/>
                    <a:lstStyle/>
                    <a:p>
                      <a:pPr algn="ctr">
                        <a:buNone/>
                      </a:pPr>
                      <a:r>
                        <a:rPr lang="en-US"/>
                        <a:t>23,68,57,481</a:t>
                      </a:r>
                    </a:p>
                  </a:txBody>
                  <a:tcPr anchor="ctr"/>
                </a:tc>
                <a:tc>
                  <a:txBody>
                    <a:bodyPr/>
                    <a:lstStyle/>
                    <a:p>
                      <a:pPr algn="ctr">
                        <a:buNone/>
                      </a:pPr>
                      <a:r>
                        <a:rPr lang="en-US"/>
                        <a:t>59,88,200</a:t>
                      </a:r>
                    </a:p>
                  </a:txBody>
                  <a:tcPr anchor="ctr"/>
                </a:tc>
                <a:tc>
                  <a:txBody>
                    <a:bodyPr/>
                    <a:lstStyle/>
                    <a:p>
                      <a:pPr algn="ctr">
                        <a:buNone/>
                      </a:pPr>
                      <a:r>
                        <a:rPr lang="en-US" dirty="0"/>
                        <a:t>4,44,69,281</a:t>
                      </a:r>
                    </a:p>
                  </a:txBody>
                  <a:tcPr anchor="ctr"/>
                </a:tc>
                <a:tc>
                  <a:txBody>
                    <a:bodyPr/>
                    <a:lstStyle/>
                    <a:p>
                      <a:pPr algn="ctr">
                        <a:buNone/>
                      </a:pPr>
                      <a:r>
                        <a:rPr lang="en-US" dirty="0"/>
                        <a:t>18.77 %</a:t>
                      </a:r>
                    </a:p>
                  </a:txBody>
                  <a:tcPr anchor="ctr"/>
                </a:tc>
                <a:extLst>
                  <a:ext uri="{0D108BD9-81ED-4DB2-BD59-A6C34878D82A}">
                    <a16:rowId xmlns:a16="http://schemas.microsoft.com/office/drawing/2014/main" val="1710489907"/>
                  </a:ext>
                </a:extLst>
              </a:tr>
            </a:tbl>
          </a:graphicData>
        </a:graphic>
      </p:graphicFrame>
      <p:sp>
        <p:nvSpPr>
          <p:cNvPr id="16" name="Title 1">
            <a:extLst>
              <a:ext uri="{FF2B5EF4-FFF2-40B4-BE49-F238E27FC236}">
                <a16:creationId xmlns:a16="http://schemas.microsoft.com/office/drawing/2014/main" id="{15DEE368-48E5-421E-8609-1234459DB58A}"/>
              </a:ext>
            </a:extLst>
          </p:cNvPr>
          <p:cNvSpPr txBox="1">
            <a:spLocks/>
          </p:cNvSpPr>
          <p:nvPr/>
        </p:nvSpPr>
        <p:spPr>
          <a:xfrm>
            <a:off x="51651" y="3373767"/>
            <a:ext cx="1653581" cy="343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Year 2024 Delhi:</a:t>
            </a:r>
          </a:p>
        </p:txBody>
      </p:sp>
      <p:graphicFrame>
        <p:nvGraphicFramePr>
          <p:cNvPr id="17" name="Table 16">
            <a:extLst>
              <a:ext uri="{FF2B5EF4-FFF2-40B4-BE49-F238E27FC236}">
                <a16:creationId xmlns:a16="http://schemas.microsoft.com/office/drawing/2014/main" id="{DE2D07C3-4EED-AC67-5327-F650CDB2A9E6}"/>
              </a:ext>
            </a:extLst>
          </p:cNvPr>
          <p:cNvGraphicFramePr>
            <a:graphicFrameLocks noGrp="1"/>
          </p:cNvGraphicFramePr>
          <p:nvPr>
            <p:extLst>
              <p:ext uri="{D42A27DB-BD31-4B8C-83A1-F6EECF244321}">
                <p14:modId xmlns:p14="http://schemas.microsoft.com/office/powerpoint/2010/main" val="48104736"/>
              </p:ext>
            </p:extLst>
          </p:nvPr>
        </p:nvGraphicFramePr>
        <p:xfrm>
          <a:off x="51651" y="3763156"/>
          <a:ext cx="11921466" cy="1854200"/>
        </p:xfrm>
        <a:graphic>
          <a:graphicData uri="http://schemas.openxmlformats.org/drawingml/2006/table">
            <a:tbl>
              <a:tblPr firstRow="1" bandRow="1">
                <a:tableStyleId>{00A15C55-8517-42AA-B614-E9B94910E393}</a:tableStyleId>
              </a:tblPr>
              <a:tblGrid>
                <a:gridCol w="1986911">
                  <a:extLst>
                    <a:ext uri="{9D8B030D-6E8A-4147-A177-3AD203B41FA5}">
                      <a16:colId xmlns:a16="http://schemas.microsoft.com/office/drawing/2014/main" val="4135554226"/>
                    </a:ext>
                  </a:extLst>
                </a:gridCol>
                <a:gridCol w="1986911">
                  <a:extLst>
                    <a:ext uri="{9D8B030D-6E8A-4147-A177-3AD203B41FA5}">
                      <a16:colId xmlns:a16="http://schemas.microsoft.com/office/drawing/2014/main" val="2617746219"/>
                    </a:ext>
                  </a:extLst>
                </a:gridCol>
                <a:gridCol w="1986911">
                  <a:extLst>
                    <a:ext uri="{9D8B030D-6E8A-4147-A177-3AD203B41FA5}">
                      <a16:colId xmlns:a16="http://schemas.microsoft.com/office/drawing/2014/main" val="4091420525"/>
                    </a:ext>
                  </a:extLst>
                </a:gridCol>
                <a:gridCol w="1986911">
                  <a:extLst>
                    <a:ext uri="{9D8B030D-6E8A-4147-A177-3AD203B41FA5}">
                      <a16:colId xmlns:a16="http://schemas.microsoft.com/office/drawing/2014/main" val="2705740483"/>
                    </a:ext>
                  </a:extLst>
                </a:gridCol>
                <a:gridCol w="1986911">
                  <a:extLst>
                    <a:ext uri="{9D8B030D-6E8A-4147-A177-3AD203B41FA5}">
                      <a16:colId xmlns:a16="http://schemas.microsoft.com/office/drawing/2014/main" val="1464686739"/>
                    </a:ext>
                  </a:extLst>
                </a:gridCol>
                <a:gridCol w="1986911">
                  <a:extLst>
                    <a:ext uri="{9D8B030D-6E8A-4147-A177-3AD203B41FA5}">
                      <a16:colId xmlns:a16="http://schemas.microsoft.com/office/drawing/2014/main" val="925657620"/>
                    </a:ext>
                  </a:extLst>
                </a:gridCol>
              </a:tblGrid>
              <a:tr h="370840">
                <a:tc>
                  <a:txBody>
                    <a:bodyPr/>
                    <a:lstStyle/>
                    <a:p>
                      <a:pPr algn="ctr" fontAlgn="b">
                        <a:buNone/>
                      </a:pPr>
                      <a:r>
                        <a:rPr lang="en-US" sz="1600" b="1" u="none" strike="noStrike" dirty="0">
                          <a:solidFill>
                            <a:srgbClr val="000000"/>
                          </a:solidFill>
                          <a:effectLst/>
                        </a:rPr>
                        <a:t> Segment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Units</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Revenue</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Allocated Cost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Segment Net Profit</a:t>
                      </a:r>
                      <a:endParaRPr lang="en-US" sz="16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600" b="1" u="none" strike="noStrike" dirty="0">
                          <a:solidFill>
                            <a:srgbClr val="000000"/>
                          </a:solidFill>
                          <a:effectLst/>
                        </a:rPr>
                        <a:t> Net Margin %</a:t>
                      </a:r>
                      <a:endParaRPr lang="en-US" sz="16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53557313"/>
                  </a:ext>
                </a:extLst>
              </a:tr>
              <a:tr h="370840">
                <a:tc>
                  <a:txBody>
                    <a:bodyPr/>
                    <a:lstStyle/>
                    <a:p>
                      <a:pPr>
                        <a:buNone/>
                      </a:pPr>
                      <a:r>
                        <a:rPr lang="en-US"/>
                        <a:t>Hatchback</a:t>
                      </a:r>
                    </a:p>
                  </a:txBody>
                  <a:tcPr anchor="ctr"/>
                </a:tc>
                <a:tc>
                  <a:txBody>
                    <a:bodyPr/>
                    <a:lstStyle/>
                    <a:p>
                      <a:pPr algn="ctr">
                        <a:buNone/>
                      </a:pPr>
                      <a:r>
                        <a:rPr lang="en-US" dirty="0"/>
                        <a:t>48</a:t>
                      </a:r>
                    </a:p>
                  </a:txBody>
                  <a:tcPr anchor="ctr"/>
                </a:tc>
                <a:tc>
                  <a:txBody>
                    <a:bodyPr/>
                    <a:lstStyle/>
                    <a:p>
                      <a:pPr algn="ctr">
                        <a:buNone/>
                      </a:pPr>
                      <a:r>
                        <a:rPr lang="en-US"/>
                        <a:t>3,44,84,014</a:t>
                      </a:r>
                    </a:p>
                  </a:txBody>
                  <a:tcPr anchor="ctr"/>
                </a:tc>
                <a:tc>
                  <a:txBody>
                    <a:bodyPr/>
                    <a:lstStyle/>
                    <a:p>
                      <a:pPr algn="ctr">
                        <a:buNone/>
                      </a:pPr>
                      <a:r>
                        <a:rPr lang="en-US"/>
                        <a:t>21,04,758</a:t>
                      </a:r>
                    </a:p>
                  </a:txBody>
                  <a:tcPr anchor="ctr"/>
                </a:tc>
                <a:tc>
                  <a:txBody>
                    <a:bodyPr/>
                    <a:lstStyle/>
                    <a:p>
                      <a:pPr algn="ctr">
                        <a:buNone/>
                      </a:pPr>
                      <a:r>
                        <a:rPr lang="en-US"/>
                        <a:t>59,54,256</a:t>
                      </a:r>
                    </a:p>
                  </a:txBody>
                  <a:tcPr anchor="ctr"/>
                </a:tc>
                <a:tc>
                  <a:txBody>
                    <a:bodyPr/>
                    <a:lstStyle/>
                    <a:p>
                      <a:pPr algn="ctr">
                        <a:buNone/>
                      </a:pPr>
                      <a:r>
                        <a:rPr lang="en-US"/>
                        <a:t>17.27 %</a:t>
                      </a:r>
                    </a:p>
                  </a:txBody>
                  <a:tcPr anchor="ctr"/>
                </a:tc>
                <a:extLst>
                  <a:ext uri="{0D108BD9-81ED-4DB2-BD59-A6C34878D82A}">
                    <a16:rowId xmlns:a16="http://schemas.microsoft.com/office/drawing/2014/main" val="331238190"/>
                  </a:ext>
                </a:extLst>
              </a:tr>
              <a:tr h="370840">
                <a:tc>
                  <a:txBody>
                    <a:bodyPr/>
                    <a:lstStyle/>
                    <a:p>
                      <a:pPr>
                        <a:buNone/>
                      </a:pPr>
                      <a:r>
                        <a:rPr lang="en-US"/>
                        <a:t>Luxury</a:t>
                      </a:r>
                    </a:p>
                  </a:txBody>
                  <a:tcPr anchor="ctr"/>
                </a:tc>
                <a:tc>
                  <a:txBody>
                    <a:bodyPr/>
                    <a:lstStyle/>
                    <a:p>
                      <a:pPr algn="ctr">
                        <a:buNone/>
                      </a:pPr>
                      <a:r>
                        <a:rPr lang="en-US"/>
                        <a:t>24</a:t>
                      </a:r>
                    </a:p>
                  </a:txBody>
                  <a:tcPr anchor="ctr"/>
                </a:tc>
                <a:tc>
                  <a:txBody>
                    <a:bodyPr/>
                    <a:lstStyle/>
                    <a:p>
                      <a:pPr algn="ctr">
                        <a:buNone/>
                      </a:pPr>
                      <a:r>
                        <a:rPr lang="en-US" dirty="0"/>
                        <a:t>22,12,18,729</a:t>
                      </a:r>
                    </a:p>
                  </a:txBody>
                  <a:tcPr anchor="ctr"/>
                </a:tc>
                <a:tc>
                  <a:txBody>
                    <a:bodyPr/>
                    <a:lstStyle/>
                    <a:p>
                      <a:pPr algn="ctr">
                        <a:buNone/>
                      </a:pPr>
                      <a:r>
                        <a:rPr lang="en-US" dirty="0"/>
                        <a:t>10,52,379</a:t>
                      </a:r>
                    </a:p>
                  </a:txBody>
                  <a:tcPr anchor="ctr"/>
                </a:tc>
                <a:tc>
                  <a:txBody>
                    <a:bodyPr/>
                    <a:lstStyle/>
                    <a:p>
                      <a:pPr algn="ctr">
                        <a:buNone/>
                      </a:pPr>
                      <a:r>
                        <a:rPr lang="en-US"/>
                        <a:t>3,93,36,350</a:t>
                      </a:r>
                    </a:p>
                  </a:txBody>
                  <a:tcPr anchor="ctr"/>
                </a:tc>
                <a:tc>
                  <a:txBody>
                    <a:bodyPr/>
                    <a:lstStyle/>
                    <a:p>
                      <a:pPr algn="ctr">
                        <a:buNone/>
                      </a:pPr>
                      <a:r>
                        <a:rPr lang="en-US"/>
                        <a:t>17.78 %</a:t>
                      </a:r>
                    </a:p>
                  </a:txBody>
                  <a:tcPr anchor="ctr"/>
                </a:tc>
                <a:extLst>
                  <a:ext uri="{0D108BD9-81ED-4DB2-BD59-A6C34878D82A}">
                    <a16:rowId xmlns:a16="http://schemas.microsoft.com/office/drawing/2014/main" val="453292965"/>
                  </a:ext>
                </a:extLst>
              </a:tr>
              <a:tr h="370840">
                <a:tc>
                  <a:txBody>
                    <a:bodyPr/>
                    <a:lstStyle/>
                    <a:p>
                      <a:pPr>
                        <a:buNone/>
                      </a:pPr>
                      <a:r>
                        <a:rPr lang="en-US"/>
                        <a:t>Sedan</a:t>
                      </a:r>
                    </a:p>
                  </a:txBody>
                  <a:tcPr anchor="ctr"/>
                </a:tc>
                <a:tc>
                  <a:txBody>
                    <a:bodyPr/>
                    <a:lstStyle/>
                    <a:p>
                      <a:pPr algn="ctr">
                        <a:buNone/>
                      </a:pPr>
                      <a:r>
                        <a:rPr lang="en-US"/>
                        <a:t>39</a:t>
                      </a:r>
                    </a:p>
                  </a:txBody>
                  <a:tcPr anchor="ctr"/>
                </a:tc>
                <a:tc>
                  <a:txBody>
                    <a:bodyPr/>
                    <a:lstStyle/>
                    <a:p>
                      <a:pPr algn="ctr">
                        <a:buNone/>
                      </a:pPr>
                      <a:r>
                        <a:rPr lang="en-US"/>
                        <a:t>6,15,25,231</a:t>
                      </a:r>
                    </a:p>
                  </a:txBody>
                  <a:tcPr anchor="ctr"/>
                </a:tc>
                <a:tc>
                  <a:txBody>
                    <a:bodyPr/>
                    <a:lstStyle/>
                    <a:p>
                      <a:pPr algn="ctr">
                        <a:buNone/>
                      </a:pPr>
                      <a:r>
                        <a:rPr lang="en-US" dirty="0"/>
                        <a:t>17,10,116</a:t>
                      </a:r>
                    </a:p>
                  </a:txBody>
                  <a:tcPr anchor="ctr"/>
                </a:tc>
                <a:tc>
                  <a:txBody>
                    <a:bodyPr/>
                    <a:lstStyle/>
                    <a:p>
                      <a:pPr algn="ctr">
                        <a:buNone/>
                      </a:pPr>
                      <a:r>
                        <a:rPr lang="en-US" dirty="0"/>
                        <a:t>1,15,45,115</a:t>
                      </a:r>
                    </a:p>
                  </a:txBody>
                  <a:tcPr anchor="ctr"/>
                </a:tc>
                <a:tc>
                  <a:txBody>
                    <a:bodyPr/>
                    <a:lstStyle/>
                    <a:p>
                      <a:pPr algn="ctr">
                        <a:buNone/>
                      </a:pPr>
                      <a:r>
                        <a:rPr lang="en-US"/>
                        <a:t>18.76 %</a:t>
                      </a:r>
                    </a:p>
                  </a:txBody>
                  <a:tcPr anchor="ctr"/>
                </a:tc>
                <a:extLst>
                  <a:ext uri="{0D108BD9-81ED-4DB2-BD59-A6C34878D82A}">
                    <a16:rowId xmlns:a16="http://schemas.microsoft.com/office/drawing/2014/main" val="3042950707"/>
                  </a:ext>
                </a:extLst>
              </a:tr>
              <a:tr h="370840">
                <a:tc>
                  <a:txBody>
                    <a:bodyPr/>
                    <a:lstStyle/>
                    <a:p>
                      <a:pPr>
                        <a:buNone/>
                      </a:pPr>
                      <a:r>
                        <a:rPr lang="en-US"/>
                        <a:t>SUV</a:t>
                      </a:r>
                    </a:p>
                  </a:txBody>
                  <a:tcPr anchor="ctr"/>
                </a:tc>
                <a:tc>
                  <a:txBody>
                    <a:bodyPr/>
                    <a:lstStyle/>
                    <a:p>
                      <a:pPr algn="ctr">
                        <a:buNone/>
                      </a:pPr>
                      <a:r>
                        <a:rPr lang="en-US"/>
                        <a:t>105</a:t>
                      </a:r>
                    </a:p>
                  </a:txBody>
                  <a:tcPr anchor="ctr"/>
                </a:tc>
                <a:tc>
                  <a:txBody>
                    <a:bodyPr/>
                    <a:lstStyle/>
                    <a:p>
                      <a:pPr algn="ctr">
                        <a:buNone/>
                      </a:pPr>
                      <a:r>
                        <a:rPr lang="en-US"/>
                        <a:t>23,65,70,939</a:t>
                      </a:r>
                    </a:p>
                  </a:txBody>
                  <a:tcPr anchor="ctr"/>
                </a:tc>
                <a:tc>
                  <a:txBody>
                    <a:bodyPr/>
                    <a:lstStyle/>
                    <a:p>
                      <a:pPr algn="ctr">
                        <a:buNone/>
                      </a:pPr>
                      <a:r>
                        <a:rPr lang="en-US"/>
                        <a:t>46,04,158</a:t>
                      </a:r>
                    </a:p>
                  </a:txBody>
                  <a:tcPr anchor="ctr"/>
                </a:tc>
                <a:tc>
                  <a:txBody>
                    <a:bodyPr/>
                    <a:lstStyle/>
                    <a:p>
                      <a:pPr algn="ctr">
                        <a:buNone/>
                      </a:pPr>
                      <a:r>
                        <a:rPr lang="en-US"/>
                        <a:t>4,49,66,780</a:t>
                      </a:r>
                    </a:p>
                  </a:txBody>
                  <a:tcPr anchor="ctr"/>
                </a:tc>
                <a:tc>
                  <a:txBody>
                    <a:bodyPr/>
                    <a:lstStyle/>
                    <a:p>
                      <a:pPr algn="ctr">
                        <a:buNone/>
                      </a:pPr>
                      <a:r>
                        <a:rPr lang="en-US" dirty="0"/>
                        <a:t>19.01 %</a:t>
                      </a:r>
                    </a:p>
                  </a:txBody>
                  <a:tcPr anchor="ctr"/>
                </a:tc>
                <a:extLst>
                  <a:ext uri="{0D108BD9-81ED-4DB2-BD59-A6C34878D82A}">
                    <a16:rowId xmlns:a16="http://schemas.microsoft.com/office/drawing/2014/main" val="1710489907"/>
                  </a:ext>
                </a:extLst>
              </a:tr>
            </a:tbl>
          </a:graphicData>
        </a:graphic>
      </p:graphicFrame>
      <p:sp>
        <p:nvSpPr>
          <p:cNvPr id="3" name="Title 1">
            <a:extLst>
              <a:ext uri="{FF2B5EF4-FFF2-40B4-BE49-F238E27FC236}">
                <a16:creationId xmlns:a16="http://schemas.microsoft.com/office/drawing/2014/main" id="{E7A45758-4B12-BED5-AFBF-6511DDA09A45}"/>
              </a:ext>
            </a:extLst>
          </p:cNvPr>
          <p:cNvSpPr txBox="1">
            <a:spLocks/>
          </p:cNvSpPr>
          <p:nvPr/>
        </p:nvSpPr>
        <p:spPr>
          <a:xfrm>
            <a:off x="51651" y="5663529"/>
            <a:ext cx="12013517" cy="741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00" dirty="0">
                <a:latin typeface="Comic Sans MS" panose="030F0702030302020204" pitchFamily="66" charset="0"/>
              </a:rPr>
              <a:t>Delhi is more profitable than Mumbai because it has higher margins per vehicle and lower operating costs, leading to better profit efficiency in 2024 with a yearly operating cost of 94,71,412.  </a:t>
            </a:r>
          </a:p>
        </p:txBody>
      </p:sp>
    </p:spTree>
    <p:extLst>
      <p:ext uri="{BB962C8B-B14F-4D97-AF65-F5344CB8AC3E}">
        <p14:creationId xmlns:p14="http://schemas.microsoft.com/office/powerpoint/2010/main" val="2899055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36AD6-AF58-BFD2-1E6A-218948EEC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FB7D3-3C39-C139-F535-894D58F16757}"/>
              </a:ext>
            </a:extLst>
          </p:cNvPr>
          <p:cNvSpPr>
            <a:spLocks noGrp="1"/>
          </p:cNvSpPr>
          <p:nvPr>
            <p:ph type="title"/>
          </p:nvPr>
        </p:nvSpPr>
        <p:spPr>
          <a:xfrm>
            <a:off x="220929" y="64417"/>
            <a:ext cx="11709229" cy="432674"/>
          </a:xfrm>
        </p:spPr>
        <p:txBody>
          <a:bodyPr>
            <a:normAutofit/>
          </a:bodyPr>
          <a:lstStyle/>
          <a:p>
            <a:r>
              <a:rPr lang="en-US" sz="1800" dirty="0">
                <a:latin typeface="Comic Sans MS" panose="030F0702030302020204" pitchFamily="66" charset="0"/>
              </a:rPr>
              <a:t>Expansion Recommendation</a:t>
            </a:r>
          </a:p>
        </p:txBody>
      </p:sp>
      <p:sp>
        <p:nvSpPr>
          <p:cNvPr id="3" name="Content Placeholder 2">
            <a:extLst>
              <a:ext uri="{FF2B5EF4-FFF2-40B4-BE49-F238E27FC236}">
                <a16:creationId xmlns:a16="http://schemas.microsoft.com/office/drawing/2014/main" id="{F4C63461-1CCE-2ACA-5304-BC7C43A5E342}"/>
              </a:ext>
            </a:extLst>
          </p:cNvPr>
          <p:cNvSpPr>
            <a:spLocks noGrp="1"/>
          </p:cNvSpPr>
          <p:nvPr>
            <p:ph idx="1"/>
          </p:nvPr>
        </p:nvSpPr>
        <p:spPr>
          <a:xfrm>
            <a:off x="141149" y="435722"/>
            <a:ext cx="11899474" cy="6314882"/>
          </a:xfrm>
        </p:spPr>
        <p:txBody>
          <a:bodyPr>
            <a:normAutofit/>
          </a:bodyPr>
          <a:lstStyle/>
          <a:p>
            <a:pPr marL="0" indent="0">
              <a:lnSpc>
                <a:spcPct val="150000"/>
              </a:lnSpc>
              <a:buNone/>
            </a:pPr>
            <a:r>
              <a:rPr lang="en-US" sz="1400" dirty="0">
                <a:latin typeface="Comic Sans MS" panose="030F0702030302020204" pitchFamily="66" charset="0"/>
              </a:rPr>
              <a:t>Delhi showroom demonstrates stronger profitability efficiency as compared to Mumbai making it more scalable and sustainable candidate for expansion. </a:t>
            </a:r>
          </a:p>
          <a:p>
            <a:pPr marL="0" indent="0">
              <a:lnSpc>
                <a:spcPct val="150000"/>
              </a:lnSpc>
              <a:buNone/>
            </a:pPr>
            <a:r>
              <a:rPr lang="en-US" sz="1400" dirty="0">
                <a:latin typeface="Comic Sans MS" panose="030F0702030302020204" pitchFamily="66" charset="0"/>
              </a:rPr>
              <a:t>Supporting Metrics</a:t>
            </a:r>
          </a:p>
          <a:p>
            <a:pPr marL="0" indent="0">
              <a:lnSpc>
                <a:spcPct val="150000"/>
              </a:lnSpc>
              <a:buNone/>
            </a:pPr>
            <a:r>
              <a:rPr lang="en-US" sz="1400" u="sng" dirty="0">
                <a:latin typeface="Comic Sans MS" panose="030F0702030302020204" pitchFamily="66" charset="0"/>
              </a:rPr>
              <a:t>Better Margin Performance</a:t>
            </a:r>
          </a:p>
          <a:p>
            <a:pPr>
              <a:lnSpc>
                <a:spcPct val="100000"/>
              </a:lnSpc>
            </a:pPr>
            <a:r>
              <a:rPr lang="en-US" sz="1400" dirty="0">
                <a:latin typeface="Comic Sans MS" panose="030F0702030302020204" pitchFamily="66" charset="0"/>
              </a:rPr>
              <a:t>Delhi showroom has a gross margin of ~20% in year 2024.</a:t>
            </a:r>
          </a:p>
          <a:p>
            <a:pPr>
              <a:lnSpc>
                <a:spcPct val="100000"/>
              </a:lnSpc>
            </a:pPr>
            <a:r>
              <a:rPr lang="en-US" sz="1400" dirty="0">
                <a:latin typeface="Comic Sans MS" panose="030F0702030302020204" pitchFamily="66" charset="0"/>
              </a:rPr>
              <a:t>Mumbai showroom has a gross margin of ~19.67% in year 2024.</a:t>
            </a:r>
          </a:p>
          <a:p>
            <a:pPr>
              <a:lnSpc>
                <a:spcPct val="100000"/>
              </a:lnSpc>
            </a:pPr>
            <a:r>
              <a:rPr lang="en-US" sz="1400" dirty="0">
                <a:latin typeface="Comic Sans MS" panose="030F0702030302020204" pitchFamily="66" charset="0"/>
              </a:rPr>
              <a:t>Also, Delhi showroom maintains higher margins across calendar year 2023 and 2024.</a:t>
            </a:r>
          </a:p>
          <a:p>
            <a:pPr marL="0" indent="0">
              <a:lnSpc>
                <a:spcPct val="100000"/>
              </a:lnSpc>
              <a:buNone/>
            </a:pPr>
            <a:endParaRPr lang="en-US" sz="1400" dirty="0">
              <a:latin typeface="Comic Sans MS" panose="030F0702030302020204" pitchFamily="66" charset="0"/>
            </a:endParaRPr>
          </a:p>
          <a:p>
            <a:pPr marL="0" indent="0">
              <a:lnSpc>
                <a:spcPct val="100000"/>
              </a:lnSpc>
              <a:buNone/>
            </a:pPr>
            <a:r>
              <a:rPr lang="en-US" sz="1400" u="sng" dirty="0">
                <a:latin typeface="Comic Sans MS" panose="030F0702030302020204" pitchFamily="66" charset="0"/>
              </a:rPr>
              <a:t>Higher Profit per vehicle</a:t>
            </a:r>
          </a:p>
          <a:p>
            <a:pPr>
              <a:lnSpc>
                <a:spcPct val="100000"/>
              </a:lnSpc>
            </a:pPr>
            <a:r>
              <a:rPr lang="en-US" sz="1400" dirty="0">
                <a:latin typeface="Comic Sans MS" panose="030F0702030302020204" pitchFamily="66" charset="0"/>
              </a:rPr>
              <a:t>The avg profit of Delhi showroom per vehicle is of ₹5,35,968.</a:t>
            </a:r>
          </a:p>
          <a:p>
            <a:pPr>
              <a:lnSpc>
                <a:spcPct val="100000"/>
              </a:lnSpc>
            </a:pPr>
            <a:r>
              <a:rPr lang="en-US" sz="1400" dirty="0">
                <a:latin typeface="Comic Sans MS" panose="030F0702030302020204" pitchFamily="66" charset="0"/>
              </a:rPr>
              <a:t>The avg profit of Mumbai showroom per vehicle is of ₹5,29,819.</a:t>
            </a:r>
          </a:p>
          <a:p>
            <a:pPr>
              <a:lnSpc>
                <a:spcPct val="100000"/>
              </a:lnSpc>
            </a:pPr>
            <a:r>
              <a:rPr lang="en-US" sz="1400" dirty="0">
                <a:latin typeface="Comic Sans MS" panose="030F0702030302020204" pitchFamily="66" charset="0"/>
              </a:rPr>
              <a:t>Delhi has ~1.15% profitability than Mumbai on every unit it sells.</a:t>
            </a:r>
          </a:p>
          <a:p>
            <a:pPr marL="0" indent="0">
              <a:lnSpc>
                <a:spcPct val="100000"/>
              </a:lnSpc>
              <a:buNone/>
            </a:pPr>
            <a:endParaRPr lang="en-US" sz="1400" dirty="0">
              <a:latin typeface="Comic Sans MS" panose="030F0702030302020204" pitchFamily="66" charset="0"/>
            </a:endParaRPr>
          </a:p>
          <a:p>
            <a:pPr marL="0" indent="0">
              <a:lnSpc>
                <a:spcPct val="100000"/>
              </a:lnSpc>
              <a:buNone/>
            </a:pPr>
            <a:r>
              <a:rPr lang="en-US" sz="1400" u="sng" dirty="0">
                <a:latin typeface="Comic Sans MS" panose="030F0702030302020204" pitchFamily="66" charset="0"/>
              </a:rPr>
              <a:t>Lower Operating Cost</a:t>
            </a:r>
          </a:p>
          <a:p>
            <a:pPr>
              <a:lnSpc>
                <a:spcPct val="100000"/>
              </a:lnSpc>
            </a:pPr>
            <a:r>
              <a:rPr lang="en-US" sz="1400" dirty="0">
                <a:latin typeface="Comic Sans MS" panose="030F0702030302020204" pitchFamily="66" charset="0"/>
              </a:rPr>
              <a:t>Delhi showroom has  operating cost of ₹94.7 lakhs per month.</a:t>
            </a:r>
          </a:p>
          <a:p>
            <a:pPr>
              <a:lnSpc>
                <a:spcPct val="100000"/>
              </a:lnSpc>
            </a:pPr>
            <a:r>
              <a:rPr lang="en-US" sz="1400" dirty="0">
                <a:latin typeface="Comic Sans MS" panose="030F0702030302020204" pitchFamily="66" charset="0"/>
              </a:rPr>
              <a:t>Mumbai showroom has  operating cost of ₹1.26 crores per month.</a:t>
            </a:r>
          </a:p>
          <a:p>
            <a:pPr>
              <a:lnSpc>
                <a:spcPct val="100000"/>
              </a:lnSpc>
            </a:pPr>
            <a:r>
              <a:rPr lang="en-US" sz="1400" dirty="0">
                <a:latin typeface="Comic Sans MS" panose="030F0702030302020204" pitchFamily="66" charset="0"/>
              </a:rPr>
              <a:t>Delhi showroom has ~25% lower operating cost leading to higher profit efficiency.</a:t>
            </a:r>
          </a:p>
        </p:txBody>
      </p:sp>
    </p:spTree>
    <p:extLst>
      <p:ext uri="{BB962C8B-B14F-4D97-AF65-F5344CB8AC3E}">
        <p14:creationId xmlns:p14="http://schemas.microsoft.com/office/powerpoint/2010/main" val="4207420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ED43D-C9F4-B203-A5F2-19520A991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D8EC2-5CC9-989B-4C05-BDB00CFEC31B}"/>
              </a:ext>
            </a:extLst>
          </p:cNvPr>
          <p:cNvSpPr>
            <a:spLocks noGrp="1"/>
          </p:cNvSpPr>
          <p:nvPr>
            <p:ph type="title"/>
          </p:nvPr>
        </p:nvSpPr>
        <p:spPr>
          <a:xfrm>
            <a:off x="220929" y="64417"/>
            <a:ext cx="11709229" cy="432674"/>
          </a:xfrm>
        </p:spPr>
        <p:txBody>
          <a:bodyPr>
            <a:normAutofit/>
          </a:bodyPr>
          <a:lstStyle/>
          <a:p>
            <a:r>
              <a:rPr lang="en-US" sz="1800" dirty="0">
                <a:latin typeface="Comic Sans MS" panose="030F0702030302020204" pitchFamily="66" charset="0"/>
              </a:rPr>
              <a:t>Expansion Recommendation</a:t>
            </a:r>
          </a:p>
        </p:txBody>
      </p:sp>
      <p:sp>
        <p:nvSpPr>
          <p:cNvPr id="3" name="Content Placeholder 2">
            <a:extLst>
              <a:ext uri="{FF2B5EF4-FFF2-40B4-BE49-F238E27FC236}">
                <a16:creationId xmlns:a16="http://schemas.microsoft.com/office/drawing/2014/main" id="{C61C7AFF-EFE0-FC2C-4C67-27E51C860818}"/>
              </a:ext>
            </a:extLst>
          </p:cNvPr>
          <p:cNvSpPr>
            <a:spLocks noGrp="1"/>
          </p:cNvSpPr>
          <p:nvPr>
            <p:ph idx="1"/>
          </p:nvPr>
        </p:nvSpPr>
        <p:spPr>
          <a:xfrm>
            <a:off x="141149" y="595280"/>
            <a:ext cx="11899474" cy="6155323"/>
          </a:xfrm>
        </p:spPr>
        <p:txBody>
          <a:bodyPr>
            <a:normAutofit/>
          </a:bodyPr>
          <a:lstStyle/>
          <a:p>
            <a:pPr marL="0" indent="0">
              <a:lnSpc>
                <a:spcPct val="100000"/>
              </a:lnSpc>
              <a:buNone/>
            </a:pPr>
            <a:r>
              <a:rPr lang="en-US" sz="1400" u="sng" dirty="0">
                <a:latin typeface="Comic Sans MS" panose="030F0702030302020204" pitchFamily="66" charset="0"/>
              </a:rPr>
              <a:t>Strong Revenue to profit conversion</a:t>
            </a:r>
          </a:p>
          <a:p>
            <a:pPr marL="0" indent="0">
              <a:lnSpc>
                <a:spcPct val="100000"/>
              </a:lnSpc>
              <a:buNone/>
            </a:pPr>
            <a:r>
              <a:rPr lang="en-US" sz="1400" dirty="0">
                <a:latin typeface="Comic Sans MS" panose="030F0702030302020204" pitchFamily="66" charset="0"/>
              </a:rPr>
              <a:t>Despite lower revenue:</a:t>
            </a:r>
          </a:p>
          <a:p>
            <a:pPr>
              <a:lnSpc>
                <a:spcPct val="100000"/>
              </a:lnSpc>
            </a:pPr>
            <a:r>
              <a:rPr lang="en-US" sz="1400" dirty="0">
                <a:latin typeface="Comic Sans MS" panose="030F0702030302020204" pitchFamily="66" charset="0"/>
              </a:rPr>
              <a:t>Delhi showroom has a net profit margin of ~18.38% in year 2024.</a:t>
            </a:r>
          </a:p>
          <a:p>
            <a:pPr>
              <a:lnSpc>
                <a:spcPct val="100000"/>
              </a:lnSpc>
            </a:pPr>
            <a:r>
              <a:rPr lang="en-US" sz="1400" dirty="0">
                <a:latin typeface="Comic Sans MS" panose="030F0702030302020204" pitchFamily="66" charset="0"/>
              </a:rPr>
              <a:t>Mumbai showroom has a profit margin of ~18.31 in year 2024.</a:t>
            </a:r>
          </a:p>
          <a:p>
            <a:pPr>
              <a:lnSpc>
                <a:spcPct val="100000"/>
              </a:lnSpc>
            </a:pPr>
            <a:r>
              <a:rPr lang="en-US" sz="1400" dirty="0">
                <a:latin typeface="Comic Sans MS" panose="030F0702030302020204" pitchFamily="66" charset="0"/>
              </a:rPr>
              <a:t>Therefore, Delhi showroom converts revenue into profit more efficiently.</a:t>
            </a:r>
          </a:p>
        </p:txBody>
      </p:sp>
    </p:spTree>
    <p:extLst>
      <p:ext uri="{BB962C8B-B14F-4D97-AF65-F5344CB8AC3E}">
        <p14:creationId xmlns:p14="http://schemas.microsoft.com/office/powerpoint/2010/main" val="3823617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3E705-39C6-F0C6-3035-4CB31DB17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148B7-D793-2F03-C5A1-16720A7EED86}"/>
              </a:ext>
            </a:extLst>
          </p:cNvPr>
          <p:cNvSpPr>
            <a:spLocks noGrp="1"/>
          </p:cNvSpPr>
          <p:nvPr>
            <p:ph type="title"/>
          </p:nvPr>
        </p:nvSpPr>
        <p:spPr>
          <a:xfrm>
            <a:off x="220929" y="64417"/>
            <a:ext cx="11709229" cy="432674"/>
          </a:xfrm>
        </p:spPr>
        <p:txBody>
          <a:bodyPr>
            <a:normAutofit/>
          </a:bodyPr>
          <a:lstStyle/>
          <a:p>
            <a:r>
              <a:rPr lang="en-US" sz="1800" dirty="0">
                <a:latin typeface="Comic Sans MS" panose="030F0702030302020204" pitchFamily="66" charset="0"/>
              </a:rPr>
              <a:t>Conclusion</a:t>
            </a:r>
          </a:p>
        </p:txBody>
      </p:sp>
      <p:graphicFrame>
        <p:nvGraphicFramePr>
          <p:cNvPr id="4" name="Content Placeholder 3">
            <a:extLst>
              <a:ext uri="{FF2B5EF4-FFF2-40B4-BE49-F238E27FC236}">
                <a16:creationId xmlns:a16="http://schemas.microsoft.com/office/drawing/2014/main" id="{74F28ACD-E69D-F0B5-5C36-2DAD50B21313}"/>
              </a:ext>
            </a:extLst>
          </p:cNvPr>
          <p:cNvGraphicFramePr>
            <a:graphicFrameLocks noGrp="1"/>
          </p:cNvGraphicFramePr>
          <p:nvPr>
            <p:ph idx="1"/>
            <p:extLst>
              <p:ext uri="{D42A27DB-BD31-4B8C-83A1-F6EECF244321}">
                <p14:modId xmlns:p14="http://schemas.microsoft.com/office/powerpoint/2010/main" val="1802599136"/>
              </p:ext>
            </p:extLst>
          </p:nvPr>
        </p:nvGraphicFramePr>
        <p:xfrm>
          <a:off x="2263498" y="856777"/>
          <a:ext cx="7665003" cy="2230090"/>
        </p:xfrm>
        <a:graphic>
          <a:graphicData uri="http://schemas.openxmlformats.org/drawingml/2006/table">
            <a:tbl>
              <a:tblPr firstRow="1" bandRow="1">
                <a:tableStyleId>{073A0DAA-6AF3-43AB-8588-CEC1D06C72B9}</a:tableStyleId>
              </a:tblPr>
              <a:tblGrid>
                <a:gridCol w="2555001">
                  <a:extLst>
                    <a:ext uri="{9D8B030D-6E8A-4147-A177-3AD203B41FA5}">
                      <a16:colId xmlns:a16="http://schemas.microsoft.com/office/drawing/2014/main" val="3250776898"/>
                    </a:ext>
                  </a:extLst>
                </a:gridCol>
                <a:gridCol w="2555001">
                  <a:extLst>
                    <a:ext uri="{9D8B030D-6E8A-4147-A177-3AD203B41FA5}">
                      <a16:colId xmlns:a16="http://schemas.microsoft.com/office/drawing/2014/main" val="3203048782"/>
                    </a:ext>
                  </a:extLst>
                </a:gridCol>
                <a:gridCol w="2555001">
                  <a:extLst>
                    <a:ext uri="{9D8B030D-6E8A-4147-A177-3AD203B41FA5}">
                      <a16:colId xmlns:a16="http://schemas.microsoft.com/office/drawing/2014/main" val="253802563"/>
                    </a:ext>
                  </a:extLst>
                </a:gridCol>
              </a:tblGrid>
              <a:tr h="446018">
                <a:tc>
                  <a:txBody>
                    <a:bodyPr/>
                    <a:lstStyle/>
                    <a:p>
                      <a:r>
                        <a:rPr lang="en-US" dirty="0"/>
                        <a:t>Metric</a:t>
                      </a:r>
                    </a:p>
                  </a:txBody>
                  <a:tcPr/>
                </a:tc>
                <a:tc>
                  <a:txBody>
                    <a:bodyPr/>
                    <a:lstStyle/>
                    <a:p>
                      <a:pPr algn="ctr"/>
                      <a:r>
                        <a:rPr lang="en-US" dirty="0"/>
                        <a:t>Mumbai</a:t>
                      </a:r>
                    </a:p>
                  </a:txBody>
                  <a:tcPr/>
                </a:tc>
                <a:tc>
                  <a:txBody>
                    <a:bodyPr/>
                    <a:lstStyle/>
                    <a:p>
                      <a:pPr algn="ctr"/>
                      <a:r>
                        <a:rPr lang="en-US" dirty="0"/>
                        <a:t>Delhi</a:t>
                      </a:r>
                    </a:p>
                  </a:txBody>
                  <a:tcPr/>
                </a:tc>
                <a:extLst>
                  <a:ext uri="{0D108BD9-81ED-4DB2-BD59-A6C34878D82A}">
                    <a16:rowId xmlns:a16="http://schemas.microsoft.com/office/drawing/2014/main" val="2284268179"/>
                  </a:ext>
                </a:extLst>
              </a:tr>
              <a:tr h="446018">
                <a:tc>
                  <a:txBody>
                    <a:bodyPr/>
                    <a:lstStyle/>
                    <a:p>
                      <a:r>
                        <a:rPr lang="en-US" dirty="0"/>
                        <a:t>Revenue</a:t>
                      </a:r>
                    </a:p>
                  </a:txBody>
                  <a:tcPr/>
                </a:tc>
                <a:tc>
                  <a:txBody>
                    <a:bodyPr/>
                    <a:lstStyle/>
                    <a:p>
                      <a:pPr algn="ctr"/>
                      <a:r>
                        <a:rPr lang="en-US" dirty="0"/>
                        <a:t>Higher</a:t>
                      </a:r>
                    </a:p>
                  </a:txBody>
                  <a:tcPr/>
                </a:tc>
                <a:tc>
                  <a:txBody>
                    <a:bodyPr/>
                    <a:lstStyle/>
                    <a:p>
                      <a:pPr algn="ctr"/>
                      <a:r>
                        <a:rPr lang="en-US" dirty="0"/>
                        <a:t>Lower</a:t>
                      </a:r>
                    </a:p>
                  </a:txBody>
                  <a:tcPr/>
                </a:tc>
                <a:extLst>
                  <a:ext uri="{0D108BD9-81ED-4DB2-BD59-A6C34878D82A}">
                    <a16:rowId xmlns:a16="http://schemas.microsoft.com/office/drawing/2014/main" val="815340024"/>
                  </a:ext>
                </a:extLst>
              </a:tr>
              <a:tr h="446018">
                <a:tc>
                  <a:txBody>
                    <a:bodyPr/>
                    <a:lstStyle/>
                    <a:p>
                      <a:r>
                        <a:rPr lang="en-US" dirty="0"/>
                        <a:t>Margins</a:t>
                      </a:r>
                    </a:p>
                  </a:txBody>
                  <a:tcPr/>
                </a:tc>
                <a:tc>
                  <a:txBody>
                    <a:bodyPr/>
                    <a:lstStyle/>
                    <a:p>
                      <a:pPr algn="ctr"/>
                      <a:r>
                        <a:rPr lang="en-US" dirty="0"/>
                        <a:t>Slightly Lower</a:t>
                      </a:r>
                    </a:p>
                  </a:txBody>
                  <a:tcPr/>
                </a:tc>
                <a:tc>
                  <a:txBody>
                    <a:bodyPr/>
                    <a:lstStyle/>
                    <a:p>
                      <a:pPr algn="ctr"/>
                      <a:r>
                        <a:rPr lang="en-US" dirty="0"/>
                        <a:t>Higher</a:t>
                      </a:r>
                    </a:p>
                  </a:txBody>
                  <a:tcPr/>
                </a:tc>
                <a:extLst>
                  <a:ext uri="{0D108BD9-81ED-4DB2-BD59-A6C34878D82A}">
                    <a16:rowId xmlns:a16="http://schemas.microsoft.com/office/drawing/2014/main" val="3399222998"/>
                  </a:ext>
                </a:extLst>
              </a:tr>
              <a:tr h="446018">
                <a:tc>
                  <a:txBody>
                    <a:bodyPr/>
                    <a:lstStyle/>
                    <a:p>
                      <a:r>
                        <a:rPr lang="en-US" dirty="0"/>
                        <a:t>Operating Cost (Monthly)</a:t>
                      </a:r>
                    </a:p>
                  </a:txBody>
                  <a:tcPr/>
                </a:tc>
                <a:tc>
                  <a:txBody>
                    <a:bodyPr/>
                    <a:lstStyle/>
                    <a:p>
                      <a:pPr algn="ctr"/>
                      <a:r>
                        <a:rPr lang="en-US" dirty="0"/>
                        <a:t>Higher</a:t>
                      </a:r>
                    </a:p>
                  </a:txBody>
                  <a:tcPr/>
                </a:tc>
                <a:tc>
                  <a:txBody>
                    <a:bodyPr/>
                    <a:lstStyle/>
                    <a:p>
                      <a:pPr algn="ctr"/>
                      <a:r>
                        <a:rPr lang="en-US" dirty="0"/>
                        <a:t>Lower</a:t>
                      </a:r>
                    </a:p>
                  </a:txBody>
                  <a:tcPr/>
                </a:tc>
                <a:extLst>
                  <a:ext uri="{0D108BD9-81ED-4DB2-BD59-A6C34878D82A}">
                    <a16:rowId xmlns:a16="http://schemas.microsoft.com/office/drawing/2014/main" val="808140986"/>
                  </a:ext>
                </a:extLst>
              </a:tr>
              <a:tr h="446018">
                <a:tc>
                  <a:txBody>
                    <a:bodyPr/>
                    <a:lstStyle/>
                    <a:p>
                      <a:r>
                        <a:rPr lang="en-US" dirty="0"/>
                        <a:t>Profit Efficiency</a:t>
                      </a:r>
                    </a:p>
                  </a:txBody>
                  <a:tcPr/>
                </a:tc>
                <a:tc>
                  <a:txBody>
                    <a:bodyPr/>
                    <a:lstStyle/>
                    <a:p>
                      <a:pPr algn="ctr"/>
                      <a:r>
                        <a:rPr lang="en-US" dirty="0"/>
                        <a:t>Lower</a:t>
                      </a:r>
                    </a:p>
                  </a:txBody>
                  <a:tcPr/>
                </a:tc>
                <a:tc>
                  <a:txBody>
                    <a:bodyPr/>
                    <a:lstStyle/>
                    <a:p>
                      <a:pPr algn="ctr"/>
                      <a:r>
                        <a:rPr lang="en-US" dirty="0"/>
                        <a:t>Higher</a:t>
                      </a:r>
                    </a:p>
                  </a:txBody>
                  <a:tcPr/>
                </a:tc>
                <a:extLst>
                  <a:ext uri="{0D108BD9-81ED-4DB2-BD59-A6C34878D82A}">
                    <a16:rowId xmlns:a16="http://schemas.microsoft.com/office/drawing/2014/main" val="419658868"/>
                  </a:ext>
                </a:extLst>
              </a:tr>
            </a:tbl>
          </a:graphicData>
        </a:graphic>
      </p:graphicFrame>
      <p:sp>
        <p:nvSpPr>
          <p:cNvPr id="5" name="Content Placeholder 2">
            <a:extLst>
              <a:ext uri="{FF2B5EF4-FFF2-40B4-BE49-F238E27FC236}">
                <a16:creationId xmlns:a16="http://schemas.microsoft.com/office/drawing/2014/main" id="{F1676CEA-4530-2DE3-B1F2-1D520F301C5D}"/>
              </a:ext>
            </a:extLst>
          </p:cNvPr>
          <p:cNvSpPr txBox="1">
            <a:spLocks/>
          </p:cNvSpPr>
          <p:nvPr/>
        </p:nvSpPr>
        <p:spPr>
          <a:xfrm>
            <a:off x="141149" y="3246426"/>
            <a:ext cx="11899474" cy="711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400" dirty="0">
                <a:latin typeface="Comic Sans MS" panose="030F0702030302020204" pitchFamily="66" charset="0"/>
              </a:rPr>
              <a:t>Mumbai leads in revenue due to higher sales volume and premium mix of customers but Delhi outperforms in efficiency by generating more profit per vehicle at a lower cost. </a:t>
            </a:r>
          </a:p>
        </p:txBody>
      </p:sp>
      <p:sp>
        <p:nvSpPr>
          <p:cNvPr id="6" name="Content Placeholder 2">
            <a:extLst>
              <a:ext uri="{FF2B5EF4-FFF2-40B4-BE49-F238E27FC236}">
                <a16:creationId xmlns:a16="http://schemas.microsoft.com/office/drawing/2014/main" id="{95C434D5-87E4-8EEE-3172-EA8FD8C0E7B8}"/>
              </a:ext>
            </a:extLst>
          </p:cNvPr>
          <p:cNvSpPr txBox="1">
            <a:spLocks/>
          </p:cNvSpPr>
          <p:nvPr/>
        </p:nvSpPr>
        <p:spPr>
          <a:xfrm>
            <a:off x="125806" y="4259022"/>
            <a:ext cx="11899474" cy="3988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400" dirty="0">
                <a:latin typeface="Comic Sans MS" panose="030F0702030302020204" pitchFamily="66" charset="0"/>
              </a:rPr>
              <a:t>Final Recommendation</a:t>
            </a:r>
          </a:p>
        </p:txBody>
      </p:sp>
      <p:sp>
        <p:nvSpPr>
          <p:cNvPr id="7" name="Content Placeholder 2">
            <a:extLst>
              <a:ext uri="{FF2B5EF4-FFF2-40B4-BE49-F238E27FC236}">
                <a16:creationId xmlns:a16="http://schemas.microsoft.com/office/drawing/2014/main" id="{03236359-72F8-886A-0F8C-927125086D74}"/>
              </a:ext>
            </a:extLst>
          </p:cNvPr>
          <p:cNvSpPr txBox="1">
            <a:spLocks/>
          </p:cNvSpPr>
          <p:nvPr/>
        </p:nvSpPr>
        <p:spPr>
          <a:xfrm>
            <a:off x="110463" y="4657921"/>
            <a:ext cx="11899474" cy="7977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400" dirty="0">
                <a:latin typeface="Comic Sans MS" panose="030F0702030302020204" pitchFamily="66" charset="0"/>
              </a:rPr>
              <a:t>Prioritize Delhi for expansion as its operational efficiency, stronger margins, and lower cost structure make it more scalable and profitable for future growth.</a:t>
            </a:r>
          </a:p>
        </p:txBody>
      </p:sp>
    </p:spTree>
    <p:extLst>
      <p:ext uri="{BB962C8B-B14F-4D97-AF65-F5344CB8AC3E}">
        <p14:creationId xmlns:p14="http://schemas.microsoft.com/office/powerpoint/2010/main" val="292954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3147</TotalTime>
  <Words>3221</Words>
  <Application>Microsoft Office PowerPoint</Application>
  <PresentationFormat>Widescreen</PresentationFormat>
  <Paragraphs>1103</Paragraphs>
  <Slides>29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Comic Sans MS</vt:lpstr>
      <vt:lpstr>Office Theme</vt:lpstr>
      <vt:lpstr>Velocity Motors Analysis</vt:lpstr>
      <vt:lpstr>Case Statement</vt:lpstr>
      <vt:lpstr>Database Tables</vt:lpstr>
      <vt:lpstr>Branch Wise Sales 2023, 2024, 2025</vt:lpstr>
      <vt:lpstr>Revenue Contribution % Branch Wise 2022 and 2023</vt:lpstr>
      <vt:lpstr>Sales Contribution % Branch Wise 2024</vt:lpstr>
      <vt:lpstr>Findings</vt:lpstr>
      <vt:lpstr>PowerPoint Presentation</vt:lpstr>
      <vt:lpstr>Sales of Mumbai Showroom Based on Vehicle Category</vt:lpstr>
      <vt:lpstr>Revenue generated by Mumbai Showroom from Premium Vehicle Sales</vt:lpstr>
      <vt:lpstr>Problem Objective</vt:lpstr>
      <vt:lpstr>Gross Profit Generated by showrooms in year 2022  and 2023 and 2024</vt:lpstr>
      <vt:lpstr>Gross Margin % by Showroom for year 2022 and 2023 and 2024</vt:lpstr>
      <vt:lpstr>Why Delhi Achieved more profit margins in year 2023 and 2024.</vt:lpstr>
      <vt:lpstr>Gross Profit on category and type of vehicle.</vt:lpstr>
      <vt:lpstr>Gross Profit on category and type of vehicle.</vt:lpstr>
      <vt:lpstr>Gross Profit on Vehicle Segment.</vt:lpstr>
      <vt:lpstr>Gross Profit on Vehicle Segment.</vt:lpstr>
      <vt:lpstr>Why Delhi Achieved more profit margins in year 2023 and 2024.</vt:lpstr>
      <vt:lpstr>Net Profit Analysis by Showroom</vt:lpstr>
      <vt:lpstr>Net Profit Analysis by Showroom</vt:lpstr>
      <vt:lpstr>Net Profit Analysis by Showroom</vt:lpstr>
      <vt:lpstr>Net Profit Analysis by Showroom</vt:lpstr>
      <vt:lpstr>Net Profit Analysis by Showroom</vt:lpstr>
      <vt:lpstr>Net Profit Analysis by Showroom and Car Segment</vt:lpstr>
      <vt:lpstr>Net Profit Analysis by Showroom and Car Segment</vt:lpstr>
      <vt:lpstr>Expansion Recommendation</vt:lpstr>
      <vt:lpstr>Expansion 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Atharva Deshpande</dc:creator>
  <cp:lastModifiedBy>Atharva Deshpande</cp:lastModifiedBy>
  <cp:revision>30</cp:revision>
  <dcterms:created xsi:type="dcterms:W3CDTF">2026-04-13T16:46:13Z</dcterms:created>
  <dcterms:modified xsi:type="dcterms:W3CDTF">2026-04-23T17:49:41Z</dcterms:modified>
</cp:coreProperties>
</file>